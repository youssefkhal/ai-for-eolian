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M6 — Pile Stiffness Degradation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BBDEFB"/>
                </a:solidFill>
              </a:rPr>
              <a:t>Slot-Attention Transformer · Physics-Informed · LSTM-Free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718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Architecture  ·  Fine-tuning Strategy  ·  MLP vs LSTM  ·  Efficiency  ·  Error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8A8"/>
                </a:solidFill>
              </a:rPr>
              <a:t>✓  Predict KL, KR, KLR over 21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840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8A8"/>
                </a:solidFill>
              </a:rPr>
              <a:t>✓  64.1% fewer parameters than M5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9" y="3840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8A8"/>
                </a:solidFill>
              </a:rPr>
              <a:t>✓  Hard-coded monotonicity guarantees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0CAF9"/>
                </a:solidFill>
              </a:rPr>
              <a:t>PFE Project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Problem &amp;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Predicting pile-soil stiffness degradation under cyclic loading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Given 8 geotechnical input features, predict 3 stiffness quantities over 21 cyclic loading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00200"/>
            <a:ext cx="3657600" cy="1143000"/>
          </a:xfrm>
          <a:prstGeom prst="rect">
            <a:avLst/>
          </a:prstGeom>
          <a:solidFill>
            <a:srgbClr val="D6EAF8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D47A1"/>
                </a:solidFill>
              </a:rPr>
              <a:t>INPUT  (8 features)
PI, Gmax, ν, Dp, Tp, Lp, Ip, Dp/Lp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31920" y="2176272"/>
            <a:ext cx="640080" cy="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0" y="1600200"/>
            <a:ext cx="3017520" cy="114300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7A3C"/>
                </a:solidFill>
              </a:rPr>
              <a:t>M6 MODEL
(Slot-Attention Transformer)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589520" y="2176272"/>
            <a:ext cx="640080" cy="0"/>
          </a:xfrm>
          <a:prstGeom prst="line">
            <a:avLst/>
          </a:prstGeom>
          <a:ln w="1905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229600" y="1600200"/>
            <a:ext cx="3657600" cy="1143000"/>
          </a:xfrm>
          <a:prstGeom prst="rect">
            <a:avLst/>
          </a:prstGeom>
          <a:solidFill>
            <a:srgbClr val="FDBDB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8B0000"/>
                </a:solidFill>
              </a:rPr>
              <a:t>OUTPUT  (21 × 3)
KL(t), KR(t), KLR(t)
for t = 1 …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971800"/>
            <a:ext cx="274320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99008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21 Learnable Slots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364992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One slot per degradation step — temporal structure without RNN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2971800"/>
            <a:ext cx="274320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39" y="299008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Physics Constraints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364992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ΔKL, ΔKR ≤ 0  |  ΔKLR ≥ 0  (hard-coded monotonicity)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971800"/>
            <a:ext cx="2743200" cy="34747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99008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Cumulative Sum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364992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K(t) = K⁰ + Σ Δₙ  — error never resets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2971800"/>
            <a:ext cx="2743200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990088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Signed Log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364992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Handles mixed-sign targets (KLR &lt; 0, KL/KR &gt; 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977639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Stiffness quantities:  KL = lateral  |  KR = rotational  |  KLR = cross-coupling (always &lt; 0, increases toward 0 under loading)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389120"/>
            <a:ext cx="11612880" cy="2240280"/>
          </a:xfrm>
          <a:prstGeom prst="rect">
            <a:avLst/>
          </a:prstGeom>
          <a:solidFill>
            <a:srgbClr val="F4F6F7"/>
          </a:solidFill>
          <a:ln w="19050">
            <a:solidFill>
              <a:srgbClr val="AA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4480559"/>
            <a:ext cx="1139342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3E8"/>
                </a:solidFill>
              </a:rPr>
              <a:t>Data Pipeline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</a:rPr>
              <a:t>  •  44 raw time steps → subsampled to 21 (equal spacing)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</a:rPr>
              <a:t>  •  Signed log transform: sign(y)·log(1+|y|)  →  preserves negative KLR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</a:rPr>
              <a:t>  •  RobustScaler per output variable (median/IQR, robust to outliers)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2C3E50"/>
                </a:solidFill>
              </a:rPr>
              <a:t>  •  Additive drop model: network learns Δ, not absolute K — physically motivated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M6 — SlotAttentionDegradation  (LSTM-free, physics-constrained)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1188720"/>
            <a:ext cx="1280160" cy="777240"/>
          </a:xfrm>
          <a:prstGeom prst="rect">
            <a:avLst/>
          </a:prstGeom>
          <a:solidFill>
            <a:srgbClr val="D6EAF8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D47A1"/>
                </a:solidFill>
              </a:rPr>
              <a:t>INPUT
[B, 8]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19842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2C3E50"/>
                </a:solidFill>
              </a:rPr>
              <a:t>8 features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17320" y="1572768"/>
            <a:ext cx="50292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920240" y="1188720"/>
            <a:ext cx="1691640" cy="1143000"/>
          </a:xfrm>
          <a:prstGeom prst="rect">
            <a:avLst/>
          </a:prstGeom>
          <a:solidFill>
            <a:srgbClr val="E8D5F5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8E44AD"/>
                </a:solidFill>
              </a:rPr>
              <a:t>EMBEDDING
Linear 8→64
LayerNorm
GELU
[B,1,64]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80" y="1755648"/>
            <a:ext cx="502920" cy="0"/>
          </a:xfrm>
          <a:prstGeom prst="line">
            <a:avLst/>
          </a:prstGeom>
          <a:ln w="19050">
            <a:solidFill>
              <a:srgbClr val="8E4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114800" y="1188720"/>
            <a:ext cx="1920240" cy="100584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7A3C"/>
                </a:solidFill>
              </a:rPr>
              <a:t>21 LEARNABLE
SLOTS
[B, 21, 64]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21284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2C3E50"/>
                </a:solidFill>
              </a:rPr>
              <a:t>Slot 1 (initial) + Slots 2–21 (drops)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5040" y="1691640"/>
            <a:ext cx="411480" cy="0"/>
          </a:xfrm>
          <a:prstGeom prst="line">
            <a:avLst/>
          </a:prstGeom>
          <a:ln w="1905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46520" y="1143000"/>
            <a:ext cx="4160520" cy="246888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17043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ECC71"/>
                </a:solidFill>
              </a:rPr>
              <a:t>ITERATIVE SLOT REFINEMENT  ×3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481328"/>
            <a:ext cx="1170432" cy="868680"/>
          </a:xfrm>
          <a:prstGeom prst="rect">
            <a:avLst/>
          </a:prstGeom>
          <a:solidFill>
            <a:srgbClr val="D1F2EB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2C3E50"/>
                </a:solidFill>
              </a:rPr>
              <a:t>Cross-Attention
Q=slots
K=V=input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377440"/>
            <a:ext cx="1170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2C3E50"/>
                </a:solidFill>
              </a:rPr>
              <a:t>Add &amp; LN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481328"/>
            <a:ext cx="1170432" cy="86868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2C3E50"/>
                </a:solidFill>
              </a:rPr>
              <a:t>Self-Attention
Q=K=V
=slots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377440"/>
            <a:ext cx="1170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2C3E50"/>
                </a:solidFill>
              </a:rPr>
              <a:t>Add &amp; LN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8008" y="1481328"/>
            <a:ext cx="1298448" cy="868680"/>
          </a:xfrm>
          <a:prstGeom prst="rect">
            <a:avLst/>
          </a:prstGeom>
          <a:solidFill>
            <a:srgbClr val="E8D5F5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2C3E50"/>
                </a:solidFill>
              </a:rPr>
              <a:t>Slot MLP
64→128→64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2377440"/>
            <a:ext cx="12984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2C3E50"/>
                </a:solidFill>
              </a:rPr>
              <a:t>Add &amp; LN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08392" y="1938528"/>
            <a:ext cx="155448" cy="0"/>
          </a:xfrm>
          <a:prstGeom prst="line">
            <a:avLst/>
          </a:prstGeom>
          <a:ln w="19050">
            <a:solidFill>
              <a:srgbClr val="1ABC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34272" y="1938528"/>
            <a:ext cx="173736" cy="0"/>
          </a:xfrm>
          <a:prstGeom prst="line">
            <a:avLst/>
          </a:prstGeom>
          <a:ln w="1905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85632" y="3611880"/>
            <a:ext cx="0" cy="457200"/>
          </a:xfrm>
          <a:prstGeom prst="line">
            <a:avLst/>
          </a:prstGeom>
          <a:ln w="1905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720840" y="4069080"/>
            <a:ext cx="3520440" cy="59436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C3E50"/>
                </a:solidFill>
              </a:rPr>
              <a:t>Refined Slots  [B, 21, 64]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5943600" y="4663440"/>
            <a:ext cx="1828800" cy="640080"/>
          </a:xfrm>
          <a:prstGeom prst="line">
            <a:avLst/>
          </a:prstGeom>
          <a:ln w="1905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235440" y="4663440"/>
            <a:ext cx="822960" cy="640080"/>
          </a:xfrm>
          <a:prstGeom prst="line">
            <a:avLst/>
          </a:prstGeom>
          <a:ln w="1905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937760" y="5303520"/>
            <a:ext cx="1920240" cy="822960"/>
          </a:xfrm>
          <a:prstGeom prst="rect">
            <a:avLst/>
          </a:prstGeom>
          <a:solidFill>
            <a:srgbClr val="FDBDB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C3E50"/>
                </a:solidFill>
              </a:rPr>
              <a:t>Slot 1
(initial)
[B,1,64]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97880" y="6126480"/>
            <a:ext cx="0" cy="411479"/>
          </a:xfrm>
          <a:prstGeom prst="line">
            <a:avLst/>
          </a:prstGeom>
          <a:ln w="1905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937760" y="6537959"/>
            <a:ext cx="1920240" cy="685800"/>
          </a:xfrm>
          <a:prstGeom prst="rect">
            <a:avLst/>
          </a:prstGeom>
          <a:solidFill>
            <a:srgbClr val="FDBDBD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2C3E50"/>
                </a:solidFill>
              </a:rPr>
              <a:t>Initial MLP
64→32→3  →  K⁰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724204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2C3E50"/>
                </a:solidFill>
              </a:rPr>
              <a:t>[B, 1, 3]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5303520"/>
            <a:ext cx="2103120" cy="822960"/>
          </a:xfrm>
          <a:prstGeom prst="rect">
            <a:avLst/>
          </a:prstGeom>
          <a:solidFill>
            <a:srgbClr val="FFF3CD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C3E50"/>
                </a:solidFill>
              </a:rPr>
              <a:t>Slots 2–21
[B,20,64]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921240" y="6126480"/>
            <a:ext cx="0" cy="411479"/>
          </a:xfrm>
          <a:prstGeom prst="line">
            <a:avLst/>
          </a:prstGeom>
          <a:ln w="19050">
            <a:solidFill>
              <a:srgbClr val="F39C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8869680" y="6537959"/>
            <a:ext cx="2103120" cy="685800"/>
          </a:xfrm>
          <a:prstGeom prst="rect">
            <a:avLst/>
          </a:prstGeom>
          <a:solidFill>
            <a:srgbClr val="FFF3CD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2C3E50"/>
                </a:solidFill>
              </a:rPr>
              <a:t>Drop MLP (shared)
64→32→3  → Δ drops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921240" y="7223759"/>
            <a:ext cx="0" cy="320041"/>
          </a:xfrm>
          <a:prstGeom prst="line">
            <a:avLst/>
          </a:prstGeom>
          <a:ln w="190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8503920" y="7543800"/>
            <a:ext cx="2743200" cy="640080"/>
          </a:xfrm>
          <a:prstGeom prst="rect">
            <a:avLst/>
          </a:prstGeom>
          <a:solidFill>
            <a:srgbClr val="FDECD9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2C3E50"/>
                </a:solidFill>
              </a:rPr>
              <a:t>Physics Constraint
−|Δ| for KL,KR  ;  +|Δ| for KLR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Fine-Tuning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How M6 was trained from scratch and what was changed from M5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78992"/>
            <a:ext cx="11612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M6 is not a pretrained model fine-tuned from M5 — it is trained from scratch, but the training strategy was carefully redesigned based on M5's failure modes.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645920"/>
            <a:ext cx="5669280" cy="2286000"/>
          </a:xfrm>
          <a:prstGeom prst="rect">
            <a:avLst/>
          </a:prstGeom>
          <a:solidFill>
            <a:srgbClr val="F8F9FA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556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① Initial Loss Weighting  ×5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762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MSE on Slot 1 (initial K⁰) multiplied by 5.0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7860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Any error in K⁰ propagates forward via cumulative sum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8094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Forces the model to anchor the trajectory correctly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832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M5 used ×3 — M6 raises to ×5 (LSTM no longer corrects drift)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645920"/>
            <a:ext cx="5669280" cy="2286000"/>
          </a:xfrm>
          <a:prstGeom prst="rect">
            <a:avLst/>
          </a:prstGeom>
          <a:solidFill>
            <a:srgbClr val="F8F9FA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7556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② Shape Loss (Huber on 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762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Penalises changes in consecutive drops: Huber(Δₜ − Δₜ₋₁)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57860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Encourages smooth degradation curves, not zigzag predictions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98094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Huber norm: robust to large isolated errors (vs pure L2)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4114800"/>
            <a:ext cx="5669280" cy="2286000"/>
          </a:xfrm>
          <a:prstGeom prst="rect">
            <a:avLst/>
          </a:prstGeom>
          <a:solidFill>
            <a:srgbClr val="F8F9FA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22452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③ Gradient Clipping &amp; Scheduler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64515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Gradient clip = 2.0 (M5: 1.0) — relaxed to let early gradients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0474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ReduceLROnPlateau: patience 80 (M5: 100) — faster adaptation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44982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Early stopping patience 200 epochs (M5: 300)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4114800"/>
            <a:ext cx="5669280" cy="2286000"/>
          </a:xfrm>
          <a:prstGeom prst="rect">
            <a:avLst/>
          </a:prstGeom>
          <a:solidFill>
            <a:srgbClr val="F8F9FA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22452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</a:rPr>
              <a:t>④ Weight Decay &amp; Normalisation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64515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Weight decay = 0.005 (M5: 0.01) — reduced to prevent over-regularisation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0474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RobustScaler on targets: median/IQR instead of mean/std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44982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Signed log transform preserves sign of cross-coupling term KLR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" y="6492240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47A1"/>
                </a:solidFill>
              </a:rPr>
              <a:t>Total loss = MSE_overall + 5.0 × MSE_initial + λ_shape × ShapeLoss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MLP vs LSTM Decoder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Why M6 replaced the LSTM with a direct per-slot MLP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51560"/>
            <a:ext cx="5394960" cy="530352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M6 — Per-Slot MLP 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• Slots 2–21 as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Each slot vector [64-dim] goes independently into the shared MLP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7685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• Single forward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0545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64 → 32 → 3  (GELU activation)  —  all 20 slots in parallel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535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• No hidden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821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No sequential dependency between slots at decoding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301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• Temporal structure from attention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587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3 rounds of cross + self-attention encode temporal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30682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• Physics applied after MLP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53542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−|output| for KL, KR  ;  +|output| for KLR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9834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• Cumsum reconstructs trajectory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2120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K(t) = K⁰ + Σ Δₙ  →  absolute stiffness values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051560"/>
            <a:ext cx="5989320" cy="5303520"/>
          </a:xfrm>
          <a:prstGeom prst="rect">
            <a:avLst/>
          </a:prstGeom>
          <a:solidFill>
            <a:srgbClr val="FFF9E6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0972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M5 — LSTM Decoder  (removed in M6)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60020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• Input: aggregated slot 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8288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Mean of all 21 slots → single [64-dim] context vector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27685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• 2-layer LSTM unrolled 20 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505456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Hidden state hₜ = LSTM(hₜ₋₁, context)  — sequential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95351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• Decoder cross-attention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182112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Each LSTM step attends back to all refined slots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63016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• Positional embeddings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85876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Learnable pos_embed added to LSTM inputs for step identity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30682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• h₀, c₀ projections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535424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Separate MLPs to initialise LSTM hidden &amp; cell states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9834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• 101,312 extra parameters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52120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  seq_decoder + decoder_cross_attn + h0_proj + c0_proj + pos_embed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6464808"/>
            <a:ext cx="11795760" cy="30175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483096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Key insight: self-attention already encodes temporal order through slot position — LSTM adds sequential decoding overhead but the ordering is already captured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Efficiency Gains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M6 vs M5 — measured on identical hardware (CPU, batch=32)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57600" cy="1920240"/>
          </a:xfrm>
          <a:prstGeom prst="rect">
            <a:avLst/>
          </a:prstGeom>
          <a:solidFill>
            <a:srgbClr val="F8F9FA"/>
          </a:solidFill>
          <a:ln w="317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</a:rPr>
              <a:t>157,958  →  56,646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64.1% FEWER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3657600" cy="1920240"/>
          </a:xfrm>
          <a:prstGeom prst="rect">
            <a:avLst/>
          </a:prstGeom>
          <a:solidFill>
            <a:srgbClr val="F8F9FA"/>
          </a:solidFill>
          <a:ln w="317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17043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73E8"/>
                </a:solidFill>
              </a:rPr>
              <a:t>632.7 KB  →  231.2 KB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83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Model File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402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73E8"/>
                </a:solidFill>
              </a:rPr>
              <a:t>63.5% SMALLER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097280"/>
            <a:ext cx="3657600" cy="1920240"/>
          </a:xfrm>
          <a:prstGeom prst="rect">
            <a:avLst/>
          </a:prstGeom>
          <a:solidFill>
            <a:srgbClr val="F8F9FA"/>
          </a:solidFill>
          <a:ln w="317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17043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7E22"/>
                </a:solidFill>
              </a:rPr>
              <a:t>11.38 ms  →  9.07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783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Inference Time (CPU)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402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7E22"/>
                </a:solidFill>
              </a:rPr>
              <a:t>1.25× FASTER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15468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47A1"/>
                </a:solidFill>
              </a:rPr>
              <a:t>Where did 101,312 parameters go?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11880"/>
            <a:ext cx="3810000" cy="43107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648456"/>
            <a:ext cx="3718560" cy="357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Module Removed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5760" y="3611880"/>
            <a:ext cx="3810000" cy="43107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21480" y="3648456"/>
            <a:ext cx="3718560" cy="357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Parameters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85760" y="3611880"/>
            <a:ext cx="3810000" cy="43107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31480" y="3648456"/>
            <a:ext cx="3718560" cy="357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042954"/>
            <a:ext cx="3810000" cy="43107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070386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seq_decoder  (LSTM 2-layer)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75760" y="4042954"/>
            <a:ext cx="3810000" cy="43107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21480" y="4070386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66,176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85760" y="4042954"/>
            <a:ext cx="3810000" cy="43107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31480" y="4070386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Entire sequential decoder — largest chunk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474028"/>
            <a:ext cx="3810000" cy="43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501460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decoder_cross_attn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75760" y="4474028"/>
            <a:ext cx="3810000" cy="43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21480" y="4501460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16,640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85760" y="4474028"/>
            <a:ext cx="3810000" cy="43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31480" y="4501460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Cross-attention between LSTM steps and slots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905102"/>
            <a:ext cx="3810000" cy="43107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932534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h0_proj + c0_proj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75760" y="4905102"/>
            <a:ext cx="3810000" cy="43107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21480" y="4932534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16,640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85760" y="4905102"/>
            <a:ext cx="3810000" cy="431074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31480" y="4932534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Linear projections to initialise LSTM hidden/cell state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336177"/>
            <a:ext cx="3810000" cy="43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5363609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pos_embed  (learnable)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75760" y="5336177"/>
            <a:ext cx="3810000" cy="43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21480" y="5363609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1,280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85760" y="5336177"/>
            <a:ext cx="3810000" cy="43107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31480" y="5363609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One embedding vector per step  (20 × 64)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767251"/>
            <a:ext cx="3810000" cy="431074"/>
          </a:xfrm>
          <a:prstGeom prst="rect">
            <a:avLst/>
          </a:prstGeom>
          <a:solidFill>
            <a:srgbClr val="D0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5794683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TOTAL REMOVED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75760" y="5767251"/>
            <a:ext cx="3810000" cy="431074"/>
          </a:xfrm>
          <a:prstGeom prst="rect">
            <a:avLst/>
          </a:prstGeom>
          <a:solidFill>
            <a:srgbClr val="D0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21480" y="5794683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100,736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85760" y="5767251"/>
            <a:ext cx="3810000" cy="431074"/>
          </a:xfrm>
          <a:prstGeom prst="rect">
            <a:avLst/>
          </a:prstGeom>
          <a:solidFill>
            <a:srgbClr val="D0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31480" y="5794683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6198325"/>
            <a:ext cx="3810000" cy="431074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6225757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TOTAL ADDED (3rd iteration reuses existing layers)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75760" y="6198325"/>
            <a:ext cx="3810000" cy="431074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21480" y="6225757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+0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85760" y="6198325"/>
            <a:ext cx="3810000" cy="431074"/>
          </a:xfrm>
          <a:prstGeom prst="rect">
            <a:avLst/>
          </a:prstGeom>
          <a:solidFill>
            <a:srgbClr val="FFF3C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31480" y="6225757"/>
            <a:ext cx="3718560" cy="37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Zero new params — only extra compute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</a:rPr>
              <a:t>The 3rd refinement iteration reuses the SAME cross-attention + self-attention + MLP layers — zero parameter cost, only extra forward-pass compute (~10 ms).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Accuracy vs. Efficiency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Full metric comparison M5 ↔ M6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M5 is more accurate on all metrics — M6 trades some accuracy for 64% fewer parameters and stronger physics guarantees.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463040"/>
            <a:ext cx="2340864" cy="422909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99616"/>
            <a:ext cx="2249424" cy="34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Target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9464" y="1463040"/>
            <a:ext cx="2340864" cy="422909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15184" y="1499616"/>
            <a:ext cx="2249424" cy="34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10328" y="1463040"/>
            <a:ext cx="2340864" cy="422909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6048" y="1499616"/>
            <a:ext cx="2249424" cy="34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51192" y="1463040"/>
            <a:ext cx="2340864" cy="422909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1499616"/>
            <a:ext cx="2249424" cy="34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92056" y="1463040"/>
            <a:ext cx="2340864" cy="422909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37776" y="1499616"/>
            <a:ext cx="2249424" cy="34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Δ (M6 − M5)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1885950"/>
            <a:ext cx="2340864" cy="422909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191338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Overall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9464" y="1885950"/>
            <a:ext cx="2340864" cy="422909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15184" y="191338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10328" y="1885950"/>
            <a:ext cx="2340864" cy="422909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56048" y="191338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0.9913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51192" y="1885950"/>
            <a:ext cx="2340864" cy="422909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91338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0.9804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92056" y="1885950"/>
            <a:ext cx="2340864" cy="422909"/>
          </a:xfrm>
          <a:prstGeom prst="rect">
            <a:avLst/>
          </a:prstGeom>
          <a:solidFill>
            <a:srgbClr val="E8F8E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37776" y="191338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−0.0109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30886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233629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Overall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9464" y="230886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15184" y="233629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RMSE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10328" y="230886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56048" y="233629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1.98 × 10¹⁰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51192" y="230886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96912" y="233629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2.98 × 10¹⁰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92056" y="230886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37776" y="233629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+51%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273177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275920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Overall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9464" y="273177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15184" y="275920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MAE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10328" y="273177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56048" y="275920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2.98 × 10⁹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51192" y="273177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96912" y="275920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3.33 × 10⁹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92056" y="273177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37776" y="2759201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+12%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315468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318211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9464" y="315468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15184" y="318211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10328" y="315468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56048" y="318211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0.9907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51192" y="315468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96912" y="318211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0.9768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92056" y="315468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37776" y="318211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−0.0139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357759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360502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69464" y="357759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15184" y="360502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RMSE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10328" y="357759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56048" y="360502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6.21 × 10⁷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51192" y="357759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96912" y="360502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9.79 × 10⁷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92056" y="357759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37776" y="360502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+58%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" y="400050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4320" y="402793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69464" y="400050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615184" y="402793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10328" y="400050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956048" y="402793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0.9838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251192" y="400050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96912" y="402793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0.9634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592056" y="400050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637776" y="402793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−0.0204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600" y="442341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4320" y="445084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569464" y="442341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615184" y="445084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RMSE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910328" y="442341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56048" y="445084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3.42 × 10¹⁰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251192" y="442341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296912" y="445084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5.15 × 10¹⁰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592056" y="442341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637776" y="445084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+51%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28600" y="484632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74320" y="487375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KLR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569464" y="484632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615184" y="487375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910328" y="484632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956048" y="487375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0.9882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251192" y="484632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296912" y="487375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0.9690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592056" y="484632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637776" y="487375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−0.0192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28600" y="5269229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4320" y="529666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KLR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569464" y="5269229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615184" y="529666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RMSE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10328" y="5269229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956048" y="529666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1.18 × 10⁹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251192" y="5269229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296912" y="529666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1.92 × 10⁹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592056" y="5269229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637776" y="529666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+63%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28600" y="569214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74320" y="571957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Slot 1→21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569464" y="569214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615184" y="571957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 trend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10328" y="569214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956048" y="571957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0.9908→0.9968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251192" y="569214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296912" y="571957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0.9811→0.9809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592056" y="5692140"/>
            <a:ext cx="2340864" cy="42290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637776" y="571957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M5 improves; M6 flat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28600" y="611505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74320" y="614248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Slot 1→21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569464" y="611505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615184" y="614248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RMSE trend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910328" y="611505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956048" y="614248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2.40×10¹⁰→2.69×10⁹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251192" y="611505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296912" y="614248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3.45×10¹⁰→6.57×10⁹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592056" y="6115050"/>
            <a:ext cx="2340864" cy="422909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637776" y="6142482"/>
            <a:ext cx="2249424" cy="368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Both decrease (magnitudes shrink)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28600" y="649224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C3E50"/>
                </a:solidFill>
              </a:rPr>
              <a:t>KR has the largest RMSE gap — rotational stiffness benefits most from LSTM's sequential context.  KLR R² gap is large because the new +|Δ| constraint changes the output distribution.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Error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R², RMSE, MAE — definitions, properties, and how to read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78992"/>
            <a:ext cx="3749039" cy="3794760"/>
          </a:xfrm>
          <a:prstGeom prst="rect">
            <a:avLst/>
          </a:prstGeom>
          <a:solidFill>
            <a:srgbClr val="F8F9FA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3385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3E8"/>
                </a:solidFill>
              </a:rPr>
              <a:t>R²  (Coefficient of Determination)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361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</a:rPr>
              <a:t>R² = 1 − Σ(y−ŷ)² / Σ(y−ȳ)²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56816"/>
            <a:ext cx="3566160" cy="1828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02996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Range: −∞ to 1.0  (1.0 = perfect fit)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65176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Scale-free: comparable across variables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273552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Negative R² → model worse than predicting the mean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895344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Best metric for slot-to-slot comparison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078992"/>
            <a:ext cx="3749039" cy="3794760"/>
          </a:xfrm>
          <a:prstGeom prst="rect">
            <a:avLst/>
          </a:prstGeom>
          <a:solidFill>
            <a:srgbClr val="F8F9FA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59" y="113385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RMSE  (Root Mean Square Error)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59" y="15361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</a:rPr>
              <a:t>RMSE = √[ (1/n) Σ(y−ŷ)²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956816"/>
            <a:ext cx="3566160" cy="182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59" y="202996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Same physical units as the target (N, N·m…)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59" y="265176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Always ≥ 0  (squares → never negative)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3273552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Penalises large errors heavily (squared term)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59" y="3895344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Large values here reflect large stiffness magnitudes (10¹⁰)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59" y="1078992"/>
            <a:ext cx="3749039" cy="3794760"/>
          </a:xfrm>
          <a:prstGeom prst="rect">
            <a:avLst/>
          </a:prstGeom>
          <a:solidFill>
            <a:srgbClr val="F8F9FA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9" y="113385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MAE  (Mean Absolute Error)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9" y="15361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3E50"/>
                </a:solidFill>
              </a:rPr>
              <a:t>MAE = (1/n) Σ|y−ŷ|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599" y="1956816"/>
            <a:ext cx="3566160" cy="182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9" y="2029968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Same units as target, always ≥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9" y="2651760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Robust to outliers (no squaring)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9" y="3273552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For same target: MAE ≤ RMSE always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9" y="3895344"/>
            <a:ext cx="3566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• Easier to interpret physically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4937760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7A1"/>
                </a:solidFill>
              </a:rPr>
              <a:t>Granularity Levels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5321808"/>
            <a:ext cx="2834640" cy="1371600"/>
          </a:xfrm>
          <a:prstGeom prst="rect">
            <a:avLst/>
          </a:prstGeom>
          <a:solidFill>
            <a:srgbClr val="D6EAF8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8" y="537667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Overall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" y="5696712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Flatten all N×21×3 predictions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" y="603504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C3E50"/>
                </a:solidFill>
              </a:rPr>
              <a:t>Global model health check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72968" y="5321808"/>
            <a:ext cx="2834640" cy="1371600"/>
          </a:xfrm>
          <a:prstGeom prst="rect">
            <a:avLst/>
          </a:prstGeom>
          <a:solidFill>
            <a:srgbClr val="D5F5E3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36976" y="537667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Per-variable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36976" y="5696712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Collapse time axis: N×21 per KL/KR/KLR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36976" y="603504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C3E50"/>
                </a:solidFill>
              </a:rPr>
              <a:t>Which output is hardest?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63056" y="5321808"/>
            <a:ext cx="2834640" cy="1371600"/>
          </a:xfrm>
          <a:prstGeom prst="rect">
            <a:avLst/>
          </a:prstGeom>
          <a:solidFill>
            <a:srgbClr val="FDECD9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7064" y="537667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Per-slot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27064" y="5696712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Collapse variable axis: N×3 per step 1–21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27064" y="603504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C3E50"/>
                </a:solidFill>
              </a:rPr>
              <a:t>Where on trajectory is error worst?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53144" y="5321808"/>
            <a:ext cx="2834640" cy="1371600"/>
          </a:xfrm>
          <a:prstGeom prst="rect">
            <a:avLst/>
          </a:prstGeom>
          <a:solidFill>
            <a:srgbClr val="E8D5F5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17152" y="537667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E44AD"/>
                </a:solidFill>
              </a:rPr>
              <a:t>Per-scenario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17152" y="5696712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One prediction of 21×3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7152" y="603504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C3E50"/>
                </a:solidFill>
              </a:rPr>
              <a:t>Which input combinations fail?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Understanding Errors Across 21 Slots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Why per-slot RMSE/MAE decrease ≠ better accuracy — use R²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51560"/>
            <a:ext cx="7909560" cy="3063240"/>
          </a:xfrm>
          <a:prstGeom prst="rect">
            <a:avLst/>
          </a:prstGeom>
          <a:solidFill>
            <a:srgbClr val="F0F8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97280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Observed Pattern: RMSE and MAE both decrease from Slot 1 →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90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3E8"/>
                </a:solidFill>
              </a:rPr>
              <a:t>M5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922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Slot 1 RMSE = 2.40×10¹⁰  →  Slot 21 RMSE = 2.69×10⁹  (Decrease: ~9×)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490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M6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7922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Slot 1 RMSE = 3.45×10¹⁰  →  Slot 21 RMSE = 6.57×10⁹  (Decrease: ~5×)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148840"/>
            <a:ext cx="7680960" cy="36576"/>
          </a:xfrm>
          <a:prstGeom prst="rect">
            <a:avLst/>
          </a:prstGeom>
          <a:solidFill>
            <a:srgbClr val="BB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240280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WHY this happens — two reasons: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57860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① Physical magnitudes shrink:  Stiffness degradation is larger in early cycles (big initial drops), so absolute errors in N or N·m are naturally larger at Slot 1 than Slot 21.  RMSE and MAE are scale-dependent — they inherit this pattern.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272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② Cumulative sum drift:  Early errors propagate forward (K(t) = K⁰ + Σ Δₙ), so Slot 1 carries the highest absolute burden.  Later drops are smaller, so errors contributed per step are also smaller.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1051560"/>
            <a:ext cx="3749039" cy="306324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1155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Use R² for slot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5087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• R² is scale-normalised — measures how much better the model is than predicting the mean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1671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• For M5: Slot R² improves  0.9908 → 0.9968 ↑  (LSTM adds sequential context as trajectory progresses)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825496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• For M6: Slot R² stays flat  0.9811 → 0.9809 →  (no sequential memory — each slot predicted independently)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483864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• This flat profile is M6's signature trade-off — uniform quality, no improvement over trajectory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4206240"/>
            <a:ext cx="11795760" cy="1280160"/>
          </a:xfrm>
          <a:prstGeom prst="rect">
            <a:avLst/>
          </a:prstGeom>
          <a:solidFill>
            <a:srgbClr val="FFF8E3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27024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D6008"/>
                </a:solidFill>
              </a:rPr>
              <a:t>Webapp: Percentage Error per Step — the most interpretable metric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6451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Err% = |ŷ − y| / |y| × 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645152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</a:rPr>
              <a:t>Scale-independent: a 10% error at Slot 1 and Slot 21 are equally meaningful — unlike RMSE which is dominated by early-slot magnitudes.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98348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■  &lt; 5%  Green (excellent)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498348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</a:rPr>
              <a:t>■  5–20%  Orange (acceptable)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98348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■  &gt; 20%  Red (poor)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55778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Summary: which metric to use when?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5925312"/>
            <a:ext cx="3931920" cy="177393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" y="5961888"/>
            <a:ext cx="3840480" cy="104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5925312"/>
            <a:ext cx="3931920" cy="177393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60520" y="5961888"/>
            <a:ext cx="3840480" cy="104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Properties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19" y="5925312"/>
            <a:ext cx="3931920" cy="177393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92440" y="5961888"/>
            <a:ext cx="3840480" cy="104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Best used for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6102705"/>
            <a:ext cx="3931920" cy="177393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" y="6130137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R²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6102705"/>
            <a:ext cx="3931920" cy="177393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6130137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Scale-free, 0–1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19" y="6102705"/>
            <a:ext cx="3931920" cy="177393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92440" y="6130137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Slot-to-slot comparison, variable comparison, headline accuracy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6280099"/>
            <a:ext cx="3931920" cy="177393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8600" y="6307531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RMSE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6280099"/>
            <a:ext cx="3931920" cy="177393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60520" y="6307531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Physical units, ≥ 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46719" y="6280099"/>
            <a:ext cx="3931920" cy="177393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92440" y="6307531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Absolue error magnitude; dominated by early slots / large-magnitude variables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6457492"/>
            <a:ext cx="3931920" cy="177393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8600" y="6484924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MAE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0" y="6457492"/>
            <a:ext cx="3931920" cy="177393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60520" y="6484924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Physical units, ≥ 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6719" y="6457492"/>
            <a:ext cx="3931920" cy="177393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92440" y="6484924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Same as RMSE but more robust; physical interpretation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" y="6634886"/>
            <a:ext cx="3931920" cy="177393"/>
          </a:xfrm>
          <a:prstGeom prst="rect">
            <a:avLst/>
          </a:prstGeom>
          <a:solidFill>
            <a:srgbClr val="FDECD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8600" y="6662318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Err%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0" y="6634886"/>
            <a:ext cx="3931920" cy="177393"/>
          </a:xfrm>
          <a:prstGeom prst="rect">
            <a:avLst/>
          </a:prstGeom>
          <a:solidFill>
            <a:srgbClr val="FDECD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60520" y="6662318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Percentage, ≥ 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46719" y="6634886"/>
            <a:ext cx="3931920" cy="177393"/>
          </a:xfrm>
          <a:prstGeom prst="rect">
            <a:avLst/>
          </a:prstGeom>
          <a:solidFill>
            <a:srgbClr val="FDECD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92440" y="6662318"/>
            <a:ext cx="3840480" cy="12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Webapp display; best for per-step human-readable quality check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37360"/>
            <a:ext cx="12188952" cy="3383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M6 —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BDEFB"/>
                </a:solidFill>
              </a:rPr>
              <a:t>Simpler · Faster · Physics-Guaranteed · LSTM-Free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7451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8A8"/>
                </a:solidFill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74519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21 learnable slots · 3× refinement (cross-attn → self-attn → MLP) · per-slot MLP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7451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8A8"/>
                </a:solidFill>
              </a:rPr>
              <a:t>vs M5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874519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Removed LSTM decoder (101,312 params) · Added 3rd iteration · Added KLR sign constraint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80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8A8"/>
                </a:solidFill>
              </a:rPr>
              <a:t>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8803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64.1% fewer parameters · 63.5% smaller file · 1.25× faster 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880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8A8"/>
                </a:solidFill>
              </a:rP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8803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R² 0.9804 (vs 0.9913) · All three targets accurately predicted · KR largest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86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8A8"/>
                </a:solidFill>
              </a:rPr>
              <a:t>Physics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862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ΔKL ≤ 0, ΔKR ≤ 0, ΔKLR ≥ 0 hard-coded · Monotonicity structurally guaranteed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886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D8A8"/>
                </a:solidFill>
              </a:rPr>
              <a:t>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8862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R² best for slot comparison (scale-free) · RMSE/MAE in physical units (always ≥ 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8D8A8"/>
                </a:solidFill>
              </a:rPr>
              <a:t>M6 = M5 − LSTM + stronger constraints + 3 attention iterations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What the Ψ-NN Paper Adds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Automatic structure discovery for physics-informed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51560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C3E50"/>
                </a:solidFill>
              </a:rPr>
              <a:t>Paper: Liu et al. (Nature Communications, 2025) — Automatic network structure discovery of physics informed neural networks via knowledge distillation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54480"/>
            <a:ext cx="3657600" cy="4526280"/>
          </a:xfrm>
          <a:prstGeom prst="rect">
            <a:avLst/>
          </a:prstGeom>
          <a:solidFill>
            <a:srgbClr val="F0F8FF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E8"/>
                </a:solidFill>
              </a:rPr>
              <a:t>Core 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9968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1. Train a teacher network for physics accuracy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3464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2. Train a student network with regularization, but without mixing that regularization into the physics loss.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39312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3. Cluster learned weights and detect repeated, opposite, or permuted patterns.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443984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4. Rebuild a smaller structured network with those rules hardwired.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554480"/>
            <a:ext cx="3840480" cy="452628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6459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Why it is physically interesting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02996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The paper argues that PINNs usually enforce physics only through loss terms, not through internal wiring.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8346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Ψ-NN tries to convert physical patterns into architecture rules: symmetry, sign reversal, permutation, parameter sharing.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63931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That means the model can satisfy some constraints structurally at every forward pass, not only on average during training.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443984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This is the same philosophy as your M6 sign constraints and cumulative-sum monotonicity.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554480"/>
            <a:ext cx="3730752" cy="4526280"/>
          </a:xfrm>
          <a:prstGeom prst="rect">
            <a:avLst/>
          </a:prstGeom>
          <a:solidFill>
            <a:srgbClr val="FFF8E3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6459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Paper evidence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2029968"/>
            <a:ext cx="1668780" cy="51598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066544"/>
            <a:ext cx="1577339" cy="44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Claim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35540" y="2029968"/>
            <a:ext cx="1668780" cy="51598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81260" y="2066544"/>
            <a:ext cx="1577339" cy="44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Paper result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2545950"/>
            <a:ext cx="166878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573382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Mechanism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35540" y="2545950"/>
            <a:ext cx="166878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81260" y="2573382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Teacher/student staged optimization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66760" y="3061933"/>
            <a:ext cx="166878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089365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Discovery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35540" y="3061933"/>
            <a:ext cx="166878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81260" y="3089365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Clustering + parameter reconstruction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60" y="3577916"/>
            <a:ext cx="166878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3605348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Physics encoded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35540" y="3577916"/>
            <a:ext cx="166878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81260" y="3605348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Symmetry, anti-symmetry, conservation-style structure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66760" y="4093899"/>
            <a:ext cx="166878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4121331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Reported gain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35540" y="4093899"/>
            <a:ext cx="166878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81260" y="4121331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~50% fewer iterations to same loss on Laplace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66760" y="4609882"/>
            <a:ext cx="166878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0" y="4637314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Reported gain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35540" y="4609882"/>
            <a:ext cx="166878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81260" y="4637314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~95% lower final L2 error on Laplace vs PINN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66760" y="5125865"/>
            <a:ext cx="166878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5153297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Extra value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35540" y="5125865"/>
            <a:ext cx="166878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81260" y="5153297"/>
            <a:ext cx="1577339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Transferability across PDE settings / parameters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" y="626364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C3E50"/>
                </a:solidFill>
              </a:rPr>
              <a:t>Important: those exact gains come from PDE benchmarks, not from your pile dataset, so they support the idea but do not guarantee the same numbers for M6.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How Ψ-NN Translates to Pile Physics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What physical structure could be discovered or hardwired in M6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7899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The paper is about PDE symmetries, but the same idea can be translated to degradation physics: identify repeated physical patterns, then build them directly into the network.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600200"/>
            <a:ext cx="3901440" cy="51598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36776"/>
            <a:ext cx="3810000" cy="44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Paper idea</a:t>
            </a:r>
          </a:p>
        </p:txBody>
      </p:sp>
      <p:sp>
        <p:nvSpPr>
          <p:cNvPr id="8" name="Rectangle 7"/>
          <p:cNvSpPr/>
          <p:nvPr/>
        </p:nvSpPr>
        <p:spPr>
          <a:xfrm>
            <a:off x="4130040" y="1600200"/>
            <a:ext cx="3901440" cy="51598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75760" y="1636776"/>
            <a:ext cx="3810000" cy="44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Meaning in paper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1480" y="1600200"/>
            <a:ext cx="3901440" cy="51598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77200" y="1636776"/>
            <a:ext cx="3810000" cy="44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Translation to M6 / pile degradation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116182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143614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Sign rule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30040" y="2116182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5760" y="2143614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Positive / negative parameter relations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1480" y="2116182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7200" y="2143614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Already used: ΔKL, ΔKR ≤ 0 and ΔKLR ≥ 0 are structural physics constraints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632165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659597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Shared prototypes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30040" y="2632165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75760" y="2659597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Many weights are copies of a small set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1480" y="2632165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77200" y="2659597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Drops across slots may come from a few degradation regimes: early, middle, late cycles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3148148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3175580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Permutation / symmetry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30040" y="3148148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75760" y="3175580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Different neurons are the same up to reordering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31480" y="3148148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77200" y="3175580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KL and KR may share partial structure under similar soil-pile response patterns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3664131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3691563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Relation matrix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30040" y="3664131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75760" y="3691563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Explicit rules between parameters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31480" y="3664131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77200" y="3691563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Could encode: slot j uses prototype p with scale αj, not a fully free head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4180114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4207546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Transferability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30040" y="4180114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75760" y="4207546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Structure survives parameter changes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31480" y="4180114"/>
            <a:ext cx="3901440" cy="515982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4207546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A discovered slot structure may transfer across different PI, Gmax, Lp or loading scenarios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4696097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4723529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Reconstruction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30040" y="4696097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75760" y="4723529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Rebuild a smaller architecture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31480" y="4696097"/>
            <a:ext cx="3901440" cy="51598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4723529"/>
            <a:ext cx="3810000" cy="46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Replace many free slot-specific patterns by a smaller family of physically meaningful patterns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5440680"/>
            <a:ext cx="5669280" cy="105156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553212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Most direct physics bridge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58064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M6 already behaves like a small Ψ-NN idea: instead of only punishing bad physics in the loss, it hardwires monotonic degradation through sign constraints + cumulative sum.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5440680"/>
            <a:ext cx="5806440" cy="1051560"/>
          </a:xfrm>
          <a:prstGeom prst="rect">
            <a:avLst/>
          </a:prstGeom>
          <a:solidFill>
            <a:srgbClr val="FFF8E3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55321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Most innovative next step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5806440"/>
            <a:ext cx="5440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Discover whether the 20 drop slots really need 20 independent behaviors, or whether they collapse into a few reusable physical prototypes with learned scaling rules.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Can the Paper Make M6 More Efficient?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Yes — if used as structure-guided compression, not as blind pruning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97280"/>
            <a:ext cx="3703320" cy="1920240"/>
          </a:xfrm>
          <a:prstGeom prst="rect">
            <a:avLst/>
          </a:prstGeom>
          <a:solidFill>
            <a:srgbClr val="F0FBF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0700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Short answer: 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The paper's strongest idea is not just adding more physics. It is using physics + distillation to compress a model while protecting accuracy.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097280"/>
            <a:ext cx="3794760" cy="1920240"/>
          </a:xfrm>
          <a:prstGeom prst="rect">
            <a:avLst/>
          </a:prstGeom>
          <a:solidFill>
            <a:srgbClr val="F0F8FF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20700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3E8"/>
                </a:solidFill>
              </a:rPr>
              <a:t>Why it could help M6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57276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 i="0">
                <a:solidFill>
                  <a:srgbClr val="2C3E50"/>
                </a:solidFill>
              </a:rPr>
              <a:t>M6 is already compact, so naive pruning may hurt accuracy.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5681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 i="0">
                <a:solidFill>
                  <a:srgbClr val="2C3E50"/>
                </a:solidFill>
              </a:rPr>
              <a:t>Ψ-NN-style discovery would remove redundancy only after learning the task well.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34086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 i="0">
                <a:solidFill>
                  <a:srgbClr val="2C3E50"/>
                </a:solidFill>
              </a:rPr>
              <a:t>That is better aligned with your objective: keep accuracy, compress only repeated structure.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097280"/>
            <a:ext cx="3776472" cy="1920240"/>
          </a:xfrm>
          <a:prstGeom prst="rect">
            <a:avLst/>
          </a:prstGeom>
          <a:solidFill>
            <a:srgbClr val="FFF8E3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20700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</a:rPr>
              <a:t>What to try in this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57276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 i="0">
                <a:solidFill>
                  <a:srgbClr val="2C3E50"/>
                </a:solidFill>
              </a:rPr>
              <a:t>Teacher = current best M5 or M6 model.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5681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 i="0">
                <a:solidFill>
                  <a:srgbClr val="2C3E50"/>
                </a:solidFill>
              </a:rPr>
              <a:t>Student = regularized compact slot model.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4086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 i="0">
                <a:solidFill>
                  <a:srgbClr val="2C3E50"/>
                </a:solidFill>
              </a:rPr>
              <a:t>Then cluster slot/head weights and rebuild a smaller structured version.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324612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7A1"/>
                </a:solidFill>
              </a:rPr>
              <a:t>Concrete efficiency ideas inspired by the paper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657600"/>
            <a:ext cx="3901440" cy="3886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694176"/>
            <a:ext cx="3810000" cy="315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Idea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30040" y="3657600"/>
            <a:ext cx="3901440" cy="3886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75760" y="3694176"/>
            <a:ext cx="3810000" cy="315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How to apply 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31480" y="3657600"/>
            <a:ext cx="3901440" cy="3886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77200" y="3694176"/>
            <a:ext cx="3810000" cy="315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Why it may preserve accuracy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404622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07365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1. Prototype drop heads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30040" y="404622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75760" y="407365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Cluster the 20 slot-drop behaviors into 3–5 physical regimes (early / middle / late) and use one shared prototype per regime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31480" y="404622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77200" y="407365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Fewer free patterns, better interpretability, lower overfitting risk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4434840"/>
            <a:ext cx="390144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46227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2. Structured KL/KR coupling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30040" y="4434840"/>
            <a:ext cx="390144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75760" y="446227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Force partial weight sharing between KL and KR branches, with small correction terms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31480" y="4434840"/>
            <a:ext cx="390144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77200" y="446227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May keep accuracy because both are monotonic stiffness channels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482346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485089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3. Distilled M6-lite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30040" y="482346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75760" y="485089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Train a tiny student from current M6 predictions, then add the same sign/cumsum physics rules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31480" y="482346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485089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Best chance to reduce size without losing much accuracy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5212080"/>
            <a:ext cx="390144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523951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4. Slot relation matrix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30040" y="5212080"/>
            <a:ext cx="390144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75760" y="523951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Represent some slot weights as scaled copies or sign-variants of prototype slots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31480" y="5212080"/>
            <a:ext cx="3901440" cy="3886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523951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Closer to the Ψ-NN reconstruction idea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560070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562813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5. Transfer by scenario family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30040" y="560070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75760" y="562813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Discover one structure on one soil/loading regime, reuse it on nearby regimes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31480" y="5600700"/>
            <a:ext cx="3901440" cy="388620"/>
          </a:xfrm>
          <a:prstGeom prst="rect">
            <a:avLst/>
          </a:prstGeom>
          <a:solidFill>
            <a:srgbClr val="ECF0F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77200" y="5628132"/>
            <a:ext cx="3810000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</a:rPr>
              <a:t>Could reduce retraining cost and improve generalization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8600" y="617220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B0000"/>
                </a:solidFill>
              </a:rPr>
              <a:t>Best recommendation: use the paper as a second-stage compression method after training, not as a replacement for your current M6 training pipeline.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8600" y="6419088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40" b="0" i="1">
                <a:solidFill>
                  <a:srgbClr val="2C3E50"/>
                </a:solidFill>
              </a:rPr>
              <a:t>Expected outcome: moderate extra efficiency gains with smaller accuracy loss than manual simplification, but this needs experiments on your pile dataset because PDE symmetry results do not transfer one-to-one.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