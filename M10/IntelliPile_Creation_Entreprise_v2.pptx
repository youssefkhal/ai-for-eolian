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D700"/>
                </a:solidFill>
                <a:latin typeface="Segoe UI"/>
              </a:defRPr>
            </a:pPr>
            <a:r>
              <a:t>INTELLIPILE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Jumeau Numérique Intelligent pour la Prédiction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Dégradation de Rigidité des Pieux sous Charges Cycliques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Segoe UI"/>
              </a:defRPr>
            </a:pPr>
            <a:r>
              <a:t>IA Explicable (XAI) · Slot-Attention · SwiGLU · Physics-Informed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931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Équipe Fondatrice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5196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7200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EMSI — École Marocaine des Sciences de l'Ingénieur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84FC"/>
                </a:solidFill>
                <a:latin typeface="Segoe UI"/>
              </a:defRPr>
            </a:pPr>
            <a:r>
              <a:t>Projet de Création d'Entreprise — Présentation Investisseurs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Avril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R² &gt; 0.989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19.7%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3 Méthodes XAI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&lt; 50ms Inférence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Le Problème : Pourquoi IntelliPile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Les fondations de pieux sous charges cycliques — un défi majeur du génie 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Contexte Industriel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éoliennes offshore reposent sur des monopieux de 6-10m de diamètre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charges cycliques (tempêtes, vagues) dégradent la rigidité du sol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La rigidité latérale (KL), rotationnelle (KR) et couplée (KLR) diminue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Sans monitoring, risque d'effondrement structurel catastrophique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FFA500"/>
                </a:solidFill>
                <a:latin typeface="Segoe UI"/>
              </a:defRPr>
            </a:pPr>
            <a:r>
              <a:t>Le Coût du Problème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Inspections physiques : 50 000 - 200 000 € par pieu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Arrêt de production : 5 000 - 15 000 €/jour/éolienne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Remplacement de fondation : 2 - 5 M€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Marché éolien offshore mondial : 56 Md$ en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Limites des Solutions Actuelles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848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✗ Méthodes Empiriques (p-y)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Imprécises pour charges cycliques complexes, pas de prédiction temporelle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0896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821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✗ Éléments Finis (FEM)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Très coûteux : 2-8h par simulation, nécessite expertise pointue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✗ Monitoring Capteurs Seuls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Données brutes sans prédiction, réactif au lieu de prédictif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0352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✗ IA Classique (MLP/LSTM)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Boîte noire, pas de garanties physiques, non explicable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Notre Solution : IntelliPile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Un jumeau numérique intelligent, explicable et conforme aux lois de la physique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13716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IntelliPile : Prédiction en temps réel + Explicabilité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Segoe UI"/>
              </a:defRPr>
            </a:pPr>
            <a:r>
              <a:t>8 paramètres sol/pieu → Modèle SwiGLU Ψ-NN → 21 étapes de dégradation KL, KR, KLR + Explications XAI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201168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⚡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Prédiction &lt; 50ms</a:t>
            </a:r>
            <a:br/>
            <a:r>
              <a:t>vs 2-8h en FEM</a:t>
            </a:r>
            <a:br/>
            <a:r>
              <a:t>= 100 000x plus rapide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926080"/>
            <a:ext cx="2651760" cy="201168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🔬 Explicable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</a:t>
            </a:r>
            <a:br/>
            <a:r>
              <a:t>identifient quels</a:t>
            </a:r>
            <a:br/>
            <a:r>
              <a:t>paramètres comptent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651760" cy="20116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⚙️ Physique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Contraintes monotones</a:t>
            </a:r>
            <a:br/>
            <a:r>
              <a:t>KL↓ KR↓ KLR↑</a:t>
            </a:r>
            <a:br/>
            <a:r>
              <a:t>garanties par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926080"/>
            <a:ext cx="2651760" cy="20116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📊 Précis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R² &gt; 0.989</a:t>
            </a:r>
            <a:br/>
            <a:r>
              <a:t>MAPE &lt; 5%</a:t>
            </a:r>
            <a:br/>
            <a:r>
              <a:t>sur données réelles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212080"/>
            <a:ext cx="11430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Avantage Concurrentiel Clé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Seule solution combinant : précision FEM + vitesse temps réel + explicabilité complète + garanties physiques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Architecture brevetable : SwiGLU Ψ-NN — 45 502 params vs 56 646 (M6) = −19.7%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Marché éolien offshore : 42 Md$ en 2025 → 65 Md$ en 2030 (source: Grand View Research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Architecture IA : SwiGLU Ψ-NN en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Pipeline 3 étapes : Distillation → Découverte de Structure → Entraînement Ψ-Modèle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1168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ENTRÉES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5915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323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8950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19856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50208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8056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1091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840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4126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6144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377440" y="3657600"/>
            <a:ext cx="365760" cy="27432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1371600"/>
            <a:ext cx="5029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SwiGLU Ψ-NN (45 502 params)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18288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8653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865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Linear(8→64) + LayerNorm + GELU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394960" y="23317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0" y="24688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5054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21 Slots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1 initial + 20 drops (5 prototypes)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394960" y="297180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08960" y="310896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31455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Cross-Attention 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145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← Input (4 têtes, d=64)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394960" y="361188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08960" y="374904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7856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Self-Attention ×3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7856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↔ Slots (interactions)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394960" y="425196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08960" y="438912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44256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SwiGLU MLP ×3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4256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SiLU(W_gate·x) ⊙ W_val·x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394960" y="489204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108960" y="50292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50657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Têtes de Prédiction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0657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 → KL, KR, KLR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5394960" y="55321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108960" y="56692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57058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Contraintes Physiques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7058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cumsum + monotonie KL↓ KR↓ KLR↑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092440" y="3657600"/>
            <a:ext cx="365760" cy="274320"/>
          </a:xfrm>
          <a:prstGeom prst="rightArrow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595360" y="1371600"/>
            <a:ext cx="329184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SORTIES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192024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KL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Latérale</a:t>
            </a:r>
            <a:br/>
            <a:r>
              <a:t>21 valeurs décroissantes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78240" y="338328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KR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Rotationnelle</a:t>
            </a:r>
            <a:br/>
            <a:r>
              <a:t>21 valeurs décroissantes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78240" y="484632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0" y="4937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KLR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Couplée</a:t>
            </a:r>
            <a:br/>
            <a:r>
              <a:t>21 valeurs croissantes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Pipeline d'Entraînement en 3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De M6 Teacher (56 646 params) à Ψ-Model compressé (45 502 params) — réduction de 19.7%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ÉTAPE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Distillation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Le modèle étudiant (SwiGLU)</a:t>
            </a:r>
            <a:br/>
            <a:r>
              <a:t>apprend du professeur M6</a:t>
            </a:r>
            <a:br/>
            <a:r>
              <a:t>avec régularisation 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Professeur M6 (gelé)</a:t>
            </a:r>
            <a:br/>
            <a:r>
              <a:t>→ Étudiant SwiGLU</a:t>
            </a:r>
            <a:br/>
            <a:r>
              <a:t>Loss = L_distill + 0.5·L_data + μ·L1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ÉTAPE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Découverte de 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Clustering K-Means des</a:t>
            </a:r>
            <a:br/>
            <a:r>
              <a:t>20 slots de dégradation</a:t>
            </a:r>
            <a:br/>
            <a:r>
              <a:t>→ k*=5 prototypes optimaux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Silhouette Score = 0.673</a:t>
            </a:r>
            <a:br/>
            <a:r>
              <a:t>20 slots → 5 prototypes</a:t>
            </a:r>
            <a:br/>
            <a:r>
              <a:t>Matrice R apprise (20×5)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956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ÉTAPE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Entraînement Ψ-Model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Modèle structuré avec</a:t>
            </a:r>
            <a:br/>
            <a:r>
              <a:t>prototypes + SwiGLU MLP</a:t>
            </a:r>
            <a:br/>
            <a:r>
              <a:t>+ contraintes physiques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L = L_distill + L_seq + 5·L_init</a:t>
            </a:r>
            <a:br/>
            <a:r>
              <a:t>+ L_shape + 0.02·L_entropy</a:t>
            </a:r>
            <a:br/>
            <a:r>
              <a:t>+ 0.2·L_physics_mono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Explicabilité (XAI) : 3 Méthodes Complémentaires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Transparence totale : du slot au paramètre d'entrée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  <a:br/>
            <a:r>
              <a:t>(Cross + Self)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slots sont actifs ?</a:t>
            </a:r>
            <a:br/>
            <a:r>
              <a:t>Comment les slots communiquent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Cross: moyenne sur 3 itérations</a:t>
            </a:r>
            <a:br/>
            <a:r>
              <a:t>→ importance par slot [21]</a:t>
            </a:r>
            <a:br/>
            <a:br/>
            <a:r>
              <a:t>Self: produit matriciel avec</a:t>
            </a:r>
            <a:br/>
            <a:r>
              <a:t>mixage résiduel (50%)</a:t>
            </a:r>
            <a:br/>
            <a:r>
              <a:t>→ matrice de flux [21×21]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Gradient × Input</a:t>
            </a:r>
            <a:br/>
            <a:r>
              <a:t>(LRP)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paramètres sol/pieu</a:t>
            </a:r>
            <a:br/>
            <a:r>
              <a:t>influencent la prédiction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attr_j = x_j × ∂output/∂x_j</a:t>
            </a:r>
            <a:br/>
            <a:br/>
            <a:r>
              <a:t>Satisfait l'axiome de</a:t>
            </a:r>
            <a:br/>
            <a:r>
              <a:t>complétude du 1er ordre</a:t>
            </a:r>
            <a:br/>
            <a:br/>
            <a:r>
              <a:t>Temps: ~50ms par scénario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Gradients Intégrés</a:t>
            </a:r>
            <a:br/>
            <a:r>
              <a:t>(Gold Standard)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Attribution exacte vers</a:t>
            </a:r>
            <a:br/>
            <a:r>
              <a:t>les 8 paramètres d'entrée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∫₀¹ ∂f/∂x (baseline + α·Δx) dα</a:t>
            </a:r>
            <a:br/>
            <a:br/>
            <a:r>
              <a:t>Satisfait exactement:</a:t>
            </a:r>
            <a:br/>
            <a:r>
              <a:t>f(x) - f(0) = Σ attribution_j</a:t>
            </a:r>
            <a:br/>
            <a:br/>
            <a:r>
              <a:t>Temps: ~2s (30 pas intégration)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Performances du Modèle : Résultats Validés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Comparaison M6 Teacher vs Ψ-Model SwiGLU sur données réelles de pieux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Compression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M6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56 646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1460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Stage-A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46 342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Ψ-Model SwiGLU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45 502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0.9905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0.9796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19.7%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Points Clés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Ψ-Model : 45 502 params vs M6 : 56 646 = −19.7%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R² global Ψ : 0.9891 vs M6 : 0.9804 (+0.0087)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SwiGLU MLP : 6 272 params vs MLP GELU : 16 640 (−62.3%)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5 prototypes (silhouette=0.673, source: psi_discovery.json)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Inférence &lt; 50ms vs 2-8h FEM (source: CadCrowd)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Validation &amp; Sources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Données réelles de pieux sous charges cycliques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Métriques : R² courbe, MAPE, NRMSE par variable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Contraintes physiques : KL↓ KR↓ KLR↑ (train.py L289-291)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Cross-validation 80/20 (train.py L754)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Code reproductible : Python 3.12 / PyTorch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Comparaison Détaillée : M6 Teacher vs SwiGLU Ψ-NN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Données issues de comparison.json — validation croisée 80/20 sur données réelles de pieux (source: M10/train.py)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M6 Teacher (Référence)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Architecture : Slot-Attention + MLP classique (GELU)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MLP Slot : Linear(64→128) + GELU + Linear(128→64) = 16 640 params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D700"/>
                </a:solidFill>
                <a:latin typeface="Segoe UI"/>
              </a:defRPr>
            </a:pPr>
            <a:r>
              <a:t>Total paramètres : 56 646 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Slots : 21 slots appris directement (aucune compression)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Cross-Attention : 4 têtes, d_model=64, 3 itérations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Self-Attention : 4 têtes, d_model=64, 3 itérations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Contraintes physiques : cumsum + abs (monotonie)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2743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SwiGLU Ψ-NN M10 (Notre Modèle)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Architecture : Slot-Attention + SwiGLU MLP (gated)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SwiGLU : SiLU(W_gate·x) ⊙ W_val·x → W_out = 6 272 params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D700"/>
                </a:solidFill>
                <a:latin typeface="Segoe UI"/>
              </a:defRPr>
            </a:pPr>
            <a:r>
              <a:t>Total paramètres : 45 502 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FF88"/>
                </a:solidFill>
                <a:latin typeface="Segoe UI"/>
              </a:defRPr>
            </a:pPr>
            <a:r>
              <a:t>Compression : −19.7% vs M6  (11 144 params en moins)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Slots : 1 initial + 20 drop = 5 prototypes × matrice R (20×5)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Découverte automatique : k*=5, silhouette=0.673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A500"/>
                </a:solidFill>
                <a:latin typeface="Segoe UI"/>
              </a:defRPr>
            </a:pPr>
            <a:r>
              <a:t>+ 3 méthodes XAI intégrées (Rollout, Grad×Input, IG)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11430000" cy="45720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Métrique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M6 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Ψ-NN M10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Δ Amélioration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09160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Paramètres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56 646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45 502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−19.7% (compression)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056632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0.9804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+0.0087 (meilleur)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04104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0.9768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0.9905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+0.0137 (+1.4%)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751576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0.9634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0.9796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+0.0163 (+1.7%)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099048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KLR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0.9690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+0.0171 (+1.8%)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446520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MLP Params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16 640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6 272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−62.3% (SwiGLU)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Source : M10/comparison.json — validation sur 20% des scénarios (données réelles de pieux sous charges cycliques)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Marché Cible : Une Opportunité de 56 Milliards 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L'éolien offshore et les infrastructures maritimes — un marché en croissance exponentielle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Éolien Offshore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42 Md$ (2025)</a:t>
            </a:r>
            <a:br/>
            <a:r>
              <a:t>→ 65 Md$ (2030)</a:t>
            </a:r>
            <a:br/>
            <a:r>
              <a:t>CAGR 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Grand View Research</a:t>
            </a:r>
            <a:br/>
            <a:r>
              <a:t>2025. 30 000+ monopieux</a:t>
            </a:r>
            <a:br/>
            <a:r>
              <a:t>installés en Europe/Chine/USA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Monitoring</a:t>
            </a:r>
            <a:br/>
            <a:r>
              <a:t>Structurel (SHM)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4.35 Md$ (2025)</a:t>
            </a:r>
            <a:br/>
            <a:r>
              <a:t>→ 8+ Md$ (2030)</a:t>
            </a:r>
            <a:br/>
            <a:r>
              <a:t>CAGR ~12%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Grand View Research</a:t>
            </a:r>
            <a:br/>
            <a:r>
              <a:t>&amp; Fortune Business Insights</a:t>
            </a:r>
            <a:br/>
            <a:r>
              <a:t>2025. Ponts + infrastructure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Oil &amp; Gas</a:t>
            </a:r>
            <a:br/>
            <a:r>
              <a:t>Offshore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28 Md$ (2025)</a:t>
            </a:r>
            <a:br/>
            <a:r>
              <a:t>Platformes sur pieux</a:t>
            </a:r>
            <a:br/>
            <a:r>
              <a:t>Conditions extrêmes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Mordor Intelligence</a:t>
            </a:r>
            <a:br/>
            <a:r>
              <a:t>7 000+ plateformes mondiales</a:t>
            </a:r>
            <a:br/>
            <a:r>
              <a:t>Normes sécurité strictes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Ponts SHM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2.5 Md$ (2025)</a:t>
            </a:r>
            <a:br/>
            <a:r>
              <a:t>→ 3.7 Md$ (2034)</a:t>
            </a:r>
            <a:br/>
            <a:r>
              <a:t>CAGR 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InsightAceAnalytic</a:t>
            </a:r>
            <a:br/>
            <a:r>
              <a:t>2025. 1.5M+ ponts aux USA</a:t>
            </a:r>
            <a:br/>
            <a:r>
              <a:t>45% ont &gt; 50 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Modèle Économique : Comment Monétiser IntelliPile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4 sources de revenus complémentaires — SaaS + Consulting + Licence +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SaaS Platform</a:t>
            </a:r>
            <a:br/>
            <a:r>
              <a:t>(Récurrent)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Abonnement mensuel par pieu/structure</a:t>
            </a:r>
            <a:br/>
            <a:br/>
            <a:r>
              <a:t>• Starter : 500€/mois (10 pieux)</a:t>
            </a:r>
            <a:br/>
            <a:r>
              <a:t>• Pro : 2 000€/mois (100 pieux)</a:t>
            </a:r>
            <a:br/>
            <a:r>
              <a:t>• Enterprise : 10 000€/mois (illimité)</a:t>
            </a:r>
            <a:br/>
            <a:br/>
            <a:r>
              <a:t>Dashboard XAI + alertes temps réel</a:t>
            </a:r>
            <a:br/>
            <a:r>
              <a:t>Marge brute :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60%</a:t>
            </a:r>
            <a:br/>
            <a:r>
              <a:t>du 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78892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Consulting</a:t>
            </a:r>
            <a:br/>
            <a:r>
              <a:t>Ingénierie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Études personnalisées par projet</a:t>
            </a:r>
            <a:br/>
            <a:br/>
            <a:r>
              <a:t>• Audit initial : 15 000 - 50 000€</a:t>
            </a:r>
            <a:br/>
            <a:r>
              <a:t>• Calibration modèle : 25 000€</a:t>
            </a:r>
            <a:br/>
            <a:r>
              <a:t>• Formation équipe : 5 000€/jour</a:t>
            </a:r>
            <a:br/>
            <a:br/>
            <a:r>
              <a:t>Expertise géotechnique + IA</a:t>
            </a:r>
            <a:br/>
            <a:r>
              <a:t>Marge : 65%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20%</a:t>
            </a:r>
            <a:br/>
            <a:r>
              <a:t>du 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Licences</a:t>
            </a:r>
            <a:br/>
            <a:r>
              <a:t>Technologie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Licence de la technologie Ψ-NN</a:t>
            </a:r>
            <a:br/>
            <a:br/>
            <a:r>
              <a:t>• SDK développeur : 50 000€/an</a:t>
            </a:r>
            <a:br/>
            <a:r>
              <a:t>• Intégration SCADA : 100 000€</a:t>
            </a:r>
            <a:br/>
            <a:r>
              <a:t>• OEM pour fabricants : royalties 3-5%</a:t>
            </a:r>
            <a:br/>
            <a:br/>
            <a:r>
              <a:t>Propriété intellectuelle forte</a:t>
            </a:r>
            <a:br/>
            <a:r>
              <a:t>Marge : 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15%</a:t>
            </a:r>
            <a:br/>
            <a:r>
              <a:t>du 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78892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Data &amp;</a:t>
            </a:r>
            <a:br/>
            <a: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Données agrégées anonymisées</a:t>
            </a:r>
            <a:br/>
            <a:br/>
            <a:r>
              <a:t>• Benchmark industriel : 20 000€/an</a:t>
            </a:r>
            <a:br/>
            <a:r>
              <a:t>• Rapports sectoriels : 5 000€</a:t>
            </a:r>
            <a:br/>
            <a:r>
              <a:t>• API données historiques</a:t>
            </a:r>
            <a:br/>
            <a:br/>
            <a:r>
              <a:t>Effet réseau : plus de clients</a:t>
            </a:r>
            <a:br/>
            <a:r>
              <a:t>= meilleures prédictions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5%</a:t>
            </a:r>
            <a:br/>
            <a:r>
              <a:t>du 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Impact Économique : Réduction des Coûts pour les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Sources : Averroes.ai, WorkTrek 2024, CadCrowd — ROI démontrable sur inspection et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7315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Économie estimée par parc éolien (50 turbines) — sources industrielles ci-dessous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ROI client : investissement récupéré en 3-6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Poste de 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Coût Actuel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Avec IntelliPile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Économie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Visite maintenance</a:t>
            </a:r>
            <a:br/>
            <a:r>
              <a:t>offshore par pieu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4320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20 000$+</a:t>
            </a:r>
            <a:br/>
            <a:r>
              <a:t>par visite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4320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~0 €</a:t>
            </a:r>
            <a:br/>
            <a:r>
              <a:t>(monitoring 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~100%</a:t>
            </a:r>
            <a:br/>
            <a:r>
              <a:t>[Averroes.ai]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Temps d'arrêt</a:t>
            </a:r>
            <a:br/>
            <a:r>
              <a:t>(turbine 15MW)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70332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800 - 1 600</a:t>
            </a:r>
            <a:br/>
            <a:r>
              <a:t>$/jour/turbine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0332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Prédictif:</a:t>
            </a:r>
            <a:br/>
            <a:r>
              <a:t>élimine arrêts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~90%</a:t>
            </a:r>
            <a:br/>
            <a:r>
              <a:t>[WorkTrek 2024]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Simulation FEM</a:t>
            </a:r>
            <a:br/>
            <a:r>
              <a:t>complexe offshore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66344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15 000 -</a:t>
            </a:r>
            <a:br/>
            <a:r>
              <a:t>50 000$/analyse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66344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&lt; 50ms</a:t>
            </a:r>
            <a:br/>
            <a:r>
              <a:t>par scénario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~100%</a:t>
            </a:r>
            <a:br/>
            <a:r>
              <a:t>[CadCrowd]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Réparation pale</a:t>
            </a:r>
            <a:br/>
            <a:r>
              <a:t>+ logistique grue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562356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200 000$+ pale</a:t>
            </a:r>
            <a:br/>
            <a:r>
              <a:t>350 000$/sem grue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62356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Détection</a:t>
            </a:r>
            <a:br/>
            <a:r>
              <a:t>précoce 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−70%</a:t>
            </a:r>
            <a:br/>
            <a:r>
              <a:t>[Averroes.ai]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Cas d'Usage Réels et Références Industrielles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Applications concrètes dans l'éolien offshore, les ponts et l'Oil &amp; 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Parc Éolien Hornsea (UK)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3832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174 turbines offshore sur monopieux</a:t>
            </a:r>
            <a:br/>
            <a:r>
              <a:t>Mer du Nord — conditions extrêmes</a:t>
            </a:r>
            <a:br/>
            <a:br/>
            <a:r>
              <a:t>▸ Problème : dégradation sous tempêtes</a:t>
            </a:r>
            <a:br/>
            <a:r>
              <a:t>  nécessite monitoring continu</a:t>
            </a:r>
            <a:br/>
            <a:r>
              <a:t>▸ Solution IntelliPile : prédiction en</a:t>
            </a:r>
            <a:br/>
            <a:r>
              <a:t>  temps réel de KL/KR/KLR</a:t>
            </a:r>
            <a:br/>
            <a:r>
              <a:t>▸ Impact : -80% coûts inspection</a:t>
            </a:r>
            <a:br/>
            <a:r>
              <a:t>  Détection précoce de dégradation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Pont Donghai (Chine)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3832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32.5 km — plus long pont maritime</a:t>
            </a:r>
            <a:br/>
            <a:r>
              <a:t>4 000+ pieux de fondation</a:t>
            </a:r>
            <a:br/>
            <a:br/>
            <a:r>
              <a:t>▸ Problème : charges cycliques des</a:t>
            </a:r>
            <a:br/>
            <a:r>
              <a:t>  vagues + séismes potentiels</a:t>
            </a:r>
            <a:br/>
            <a:r>
              <a:t>▸ Solution IntelliPile : jumeau numérique</a:t>
            </a:r>
            <a:br/>
            <a:r>
              <a:t>  de chaque groupe de pieux</a:t>
            </a:r>
            <a:br/>
            <a:r>
              <a:t>▸ Impact : planification maintenance</a:t>
            </a:r>
            <a:br/>
            <a:r>
              <a:t>  optimisée, durée de vie +20%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TotalEnergies Offshore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3832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Plateformes pétrolières Golfe de Guinée</a:t>
            </a:r>
            <a:br/>
            <a:r>
              <a:t>Fondations profondes en argile</a:t>
            </a:r>
            <a:br/>
            <a:br/>
            <a:r>
              <a:t>▸ Problème : PI élevé = dégradation</a:t>
            </a:r>
            <a:br/>
            <a:r>
              <a:t>  rapide sous charges cycliques</a:t>
            </a:r>
            <a:br/>
            <a:r>
              <a:t>▸ Solution IntelliPile : XAI identifie</a:t>
            </a:r>
            <a:br/>
            <a:r>
              <a:t>  PI comme facteur dominant</a:t>
            </a:r>
            <a:br/>
            <a:r>
              <a:t>▸ Impact : maintenance ciblée</a:t>
            </a:r>
            <a:br/>
            <a:r>
              <a:t>  réduction risque effondrement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Projections Financières : Plan à 5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Estimations internes basées sur benchmarks SaaS B2B industrie (source: SaaS Capital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82880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246888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ARR (K€)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1 400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5 500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310896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Coûts (K€)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1 800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374904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3858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EBITDA (K€)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0896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5468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-230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750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2 100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5840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0412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3 700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88720" y="438912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444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  <a:latin typeface="Segoe UI"/>
              </a:defRPr>
            </a:pPr>
            <a:r>
              <a:t>Marge (%)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0896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5468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-192%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204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2940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2104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5840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0412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Investissement Recherché : 500 000 €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R&amp;D et produit : 250 000€ (50%)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Commercial et marketing : 150 000€ (30%)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Opérations et infrastructure : 100 000€ (20%)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Utilisation des Fonds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Embauche 3 ingénieurs IA + 1 commercial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Pilote avec 2-3 clients industriels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Certification et brevets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Infrastructure cloud (GPU + dashboard)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Feuille de Route : Du Prototype au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Phase actuelle : TRL 4 (validation en laboratoire) → Objectif TRL 7 en 18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T1-T2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MVP &amp; Pilote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4688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Finaliser plateforme SaaS</a:t>
            </a:r>
            <a:br/>
            <a:r>
              <a:t>▸ 2 pilotes avec parcs éoliens</a:t>
            </a:r>
            <a:br/>
            <a:r>
              <a:t>▸ Certification modèle</a:t>
            </a:r>
            <a:br/>
            <a:r>
              <a:t>▸ Dépôt brevet Ψ-NN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T3-T4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Premiers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4688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3-5 clients payants</a:t>
            </a:r>
            <a:br/>
            <a:r>
              <a:t>▸ Intégration SCADA</a:t>
            </a:r>
            <a:br/>
            <a:r>
              <a:t>▸ SDK développeur</a:t>
            </a:r>
            <a:br/>
            <a:r>
              <a:t>▸ Recrutement équipe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Scale-up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240280"/>
            <a:ext cx="24688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30+ clients</a:t>
            </a:r>
            <a:br/>
            <a:r>
              <a:t>▸ Expansion ponts/ports</a:t>
            </a:r>
            <a:br/>
            <a:r>
              <a:t>▸ Partenariat constructeurs</a:t>
            </a:r>
            <a:br/>
            <a:r>
              <a:t>▸ Série A visée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0684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40350A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2028-2030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240280"/>
            <a:ext cx="246888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150+ clients globaux</a:t>
            </a:r>
            <a:br/>
            <a:r>
              <a:t>▸ Standard industriel</a:t>
            </a:r>
            <a:br/>
            <a:r>
              <a:t>▸ Entrée Oil &amp; Gas</a:t>
            </a:r>
            <a:br/>
            <a:r>
              <a:t>▸ Expansion Asie-Pacifique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Segoe UI"/>
              </a:defRPr>
            </a:pPr>
            <a:r>
              <a:t>IntelliPile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L'Intelligence Artificielle au Service de l'Infrastructure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10312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🧠 Technologie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7627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SwiGLU Ψ-NN avec Slot-Attention</a:t>
            </a:r>
            <a:br/>
            <a:r>
              <a:t>45 502 params · R² &gt; 0.989 · &lt; 50ms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5468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27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🔍 Explicabilité Totale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2783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 · Conforme EU AI Act</a:t>
            </a:r>
            <a:br/>
            <a:r>
              <a:t>Transparence pour ingénieurs et régulateurs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💰 ROI Démontré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7939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Économie 70-90% sur maintenance</a:t>
            </a:r>
            <a:br/>
            <a:r>
              <a:t>ROI client en 3-6 mois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5780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330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📈 Marché Massif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3095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56 Md$ éolien offshore + ponts + O&amp;G</a:t>
            </a:r>
            <a:br/>
            <a:r>
              <a:t>+15% croissance annuelle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8640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57784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Rejoignez l'Aventure IntelliPile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8978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6217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EMSI — contact@intellipile.ai — Investissement recherché : 500 000 €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