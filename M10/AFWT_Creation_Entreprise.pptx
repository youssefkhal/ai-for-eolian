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D700"/>
                </a:solidFill>
                <a:latin typeface="Segoe UI"/>
              </a:defRPr>
            </a:pPr>
            <a:r>
              <a:t>AI FOR WIND TURBINES — AFWT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Jumeau Numérique Intelligent pour la Prédiction 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Dégradation de Rigidité des Pieux sous Charges Cycliques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Segoe UI"/>
              </a:defRPr>
            </a:pPr>
            <a:r>
              <a:t>IA Explicable (XAI) · Slot-Attention · SwiGLU · Physics-Informed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840480"/>
            <a:ext cx="7589520" cy="10972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68880" y="393192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Segoe UI"/>
              </a:defRPr>
            </a:pPr>
            <a:r>
              <a:t>Équipe Fondatrice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425196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Youssef Khallouqi  ·  Youssef Rissouli  ·  Mohamed Wael Addoul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84FC"/>
                </a:solidFill>
                <a:latin typeface="Segoe UI"/>
              </a:defRPr>
            </a:pPr>
            <a:r>
              <a:t>Projet de Création d'Entreprise — Présentation Investisseurs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Segoe UI"/>
              </a:defRPr>
            </a:pPr>
            <a:r>
              <a:t>Avril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6126480"/>
            <a:ext cx="2103120" cy="50292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6190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Segoe UI"/>
              </a:defRPr>
            </a:pPr>
            <a:r>
              <a:t>R² &gt; 0.989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6126480"/>
            <a:ext cx="2103120" cy="50292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31920" y="6190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19.7% Compression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6126480"/>
            <a:ext cx="2103120" cy="50292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6190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500"/>
                </a:solidFill>
                <a:latin typeface="Segoe UI"/>
              </a:defRPr>
            </a:pPr>
            <a:r>
              <a:t>3 Méthodes XAI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6126480"/>
            <a:ext cx="2103120" cy="50292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0" y="6190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84FC"/>
                </a:solidFill>
                <a:latin typeface="Segoe UI"/>
              </a:defRPr>
            </a:pPr>
            <a:r>
              <a:t>&lt; 50ms Inférence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6B"/>
                </a:solidFill>
                <a:latin typeface="Segoe UI"/>
              </a:defRPr>
            </a:pPr>
            <a:r>
              <a:t>Le Problème : Pourquoi AFWT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Les fondations de pieux sous charges cycliques — un défi majeur du génie civil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486400" cy="502920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Segoe UI"/>
              </a:defRPr>
            </a:pPr>
            <a:r>
              <a:t>Contexte Industriel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Les éoliennes offshore reposent sur des monopieux de 6-10m de diamètre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Les charges cycliques (tempêtes, vagues) dégradent la rigidité du sol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La rigidité latérale (KL), rotationnelle (KR) et couplée (KLR) diminue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Sans monitoring, risque d'effondrement structurel catastrophique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600" b="0">
                <a:solidFill>
                  <a:srgbClr val="DDDDDD"/>
                </a:solidFill>
                <a:latin typeface="Segoe UI"/>
              </a:defRPr>
            </a:pPr>
            <a:endParaRPr/>
          </a:p>
          <a:p>
            <a:pPr algn="l">
              <a:spcBef>
                <a:spcPts val="300"/>
              </a:spcBef>
              <a:spcAft>
                <a:spcPts val="100"/>
              </a:spcAft>
              <a:defRPr sz="1600" b="1">
                <a:solidFill>
                  <a:srgbClr val="FFA500"/>
                </a:solidFill>
                <a:latin typeface="Segoe UI"/>
              </a:defRPr>
            </a:pPr>
            <a:r>
              <a:t>Le Coût du Problème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Inspections physiques : 50 000 - 200 000 € par pieu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Arrêt de production : 5 000 - 15 000 €/jour/éolienne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Remplacement de fondation : 2 - 5 M€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Marché éolien offshore mondial : 56 Md$ en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577840" cy="502920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Segoe UI"/>
              </a:defRPr>
            </a:pPr>
            <a:r>
              <a:t>Limites des Solutions Actuelles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21208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08483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6B"/>
                </a:solidFill>
                <a:latin typeface="Segoe UI"/>
              </a:defRPr>
            </a:pPr>
            <a:r>
              <a:t>✗ Méthodes Empiriques (p-y)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Imprécises pour charges cycliques complexes, pas de prédiction temporelle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108960"/>
            <a:ext cx="521208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18211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500"/>
                </a:solidFill>
                <a:latin typeface="Segoe UI"/>
              </a:defRPr>
            </a:pPr>
            <a:r>
              <a:t>✗ Éléments Finis (FEM)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474720"/>
            <a:ext cx="4846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rPr dirty="0"/>
              <a:t>Très </a:t>
            </a:r>
            <a:r>
              <a:rPr dirty="0" err="1"/>
              <a:t>coûteux</a:t>
            </a:r>
            <a:r>
              <a:rPr dirty="0"/>
              <a:t> :</a:t>
            </a:r>
            <a:r>
              <a:rPr lang="en-US" dirty="0"/>
              <a:t>1 jour </a:t>
            </a:r>
            <a:r>
              <a:rPr dirty="0"/>
              <a:t>par simulation, </a:t>
            </a:r>
            <a:r>
              <a:rPr dirty="0" err="1"/>
              <a:t>nécessite</a:t>
            </a:r>
            <a:r>
              <a:rPr dirty="0"/>
              <a:t> expertise </a:t>
            </a:r>
            <a:r>
              <a:rPr dirty="0" err="1"/>
              <a:t>pointue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6400800" y="4206240"/>
            <a:ext cx="521208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427939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CC15"/>
                </a:solidFill>
                <a:latin typeface="Segoe UI"/>
              </a:defRPr>
            </a:pPr>
            <a:r>
              <a:t>✗ Monitoring Capteurs Seuls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572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Données brutes sans prédiction, réactif au lieu de prédictif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303520"/>
            <a:ext cx="521208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537667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Segoe UI"/>
              </a:defRPr>
            </a:pPr>
            <a:r>
              <a:t>✗ IA Classique (MLP/LSTM)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669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Boîte noire, pas de garanties physiques, non explicable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FF88"/>
                </a:solidFill>
                <a:latin typeface="Segoe UI"/>
              </a:defRPr>
            </a:pPr>
            <a:r>
              <a:t>Notre Solution : AFWT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Un jumeau numérique intelligent, explicable et conforme aux lois de la physique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11430000" cy="13716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F88"/>
                </a:solidFill>
                <a:latin typeface="Segoe UI"/>
              </a:defRPr>
            </a:pPr>
            <a:r>
              <a:t>AFWT : Prédiction en temps réel + Explicabilité complète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DDDD"/>
                </a:solidFill>
                <a:latin typeface="Segoe UI"/>
              </a:defRPr>
            </a:pPr>
            <a:r>
              <a:t>8 paramètres sol/pieu → Modèle SwiGLU Ψ-NN → 21 étapes de dégradation KL, KR, KLR + Explications XAI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2651760" cy="201168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⚡ Temps Réel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Prédiction &lt; 50ms</a:t>
            </a:r>
            <a:br/>
            <a:r>
              <a:t>vs 2-8h en FEM</a:t>
            </a:r>
            <a:br/>
            <a:r>
              <a:t>= 100 000x plus rapide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926080"/>
            <a:ext cx="2651760" cy="201168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3017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🔬 Explicable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4290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3 méthodes XAI</a:t>
            </a:r>
            <a:br/>
            <a:r>
              <a:t>identifient quels</a:t>
            </a:r>
            <a:br/>
            <a:r>
              <a:t>paramètres comptent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26080"/>
            <a:ext cx="2651760" cy="201168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3017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⚙️ Physique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290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Contraintes monotones</a:t>
            </a:r>
            <a:br/>
            <a:r>
              <a:t>KL↓ KR↓ KLR↑</a:t>
            </a:r>
            <a:br/>
            <a:r>
              <a:t>garanties par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926080"/>
            <a:ext cx="2651760" cy="2011680"/>
          </a:xfrm>
          <a:prstGeom prst="roundRect">
            <a:avLst/>
          </a:prstGeom>
          <a:solidFill>
            <a:srgbClr val="3B1D6E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89720" y="3017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84FC"/>
                </a:solidFill>
                <a:latin typeface="Segoe UI"/>
              </a:defRPr>
            </a:pPr>
            <a:r>
              <a:t>📊 Précis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34290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R² &gt; 0.989</a:t>
            </a:r>
            <a:br/>
            <a:r>
              <a:t>MAPE &lt; 5%</a:t>
            </a:r>
            <a:br/>
            <a:r>
              <a:t>sur données réelles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212080"/>
            <a:ext cx="11430000" cy="137160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Segoe UI"/>
              </a:defRPr>
            </a:pPr>
            <a:r>
              <a:t>Avantage Concurrentiel Clé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Seule solution combinant : précision FEM + vitesse temps réel + explicabilité complète + garanties physiques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Architecture brevetable : SwiGLU Ψ-NN — 45 502 params vs 56 646 (M6) = −19.7% (source: comparison.json)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Marché éolien offshore : 42 Md$ en 2025 → 65 Md$ en 2030 (source: Grand View Research 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084FC"/>
                </a:solidFill>
                <a:latin typeface="Segoe UI"/>
              </a:defRPr>
            </a:pPr>
            <a:r>
              <a:t>Architecture IA : SwiGLU Ψ-NN en Détail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Pipeline 3 étapes : Distillation → Découverte de Structure → Entraînement Ψ-Modèle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011680" cy="50292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ENTRÉES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828800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359152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43230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500"/>
                </a:solidFill>
                <a:latin typeface="Segoe UI"/>
              </a:defRPr>
            </a:pPr>
            <a:r>
              <a:t>Gmax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889504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96265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ACC15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419856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49300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Dp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950208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40233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480560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5537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Lp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5010912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508406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D4BF"/>
                </a:solidFill>
                <a:latin typeface="Segoe UI"/>
              </a:defRPr>
            </a:pPr>
            <a:r>
              <a:t>Ip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541264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561441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72B6"/>
                </a:solidFill>
                <a:latin typeface="Segoe UI"/>
              </a:defRPr>
            </a:pPr>
            <a:r>
              <a:t>Dp/Lp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377440" y="3657600"/>
            <a:ext cx="365760" cy="274320"/>
          </a:xfrm>
          <a:prstGeom prst="rightArrow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926080" y="1371600"/>
            <a:ext cx="5029200" cy="5029200"/>
          </a:xfrm>
          <a:prstGeom prst="roundRect">
            <a:avLst/>
          </a:prstGeom>
          <a:solidFill>
            <a:srgbClr val="3B1D6E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17520" y="1463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84FC"/>
                </a:solidFill>
                <a:latin typeface="Segoe UI"/>
              </a:defRPr>
            </a:pPr>
            <a:r>
              <a:t>SwiGLU Ψ-NN (45 502 params)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08960" y="1828800"/>
            <a:ext cx="4663440" cy="53035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46120" y="18653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Embedding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186537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Linear(8→64) + LayerNorm + GELU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394960" y="2331720"/>
            <a:ext cx="137160" cy="137160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108960" y="2468880"/>
            <a:ext cx="4663440" cy="53035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46120" y="250545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Segoe UI"/>
              </a:defRPr>
            </a:pPr>
            <a:r>
              <a:t>21 Slots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250545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1 initial + 20 drops (5 prototypes)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5394960" y="2971800"/>
            <a:ext cx="137160" cy="137160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108960" y="3108960"/>
            <a:ext cx="4663440" cy="53035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46120" y="314553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Segoe UI"/>
              </a:defRPr>
            </a:pPr>
            <a:r>
              <a:t>Cross-Attention ×3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31455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Slots ← Input (4 têtes, d=64)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5394960" y="3611880"/>
            <a:ext cx="137160" cy="137160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108960" y="3749040"/>
            <a:ext cx="4663440" cy="53035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46120" y="378561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88"/>
                </a:solidFill>
                <a:latin typeface="Segoe UI"/>
              </a:defRPr>
            </a:pPr>
            <a:r>
              <a:t>Self-Attention ×3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378561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Slots ↔ Slots (interactions)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5394960" y="4251960"/>
            <a:ext cx="137160" cy="137160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3108960" y="4389120"/>
            <a:ext cx="4663440" cy="53035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46120" y="442569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SwiGLU MLP ×3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0" y="442569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SiLU(W_gate·x) ⊙ W_val·x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5394960" y="4892040"/>
            <a:ext cx="137160" cy="137160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108960" y="5029200"/>
            <a:ext cx="4663440" cy="53035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46120" y="50657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72B6"/>
                </a:solidFill>
                <a:latin typeface="Segoe UI"/>
              </a:defRPr>
            </a:pPr>
            <a:r>
              <a:t>Têtes de Prédiction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506577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Slot → KL, KR, KLR</a:t>
            </a:r>
          </a:p>
        </p:txBody>
      </p:sp>
      <p:sp>
        <p:nvSpPr>
          <p:cNvPr id="49" name="Down Arrow 48"/>
          <p:cNvSpPr/>
          <p:nvPr/>
        </p:nvSpPr>
        <p:spPr>
          <a:xfrm>
            <a:off x="5394960" y="5532120"/>
            <a:ext cx="137160" cy="137160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3108960" y="5669280"/>
            <a:ext cx="4663440" cy="53035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246120" y="570585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Segoe UI"/>
              </a:defRPr>
            </a:pPr>
            <a:r>
              <a:t>Contraintes Physiques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0" y="570585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cumsum + monotonie KL↓ KR↓ KLR↑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8092440" y="3657600"/>
            <a:ext cx="365760" cy="274320"/>
          </a:xfrm>
          <a:prstGeom prst="rightArrow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595360" y="1371600"/>
            <a:ext cx="3291840" cy="5029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686800" y="1463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SORTIES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778240" y="1920240"/>
            <a:ext cx="2926080" cy="12801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86968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KL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2377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Rigidité Latérale</a:t>
            </a:r>
            <a:br/>
            <a:r>
              <a:t>21 valeurs décroissantes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778240" y="3383280"/>
            <a:ext cx="2926080" cy="12801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869680" y="3474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  <a:latin typeface="Segoe UI"/>
              </a:defRPr>
            </a:pPr>
            <a:r>
              <a:t>KR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69680" y="3840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Rigidité Rotationnelle</a:t>
            </a:r>
            <a:br/>
            <a:r>
              <a:t>21 valeurs décroissantes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78240" y="4846320"/>
            <a:ext cx="2926080" cy="12801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869680" y="4937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8"/>
                </a:solidFill>
                <a:latin typeface="Segoe UI"/>
              </a:defRPr>
            </a:pPr>
            <a:r>
              <a:t>KLR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69680" y="5303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Rigidité Couplée</a:t>
            </a:r>
            <a:br/>
            <a:r>
              <a:t>21 valeurs croissantes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A500"/>
                </a:solidFill>
                <a:latin typeface="Segoe UI"/>
              </a:defRPr>
            </a:pPr>
            <a:r>
              <a:t>Pipeline d'Entraînement en 3 Étapes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De M6 Teacher (56 646 params) à Ψ-Model compressé (45 502 params) — réduction de 19.7%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50292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Segoe UI"/>
              </a:defRPr>
            </a:pPr>
            <a:r>
              <a:t>ÉTAPE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Distillation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3291840" cy="164592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Le modèle étudiant (SwiGLU)</a:t>
            </a:r>
            <a:br/>
            <a:r>
              <a:t>apprend du professeur M6</a:t>
            </a:r>
            <a:br/>
            <a:r>
              <a:t>avec régularisation L1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114800"/>
            <a:ext cx="3291840" cy="20116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1605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Détails Techniques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348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onsolas"/>
              </a:defRPr>
            </a:pPr>
            <a:r>
              <a:t>Professeur M6 (gelé)</a:t>
            </a:r>
            <a:br/>
            <a:r>
              <a:t>→ Étudiant SwiGLU</a:t>
            </a:r>
            <a:br/>
            <a:r>
              <a:t>Loss = L_distill + 0.5·L_data + μ·L1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69080" y="3657600"/>
            <a:ext cx="228600" cy="22860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566160" cy="502920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1463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A500"/>
                </a:solidFill>
                <a:latin typeface="Segoe UI"/>
              </a:defRPr>
            </a:pPr>
            <a:r>
              <a:t>ÉTAPE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783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Découverte de Structure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286000"/>
            <a:ext cx="3291840" cy="164592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80" y="23774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Clustering K-Means des</a:t>
            </a:r>
            <a:br/>
            <a:r>
              <a:t>20 slots de dégradation</a:t>
            </a:r>
            <a:br/>
            <a:r>
              <a:t>→ k*=5 prototypes optimaux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114800"/>
            <a:ext cx="3291840" cy="20116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6280" y="41605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500"/>
                </a:solidFill>
                <a:latin typeface="Segoe UI"/>
              </a:defRPr>
            </a:pPr>
            <a:r>
              <a:t>Détails Techniques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4348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onsolas"/>
              </a:defRPr>
            </a:pPr>
            <a:r>
              <a:t>Silhouette Score = 0.673</a:t>
            </a:r>
            <a:br/>
            <a:r>
              <a:t>20 slots → 5 prototypes</a:t>
            </a:r>
            <a:br/>
            <a:r>
              <a:t>Matrice R apprise (20×5)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909560" y="3657600"/>
            <a:ext cx="228600" cy="22860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138160" y="1371600"/>
            <a:ext cx="3566160" cy="5029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1463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ÉTAPE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1783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Entraînement Ψ-Model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2286000"/>
            <a:ext cx="3291840" cy="164592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60" y="23774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Modèle structuré avec</a:t>
            </a:r>
            <a:br/>
            <a:r>
              <a:t>prototypes + SwiGLU MLP</a:t>
            </a:r>
            <a:br/>
            <a:r>
              <a:t>+ contraintes physiques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4114800"/>
            <a:ext cx="3291840" cy="20116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6760" y="41605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FF88"/>
                </a:solidFill>
                <a:latin typeface="Segoe UI"/>
              </a:defRPr>
            </a:pPr>
            <a:r>
              <a:t>Détails Techniques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4348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onsolas"/>
              </a:defRPr>
            </a:pPr>
            <a:r>
              <a:t>L = L_distill + L_seq + 5·L_init</a:t>
            </a:r>
            <a:br/>
            <a:r>
              <a:t>+ L_shape + 0.02·L_entropy</a:t>
            </a:r>
            <a:br/>
            <a:r>
              <a:t>+ 0.2·L_physics_mono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A500"/>
                </a:solidFill>
                <a:latin typeface="Segoe UI"/>
              </a:defRPr>
            </a:pPr>
            <a:r>
              <a:t>Explicabilité (XAI) : 3 Méthodes Complémentaires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Transparence totale : du slot au paramètre d'entrée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50292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Attention Rollout</a:t>
            </a:r>
            <a:br/>
            <a:r>
              <a:t>(Cross + Self)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03120"/>
            <a:ext cx="329184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QUESTION: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Quels slots sont actifs ?</a:t>
            </a:r>
            <a:br/>
            <a:r>
              <a:t>Comment les slots communiquent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MÉTHODE: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Consolas"/>
              </a:defRPr>
            </a:pPr>
            <a:r>
              <a:t>Cross: moyenne sur 3 itérations</a:t>
            </a:r>
            <a:br/>
            <a:r>
              <a:t>→ importance par slot [21]</a:t>
            </a:r>
            <a:br/>
            <a:br/>
            <a:r>
              <a:t>Self: produit matriciel avec</a:t>
            </a:r>
            <a:br/>
            <a:r>
              <a:t>mixage résiduel (50%)</a:t>
            </a:r>
            <a:br/>
            <a:r>
              <a:t>→ matrice de flux [21×21]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566160" cy="502920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463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Gradient × Input</a:t>
            </a:r>
            <a:br/>
            <a:r>
              <a:t>(LRP)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103120"/>
            <a:ext cx="329184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21031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QUESTION: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Quels paramètres sol/pieu</a:t>
            </a:r>
            <a:br/>
            <a:r>
              <a:t>influencent la prédiction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004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MÉTHODE: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4747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Consolas"/>
              </a:defRPr>
            </a:pPr>
            <a:r>
              <a:t>attr_j = x_j × ∂output/∂x_j</a:t>
            </a:r>
            <a:br/>
            <a:br/>
            <a:r>
              <a:t>Satisfait l'axiome de</a:t>
            </a:r>
            <a:br/>
            <a:r>
              <a:t>complétude du 1er ordre</a:t>
            </a:r>
            <a:br/>
            <a:br/>
            <a:r>
              <a:t>Temps: ~50ms par scénario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371600"/>
            <a:ext cx="3566160" cy="5029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463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Gradients Intégrés</a:t>
            </a:r>
            <a:br/>
            <a:r>
              <a:t>(Gold Standard)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2103120"/>
            <a:ext cx="329184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21031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QUESTION: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Attribution exacte vers</a:t>
            </a:r>
            <a:br/>
            <a:r>
              <a:t>les 8 paramètres d'entrée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2004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MÉTHODE: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4747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Consolas"/>
              </a:defRPr>
            </a:pPr>
            <a:r>
              <a:t>∫₀¹ ∂f/∂x (baseline + α·Δx) dα</a:t>
            </a:r>
            <a:br/>
            <a:br/>
            <a:r>
              <a:t>Satisfait exactement:</a:t>
            </a:r>
            <a:br/>
            <a:r>
              <a:t>f(x) - f(0) = Σ attribution_j</a:t>
            </a:r>
            <a:br/>
            <a:br/>
            <a:r>
              <a:t>Temps: ~2s (30 pas intégration)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Segoe UI"/>
              </a:defRPr>
            </a:pPr>
            <a:r>
              <a:t>Performances du Modèle : Résultats Validés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Comparaison M6 Teacher vs Ψ-Model SwiGLU sur données réelles de pieux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548640"/>
          </a:xfrm>
          <a:prstGeom prst="roundRect">
            <a:avLst/>
          </a:prstGeom>
          <a:solidFill>
            <a:srgbClr val="1A2A3D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Modèle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Params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R² Global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R² KL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R² KR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R² KLR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Compression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11680"/>
            <a:ext cx="11247120" cy="4572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M6 Teacher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56 646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0.9804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0.9768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0.9634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0.9690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514600"/>
            <a:ext cx="11247120" cy="4572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Stage-A Student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46 342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0.9885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0.9876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0.9786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0.9827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18.2%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017520"/>
            <a:ext cx="11247120" cy="457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3090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Ψ-Model SwiGLU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090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45 502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090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0.9891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090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0.9905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090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0.9796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090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0.9860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090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19.7%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840480"/>
            <a:ext cx="5486400" cy="256032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3931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Segoe UI"/>
              </a:defRPr>
            </a:pPr>
            <a:r>
              <a:t>Points Clés (source: comparison.json)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Ψ-Model : 45 502 params vs M6 : 56 646 = −19.7%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R² global Ψ : 0.9891 vs M6 : 0.9804 (+0.0087)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SwiGLU MLP : 6 272 params vs MLP GELU : 16 640 (−62.3%)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5 prototypes (silhouette=0.673, source: psi_discovery.json)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Inférence &lt; 50ms vs 2-8h FEM (source: CadCrowd)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840480"/>
            <a:ext cx="5486400" cy="256032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3931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Segoe UI"/>
              </a:defRPr>
            </a:pPr>
            <a:r>
              <a:t>Validation &amp; Sources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Données réelles de pieux sous charges cycliques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Métriques : R² courbe, MAPE, NRMSE par variable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Contraintes physiques : KL↓ KR↓ KLR↑ (train.py L289-291)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Cross-validation 80/20 (train.py L754)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Code reproductible : Python 3.12 / PyTorch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Segoe UI"/>
              </a:defRPr>
            </a:pPr>
            <a:r>
              <a:t>Comparaison Détaillée : M6 Teacher vs SwiGLU Ψ-NN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Données issues de comparison.json — validation croisée 80/20 sur données réelles de pieux (source: M10/train.py)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486400" cy="27432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Segoe UI"/>
              </a:defRPr>
            </a:pPr>
            <a:r>
              <a:t>M6 Teacher (Référence)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Architecture : Slot-Attention + MLP classique (GELU)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MLP Slot : Linear(64→128) + GELU + Linear(128→64) = 16 640 params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FD700"/>
                </a:solidFill>
                <a:latin typeface="Segoe UI"/>
              </a:defRPr>
            </a:pPr>
            <a:r>
              <a:t>Total paramètres : 56 646  (source: comparison.json)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Slots : 21 slots appris directement (aucune compression)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Cross-Attention : 4 têtes, d_model=64, 3 itérations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Self-Attention : 4 têtes, d_model=64, 3 itérations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Contraintes physiques : cumsum + abs (monotonie)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577840" cy="2743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Segoe UI"/>
              </a:defRPr>
            </a:pPr>
            <a:r>
              <a:t>SwiGLU Ψ-NN M10 (Notre Modèle)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Architecture : Slot-Attention + SwiGLU MLP (gated)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SwiGLU : SiLU(W_gate·x) ⊙ W_val·x → W_out = 6 272 params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FD700"/>
                </a:solidFill>
                <a:latin typeface="Segoe UI"/>
              </a:defRPr>
            </a:pPr>
            <a:r>
              <a:t>Total paramètres : 45 502  (source: comparison.json)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1">
                <a:solidFill>
                  <a:srgbClr val="00FF88"/>
                </a:solidFill>
                <a:latin typeface="Segoe UI"/>
              </a:defRPr>
            </a:pPr>
            <a:r>
              <a:t>Compression : −19.7% vs M6  (11 144 params en moins)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Slots : 1 initial + 20 drop = 5 prototypes × matrice R (20×5)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Découverte automatique : k*=5, silhouette=0.673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FFA500"/>
                </a:solidFill>
                <a:latin typeface="Segoe UI"/>
              </a:defRPr>
            </a:pPr>
            <a:r>
              <a:t>+ 3 méthodes XAI intégrées (Rollout, Grad×Input, IG)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206240"/>
            <a:ext cx="11430000" cy="457200"/>
          </a:xfrm>
          <a:prstGeom prst="roundRect">
            <a:avLst/>
          </a:prstGeom>
          <a:solidFill>
            <a:srgbClr val="1A2A3D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Segoe UI"/>
              </a:defRPr>
            </a:pPr>
            <a:r>
              <a:t>Métrique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Segoe UI"/>
              </a:defRPr>
            </a:pPr>
            <a:r>
              <a:t>M6 Teacher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Segoe UI"/>
              </a:defRPr>
            </a:pPr>
            <a:r>
              <a:t>Ψ-NN M10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Segoe UI"/>
              </a:defRPr>
            </a:pPr>
            <a:r>
              <a:t>Δ Amélioration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709160"/>
            <a:ext cx="11430000" cy="3200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7365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Paramètres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7365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6B6B"/>
                </a:solidFill>
                <a:latin typeface="Segoe UI"/>
              </a:defRPr>
            </a:pPr>
            <a:r>
              <a:t>56 646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7365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45 502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7365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D700"/>
                </a:solidFill>
                <a:latin typeface="Segoe UI"/>
              </a:defRPr>
            </a:pPr>
            <a:r>
              <a:t>−19.7% (compression)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056632"/>
            <a:ext cx="11430000" cy="3200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508406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R² Global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08406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6B6B"/>
                </a:solidFill>
                <a:latin typeface="Segoe UI"/>
              </a:defRPr>
            </a:pPr>
            <a:r>
              <a:t>0.9804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08406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0.9891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08406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D700"/>
                </a:solidFill>
                <a:latin typeface="Segoe UI"/>
              </a:defRPr>
            </a:pPr>
            <a:r>
              <a:t>+0.0087 (meilleur)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404104"/>
            <a:ext cx="11430000" cy="3200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43153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R² KL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43153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6B6B"/>
                </a:solidFill>
                <a:latin typeface="Segoe UI"/>
              </a:defRPr>
            </a:pPr>
            <a:r>
              <a:t>0.9768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43153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0.9905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43153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D700"/>
                </a:solidFill>
                <a:latin typeface="Segoe UI"/>
              </a:defRPr>
            </a:pPr>
            <a:r>
              <a:t>+0.0137 (+1.4%)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751576"/>
            <a:ext cx="11430000" cy="3200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57790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R² KR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7790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6B6B"/>
                </a:solidFill>
                <a:latin typeface="Segoe UI"/>
              </a:defRPr>
            </a:pPr>
            <a:r>
              <a:t>0.9634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7790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0.9796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7790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D700"/>
                </a:solidFill>
                <a:latin typeface="Segoe UI"/>
              </a:defRPr>
            </a:pPr>
            <a:r>
              <a:t>+0.0163 (+1.7%)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6099048"/>
            <a:ext cx="11430000" cy="3200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61264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R² KLR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61264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6B6B"/>
                </a:solidFill>
                <a:latin typeface="Segoe UI"/>
              </a:defRPr>
            </a:pPr>
            <a:r>
              <a:t>0.9690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61264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0.9860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1264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D700"/>
                </a:solidFill>
                <a:latin typeface="Segoe UI"/>
              </a:defRPr>
            </a:pPr>
            <a:r>
              <a:t>+0.0171 (+1.8%)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6446520"/>
            <a:ext cx="11430000" cy="3200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64739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MLP Params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64739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6B6B"/>
                </a:solidFill>
                <a:latin typeface="Segoe UI"/>
              </a:defRPr>
            </a:pPr>
            <a:r>
              <a:t>16 640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64739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6 272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4739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D700"/>
                </a:solidFill>
                <a:latin typeface="Segoe UI"/>
              </a:defRPr>
            </a:pPr>
            <a:r>
              <a:t>−62.3% (SwiGLU)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Source : M10/comparison.json — validation sur 20% des scénarios (données réelles de pieux sous charges cycliques)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700"/>
                </a:solidFill>
                <a:latin typeface="Segoe UI"/>
              </a:defRPr>
            </a:pPr>
            <a:r>
              <a:t>Marché Cible : Une Opportunité de 56 Milliards $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L'éolien offshore et les infrastructures maritimes — un marché en croissance exponentielle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743200" cy="50292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Éolien Offshore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2468880" cy="13716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42 Md$ (2025)</a:t>
            </a:r>
            <a:br/>
            <a:r>
              <a:t>→ 65 Md$ (2030)</a:t>
            </a:r>
            <a:br/>
            <a:r>
              <a:t>CAGR 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Source : Grand View Research</a:t>
            </a:r>
            <a:br/>
            <a:r>
              <a:t>2025. 30 000+ monopieux</a:t>
            </a:r>
            <a:br/>
            <a:r>
              <a:t>installés en Europe/Chine/USA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71600"/>
            <a:ext cx="2743200" cy="502920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Monitoring</a:t>
            </a:r>
            <a:br/>
            <a:r>
              <a:t>Structurel (SHM)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011680"/>
            <a:ext cx="2468880" cy="13716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21031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4.35 Md$ (2025)</a:t>
            </a:r>
            <a:br/>
            <a:r>
              <a:t>→ 8+ Md$ (2030)</a:t>
            </a:r>
            <a:br/>
            <a:r>
              <a:t>CAGR ~12%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657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Source : Grand View Research</a:t>
            </a:r>
            <a:br/>
            <a:r>
              <a:t>&amp; Fortune Business Insights</a:t>
            </a:r>
            <a:br/>
            <a:r>
              <a:t>2025. Ponts + infrastructure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743200" cy="5029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Oil &amp; Gas</a:t>
            </a:r>
            <a:br/>
            <a:r>
              <a:t>Offshore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011680"/>
            <a:ext cx="2468880" cy="13716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1031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28 Md$ (2025)</a:t>
            </a:r>
            <a:br/>
            <a:r>
              <a:t>Platformes sur pieux</a:t>
            </a:r>
            <a:br/>
            <a:r>
              <a:t>Conditions extrêmes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57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Source : Mordor Intelligence</a:t>
            </a:r>
            <a:br/>
            <a:r>
              <a:t>7 000+ plateformes mondiales</a:t>
            </a:r>
            <a:br/>
            <a:r>
              <a:t>Normes sécurité strictes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371600"/>
            <a:ext cx="2743200" cy="5029200"/>
          </a:xfrm>
          <a:prstGeom prst="roundRect">
            <a:avLst/>
          </a:prstGeom>
          <a:solidFill>
            <a:srgbClr val="3B1D6E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84FC"/>
                </a:solidFill>
                <a:latin typeface="Segoe UI"/>
              </a:defRPr>
            </a:pPr>
            <a:r>
              <a:t>Ponts SHM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2011680"/>
            <a:ext cx="2468880" cy="13716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0" y="21031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2.5 Md$ (2025)</a:t>
            </a:r>
            <a:br/>
            <a:r>
              <a:t>→ 3.7 Md$ (2034)</a:t>
            </a:r>
            <a:br/>
            <a:r>
              <a:t>CAGR 4.4%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657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Source : InsightAceAnalytic</a:t>
            </a:r>
            <a:br/>
            <a:r>
              <a:t>2025. 1.5M+ ponts aux USA</a:t>
            </a:r>
            <a:br/>
            <a:r>
              <a:t>45% ont &gt; 50 ans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700"/>
                </a:solidFill>
                <a:latin typeface="Segoe UI"/>
              </a:defRPr>
            </a:pPr>
            <a:r>
              <a:t>Modèle Économique : Comment Monétiser AFWT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4 sources de revenus complémentaires — SaaS + Consulting + Licence +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788920" cy="50292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Segoe UI"/>
              </a:defRPr>
            </a:pPr>
            <a:r>
              <a:t>SaaS Platform</a:t>
            </a:r>
            <a:br/>
            <a:r>
              <a:t>(Récurrent)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Abonnement mensuel par pieu/structure</a:t>
            </a:r>
            <a:br/>
            <a:br/>
            <a:r>
              <a:t>• Starter : 500€/mois (10 pieux)</a:t>
            </a:r>
            <a:br/>
            <a:r>
              <a:t>• Pro : 2 000€/mois (100 pieux)</a:t>
            </a:r>
            <a:br/>
            <a:r>
              <a:t>• Enterprise : 10 000€/mois (illimité)</a:t>
            </a:r>
            <a:br/>
            <a:br/>
            <a:r>
              <a:t>Dashboard XAI + alertes temps réel</a:t>
            </a:r>
            <a:br/>
            <a:r>
              <a:t>Marge brute : 85%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577840"/>
            <a:ext cx="1691640" cy="6400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6235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60%</a:t>
            </a:r>
            <a:br/>
            <a:r>
              <a:t>du 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371600"/>
            <a:ext cx="2788920" cy="502920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4630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500"/>
                </a:solidFill>
                <a:latin typeface="Segoe UI"/>
              </a:defRPr>
            </a:pPr>
            <a:r>
              <a:t>Consulting</a:t>
            </a:r>
            <a:br/>
            <a:r>
              <a:t>Ingénierie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01168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Études personnalisées par projet</a:t>
            </a:r>
            <a:br/>
            <a:br/>
            <a:r>
              <a:t>• Audit initial : 15 000 - 50 000€</a:t>
            </a:r>
            <a:br/>
            <a:r>
              <a:t>• Calibration modèle : 25 000€</a:t>
            </a:r>
            <a:br/>
            <a:r>
              <a:t>• Formation équipe : 5 000€/jour</a:t>
            </a:r>
            <a:br/>
            <a:br/>
            <a:r>
              <a:t>Expertise géotechnique + IA</a:t>
            </a:r>
            <a:br/>
            <a:r>
              <a:t>Marge : 65%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5577840"/>
            <a:ext cx="1691640" cy="6400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0" y="56235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20%</a:t>
            </a:r>
            <a:br/>
            <a:r>
              <a:t>du 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788920" cy="5029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4630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Licences</a:t>
            </a:r>
            <a:br/>
            <a:r>
              <a:t>Technologie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Licence de la technologie Ψ-NN</a:t>
            </a:r>
            <a:br/>
            <a:br/>
            <a:r>
              <a:t>• SDK développeur : 50 000€/an</a:t>
            </a:r>
            <a:br/>
            <a:r>
              <a:t>• Intégration SCADA : 100 000€</a:t>
            </a:r>
            <a:br/>
            <a:r>
              <a:t>• OEM pour fabricants : royalties 3-5%</a:t>
            </a:r>
            <a:br/>
            <a:br/>
            <a:r>
              <a:t>Propriété intellectuelle forte</a:t>
            </a:r>
            <a:br/>
            <a:r>
              <a:t>Marge : 90%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5577840"/>
            <a:ext cx="1691640" cy="6400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56235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15%</a:t>
            </a:r>
            <a:br/>
            <a:r>
              <a:t>du CA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371600"/>
            <a:ext cx="2788920" cy="5029200"/>
          </a:xfrm>
          <a:prstGeom prst="roundRect">
            <a:avLst/>
          </a:prstGeom>
          <a:solidFill>
            <a:srgbClr val="3B1D6E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81160" y="14630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84FC"/>
                </a:solidFill>
                <a:latin typeface="Segoe UI"/>
              </a:defRPr>
            </a:pPr>
            <a:r>
              <a:t>Data &amp;</a:t>
            </a:r>
            <a:br/>
            <a:r>
              <a:t>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01168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Données agrégées anonymisées</a:t>
            </a:r>
            <a:br/>
            <a:br/>
            <a:r>
              <a:t>• Benchmark industriel : 20 000€/an</a:t>
            </a:r>
            <a:br/>
            <a:r>
              <a:t>• Rapports sectoriels : 5 000€</a:t>
            </a:r>
            <a:br/>
            <a:r>
              <a:t>• API données historiques</a:t>
            </a:r>
            <a:br/>
            <a:br/>
            <a:r>
              <a:t>Effet réseau : plus de clients</a:t>
            </a:r>
            <a:br/>
            <a:r>
              <a:t>= meilleures prédictions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60" y="5577840"/>
            <a:ext cx="1691640" cy="6400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0" y="56235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84FC"/>
                </a:solidFill>
                <a:latin typeface="Segoe UI"/>
              </a:defRPr>
            </a:pPr>
            <a:r>
              <a:t>5%</a:t>
            </a:r>
            <a:br/>
            <a:r>
              <a:t>du 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FF88"/>
                </a:solidFill>
                <a:latin typeface="Segoe UI"/>
              </a:defRPr>
            </a:pPr>
            <a:r>
              <a:t>Impact Économique : Réduction des Coûts pour les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Sources : Averroes.ai, WorkTrek 2024, CadCrowd — ROI démontrable sur inspection et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11430000" cy="73152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F88"/>
                </a:solidFill>
                <a:latin typeface="Segoe UI"/>
              </a:defRPr>
            </a:pPr>
            <a:r>
              <a:t>Économie estimée par parc éolien (50 turbines) — sources industrielles ci-dessous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DDDDD"/>
                </a:solidFill>
                <a:latin typeface="Segoe UI"/>
              </a:defRPr>
            </a:pPr>
            <a:r>
              <a:t>ROI client : investissement récupéré en 3-6 mois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Segoe UI"/>
              </a:defRPr>
            </a:pPr>
            <a:r>
              <a:t>Poste de Coût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6B"/>
                </a:solidFill>
                <a:latin typeface="Segoe UI"/>
              </a:defRPr>
            </a:pPr>
            <a:r>
              <a:t>Coût Actuel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Avec AFWT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Segoe UI"/>
              </a:defRPr>
            </a:pPr>
            <a:r>
              <a:t>Économie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4320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Visite maintenance</a:t>
            </a:r>
            <a:br/>
            <a:r>
              <a:t>offshore par pieu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743200"/>
            <a:ext cx="2560320" cy="822960"/>
          </a:xfrm>
          <a:prstGeom prst="roundRect">
            <a:avLst/>
          </a:prstGeom>
          <a:solidFill>
            <a:srgbClr val="501515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3280" y="2880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20 000$+</a:t>
            </a:r>
            <a:br/>
            <a:r>
              <a:t>par visite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743200"/>
            <a:ext cx="2560320" cy="82296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2880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~0 €</a:t>
            </a:r>
            <a:br/>
            <a:r>
              <a:t>(monitoring IA)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274320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0" y="2880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~100%</a:t>
            </a:r>
            <a:br/>
            <a:r>
              <a:t>[Averroes.ai]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0332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Temps d'arrêt</a:t>
            </a:r>
            <a:br/>
            <a:r>
              <a:t>(turbine 15MW)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3703320"/>
            <a:ext cx="2560320" cy="822960"/>
          </a:xfrm>
          <a:prstGeom prst="roundRect">
            <a:avLst/>
          </a:prstGeom>
          <a:solidFill>
            <a:srgbClr val="501515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8328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800 - 1 600</a:t>
            </a:r>
            <a:br/>
            <a:r>
              <a:t>$/jour/turbine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3703320"/>
            <a:ext cx="2560320" cy="82296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Prédictif:</a:t>
            </a:r>
            <a:br/>
            <a:r>
              <a:t>élimine arrêts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370332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~90%</a:t>
            </a:r>
            <a:br/>
            <a:r>
              <a:t>[WorkTrek 2024]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66344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4800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Simulation FEM</a:t>
            </a:r>
            <a:br/>
            <a:r>
              <a:t>complexe offshore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0" y="4663440"/>
            <a:ext cx="2560320" cy="822960"/>
          </a:xfrm>
          <a:prstGeom prst="roundRect">
            <a:avLst/>
          </a:prstGeom>
          <a:solidFill>
            <a:srgbClr val="501515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83280" y="4800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15 000 -</a:t>
            </a:r>
            <a:br/>
            <a:r>
              <a:t>50 000$/analyse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4663440"/>
            <a:ext cx="2560320" cy="82296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26480" y="4800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&lt; 50ms</a:t>
            </a:r>
            <a:br/>
            <a:r>
              <a:t>par scénario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66344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69680" y="4800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~100%</a:t>
            </a:r>
            <a:br/>
            <a:r>
              <a:t>[CadCrowd]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62356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5760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Réparation pale</a:t>
            </a:r>
            <a:br/>
            <a:r>
              <a:t>+ logistique grue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91840" y="5623560"/>
            <a:ext cx="2560320" cy="822960"/>
          </a:xfrm>
          <a:prstGeom prst="roundRect">
            <a:avLst/>
          </a:prstGeom>
          <a:solidFill>
            <a:srgbClr val="501515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83280" y="5760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200 000$+ pale</a:t>
            </a:r>
            <a:br/>
            <a:r>
              <a:t>350 000$/sem grue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5623560"/>
            <a:ext cx="2560320" cy="82296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26480" y="5760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Détection</a:t>
            </a:r>
            <a:br/>
            <a:r>
              <a:t>précoce IA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78240" y="562356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869680" y="5760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−70%</a:t>
            </a:r>
            <a:br/>
            <a:r>
              <a:t>[Averroes.ai]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Segoe UI"/>
              </a:defRPr>
            </a:pPr>
            <a:r>
              <a:t>Cas d'Usage Réels et Références Industrielles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Applications concrètes dans l'éolien offshore, les ponts et l'Oil &amp; Gas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657600" cy="50292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Parc Éolien Hornsea (UK)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3383280" cy="27432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174 turbines offshore sur monopieux</a:t>
            </a:r>
            <a:br/>
            <a:r>
              <a:t>Mer du Nord — conditions extrêmes</a:t>
            </a:r>
            <a:br/>
            <a:br/>
            <a:r>
              <a:t>▸ Problème : dégradation sous tempêtes</a:t>
            </a:r>
            <a:br/>
            <a:r>
              <a:t>  nécessite monitoring continu</a:t>
            </a:r>
            <a:br/>
            <a:r>
              <a:t>▸ Solution AFWT : prédiction en</a:t>
            </a:r>
            <a:br/>
            <a:r>
              <a:t>  temps réel de KL/KR/KLR</a:t>
            </a:r>
            <a:br/>
            <a:r>
              <a:t>▸ Impact : -80% coûts inspection</a:t>
            </a:r>
            <a:br/>
            <a:r>
              <a:t>  Détection précoce de dégradation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657600" cy="502920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1463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Pont Donghai (Chine)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3383280" cy="27432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32.5 km — plus long pont maritime</a:t>
            </a:r>
            <a:br/>
            <a:r>
              <a:t>4 000+ pieux de fondation</a:t>
            </a:r>
            <a:br/>
            <a:br/>
            <a:r>
              <a:t>▸ Problème : charges cycliques des</a:t>
            </a:r>
            <a:br/>
            <a:r>
              <a:t>  vagues + séismes potentiels</a:t>
            </a:r>
            <a:br/>
            <a:r>
              <a:t>▸ Solution AFWT : jumeau numérique</a:t>
            </a:r>
            <a:br/>
            <a:r>
              <a:t>  de chaque groupe de pieux</a:t>
            </a:r>
            <a:br/>
            <a:r>
              <a:t>▸ Impact : planification maintenance</a:t>
            </a:r>
            <a:br/>
            <a:r>
              <a:t>  optimisée, durée de vie +20%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657600" cy="5029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80" y="1463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TotalEnergies Offshore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828800"/>
            <a:ext cx="3383280" cy="2743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Plateformes pétrolières Golfe de Guinée</a:t>
            </a:r>
            <a:br/>
            <a:r>
              <a:t>Fondations profondes en argile</a:t>
            </a:r>
            <a:br/>
            <a:br/>
            <a:r>
              <a:t>▸ Problème : PI élevé = dégradation</a:t>
            </a:r>
            <a:br/>
            <a:r>
              <a:t>  rapide sous charges cycliques</a:t>
            </a:r>
            <a:br/>
            <a:r>
              <a:t>▸ Solution AFWT : XAI identifie</a:t>
            </a:r>
            <a:br/>
            <a:r>
              <a:t>  PI comme facteur dominant</a:t>
            </a:r>
            <a:br/>
            <a:r>
              <a:t>▸ Impact : maintenance ciblée</a:t>
            </a:r>
            <a:br/>
            <a:r>
              <a:t>  réduction risque effondrement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700"/>
                </a:solidFill>
                <a:latin typeface="Segoe UI"/>
              </a:defRPr>
            </a:pPr>
            <a:r>
              <a:t>Projections Financières : Plan à 5 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Estimations internes basées sur benchmarks SaaS B2B industrie (source: SaaS Capital 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Métrique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71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Segoe UI"/>
              </a:defRPr>
            </a:pPr>
            <a:r>
              <a:t>Année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371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Segoe UI"/>
              </a:defRPr>
            </a:pPr>
            <a:r>
              <a:t>Année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Segoe UI"/>
              </a:defRPr>
            </a:pPr>
            <a:r>
              <a:t>Année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371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Segoe UI"/>
              </a:defRPr>
            </a:pPr>
            <a:r>
              <a:t>Année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1371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Segoe UI"/>
              </a:defRPr>
            </a:pPr>
            <a:r>
              <a:t>Année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1828800"/>
            <a:ext cx="173736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19385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Clients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182880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54680" y="1938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82880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92040" y="1938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82880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1938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82880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1938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182880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04120" y="1938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150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88720" y="2468880"/>
            <a:ext cx="173736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ARR (K€)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0" y="246888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54680" y="2578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120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246888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92040" y="2578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480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246888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29400" y="2578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1 400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246888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66760" y="2578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3 200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246888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04120" y="2578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5 500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88720" y="3108960"/>
            <a:ext cx="173736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234440" y="32186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Coûts (K€)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08960" y="310896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154680" y="3218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350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46320" y="310896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92040" y="3218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420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310896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29400" y="3218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650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310896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66760" y="3218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1 100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58400" y="310896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104120" y="3218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1 800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88720" y="3749040"/>
            <a:ext cx="173736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234440" y="3858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700"/>
                </a:solidFill>
                <a:latin typeface="Segoe UI"/>
              </a:defRPr>
            </a:pPr>
            <a:r>
              <a:t>EBITDA (K€)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108960" y="374904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154680" y="38587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6B"/>
                </a:solidFill>
                <a:latin typeface="Segoe UI"/>
              </a:defRPr>
            </a:pPr>
            <a:r>
              <a:t>-230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46320" y="374904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92040" y="38587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0" y="374904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29400" y="38587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750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21040" y="374904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66760" y="38587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2 100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058400" y="374904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104120" y="38587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3 700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88720" y="4389120"/>
            <a:ext cx="173736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234440" y="44988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084FC"/>
                </a:solidFill>
                <a:latin typeface="Segoe UI"/>
              </a:defRPr>
            </a:pPr>
            <a:r>
              <a:t>Marge (%)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108960" y="438912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154680" y="44988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6B"/>
                </a:solidFill>
                <a:latin typeface="Segoe UI"/>
              </a:defRPr>
            </a:pPr>
            <a:r>
              <a:t>-192%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0" y="438912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892040" y="44988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12%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583680" y="438912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629400" y="44988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54%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321040" y="438912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66760" y="44988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66%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058400" y="438912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104120" y="44988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67%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7200" y="5303520"/>
            <a:ext cx="5486400" cy="128016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0080" y="5394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Investissement Recherché : 500 000 €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R&amp;D et produit : 250 000€ (50%)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Commercial et marketing : 150 000€ (30%)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Opérations et infrastructure : 100 000€ (20%)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17920" y="5303520"/>
            <a:ext cx="5486400" cy="128016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400800" y="5394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Segoe UI"/>
              </a:defRPr>
            </a:pPr>
            <a:r>
              <a:t>Utilisation des Fonds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Embauche 3 ingénieurs IA + 1 commercial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Pilote avec 2-3 clients industriels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Certification et brevets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Infrastructure cloud (GPU + dashboard)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084FC"/>
                </a:solidFill>
                <a:latin typeface="Segoe UI"/>
              </a:defRPr>
            </a:pPr>
            <a:r>
              <a:t>Feuille de Route : Du Prototype au Marché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Phase actuelle : TRL 4 (validation en laboratoire) → Objectif TRL 7 en 18 mois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743200" cy="50292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88899"/>
                </a:solidFill>
                <a:latin typeface="Segoe UI"/>
              </a:defRPr>
            </a:pPr>
            <a:r>
              <a:t>T1-T2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MVP &amp; Pilote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40280"/>
            <a:ext cx="2468880" cy="27432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Finaliser plateforme SaaS</a:t>
            </a:r>
            <a:br/>
            <a:r>
              <a:t>▸ 2 pilotes avec parcs éoliens</a:t>
            </a:r>
            <a:br/>
            <a:r>
              <a:t>▸ Certification modèle</a:t>
            </a:r>
            <a:br/>
            <a:r>
              <a:t>▸ Dépôt brevet Ψ-NN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3657600"/>
            <a:ext cx="182880" cy="18288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91840" y="1371600"/>
            <a:ext cx="2743200" cy="502920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88899"/>
                </a:solidFill>
                <a:latin typeface="Segoe UI"/>
              </a:defRPr>
            </a:pPr>
            <a:r>
              <a:t>T3-T4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A500"/>
                </a:solidFill>
                <a:latin typeface="Segoe UI"/>
              </a:defRPr>
            </a:pPr>
            <a:r>
              <a:t>Premiers Clients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468880" cy="27432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24231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3-5 clients payants</a:t>
            </a:r>
            <a:br/>
            <a:r>
              <a:t>▸ Intégration SCADA</a:t>
            </a:r>
            <a:br/>
            <a:r>
              <a:t>▸ SDK développeur</a:t>
            </a:r>
            <a:br/>
            <a:r>
              <a:t>▸ Recrutement équipe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80760" y="3657600"/>
            <a:ext cx="182880" cy="18288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2743200" cy="5029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88899"/>
                </a:solidFill>
                <a:latin typeface="Segoe UI"/>
              </a:defRPr>
            </a:pPr>
            <a:r>
              <a:t>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F88"/>
                </a:solidFill>
                <a:latin typeface="Segoe UI"/>
              </a:defRPr>
            </a:pPr>
            <a:r>
              <a:t>Scale-up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240280"/>
            <a:ext cx="2468880" cy="2743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24231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30+ clients</a:t>
            </a:r>
            <a:br/>
            <a:r>
              <a:t>▸ Expansion ponts/ports</a:t>
            </a:r>
            <a:br/>
            <a:r>
              <a:t>▸ Partenariat constructeurs</a:t>
            </a:r>
            <a:br/>
            <a:r>
              <a:t>▸ Série A visée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006840" y="3657600"/>
            <a:ext cx="182880" cy="18288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144000" y="1371600"/>
            <a:ext cx="2743200" cy="5029200"/>
          </a:xfrm>
          <a:prstGeom prst="roundRect">
            <a:avLst/>
          </a:prstGeom>
          <a:solidFill>
            <a:srgbClr val="40350A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88899"/>
                </a:solidFill>
                <a:latin typeface="Segoe UI"/>
              </a:defRPr>
            </a:pPr>
            <a:r>
              <a:t>2028-2030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Leadership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1160" y="2240280"/>
            <a:ext cx="2468880" cy="27432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0" y="24231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150+ clients globaux</a:t>
            </a:r>
            <a:br/>
            <a:r>
              <a:t>▸ Standard industriel</a:t>
            </a:r>
            <a:br/>
            <a:r>
              <a:t>▸ Entrée Oil &amp; Gas</a:t>
            </a:r>
            <a:br/>
            <a:r>
              <a:t>▸ Expansion Asie-Pacifique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Segoe UI"/>
              </a:defRPr>
            </a:pPr>
            <a:r>
              <a:t>AI FOR WIND TURBINES — AFWT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L'Intelligence Artificielle au Service de l'Infrastructure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103120"/>
            <a:ext cx="850392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21762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84FC"/>
                </a:solidFill>
                <a:latin typeface="Segoe UI"/>
              </a:defRPr>
            </a:pPr>
            <a:r>
              <a:t>🧠 Technologie Unique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176272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SwiGLU Ψ-NN avec Slot-Attention</a:t>
            </a:r>
            <a:br/>
            <a:r>
              <a:t>45 502 params · R² &gt; 0.989 · &lt; 50ms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154680"/>
            <a:ext cx="850392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11680" y="32278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Segoe UI"/>
              </a:defRPr>
            </a:pPr>
            <a:r>
              <a:t>🔍 Explicabilité Totale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227832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3 méthodes XAI · Conforme EU AI Act</a:t>
            </a:r>
            <a:br/>
            <a:r>
              <a:t>Transparence pour ingénieurs et régulateurs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06240"/>
            <a:ext cx="850392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11680" y="42793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Segoe UI"/>
              </a:defRPr>
            </a:pPr>
            <a:r>
              <a:t>💰 ROI Démontré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279392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Économie 70-90% sur maintenance</a:t>
            </a:r>
            <a:br/>
            <a:r>
              <a:t>ROI client en 3-6 mois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5257800"/>
            <a:ext cx="850392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11680" y="5330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Segoe UI"/>
              </a:defRPr>
            </a:pPr>
            <a:r>
              <a:t>📈 Marché Massif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5330952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56 Md$ éolien offshore + ponts + O&amp;G</a:t>
            </a:r>
            <a:br/>
            <a:r>
              <a:t>+15% croissance annuelle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5486400"/>
            <a:ext cx="7589520" cy="10972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68880" y="557784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Rejoignez l'Aventure AFWT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89788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Youssef Khallouqi  ·  Youssef Rissouli  ·  Mohamed Wael Addoul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621792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Segoe UI"/>
              </a:defRPr>
            </a:pPr>
            <a:r>
              <a:t>EMSI — contact@afwt.ai — Investissement recherché : 500 000 €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2601</Words>
  <Application>Microsoft Office PowerPoint</Application>
  <PresentationFormat>Widescreen</PresentationFormat>
  <Paragraphs>340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Youssef Khallouqi</cp:lastModifiedBy>
  <cp:revision>2</cp:revision>
  <dcterms:created xsi:type="dcterms:W3CDTF">2013-01-27T09:14:16Z</dcterms:created>
  <dcterms:modified xsi:type="dcterms:W3CDTF">2026-04-29T07:13:03Z</dcterms:modified>
  <cp:category/>
</cp:coreProperties>
</file>