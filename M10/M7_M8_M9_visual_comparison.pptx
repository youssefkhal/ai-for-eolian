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M6
(Teacher)</c:v>
                </c:pt>
                <c:pt idx="1">
                  <c:v>M7</c:v>
                </c:pt>
                <c:pt idx="2">
                  <c:v>M8</c:v>
                </c:pt>
                <c:pt idx="3">
                  <c:v>M9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0.9803566570718248</c:v>
                </c:pt>
                <c:pt idx="1">
                  <c:v>0.9896615217064817</c:v>
                </c:pt>
                <c:pt idx="2">
                  <c:v>0.9882202552109665</c:v>
                </c:pt>
                <c:pt idx="3">
                  <c:v>0.9915057804861553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RMSE (billions)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M6
(Teacher)</c:v>
                </c:pt>
                <c:pt idx="1">
                  <c:v>M7</c:v>
                </c:pt>
                <c:pt idx="2">
                  <c:v>M8</c:v>
                </c:pt>
                <c:pt idx="3">
                  <c:v>M9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29.77420730734081</c:v>
                </c:pt>
                <c:pt idx="1">
                  <c:v>21.600351516072195</c:v>
                </c:pt>
                <c:pt idx="2">
                  <c:v>23.056875226145145</c:v>
                </c:pt>
                <c:pt idx="3">
                  <c:v>19.57916871324713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KL R2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M6</c:v>
                </c:pt>
                <c:pt idx="1">
                  <c:v>M7</c:v>
                </c:pt>
                <c:pt idx="2">
                  <c:v>M8</c:v>
                </c:pt>
                <c:pt idx="3">
                  <c:v>M9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0.976810233323627</c:v>
                </c:pt>
                <c:pt idx="1">
                  <c:v>0.9909802523520398</c:v>
                </c:pt>
                <c:pt idx="2">
                  <c:v>0.9887786443454574</c:v>
                </c:pt>
                <c:pt idx="3">
                  <c:v>0.989513494225919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KR R2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M6</c:v>
                </c:pt>
                <c:pt idx="1">
                  <c:v>M7</c:v>
                </c:pt>
                <c:pt idx="2">
                  <c:v>M8</c:v>
                </c:pt>
                <c:pt idx="3">
                  <c:v>M9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0.9633605083964614</c:v>
                </c:pt>
                <c:pt idx="1">
                  <c:v>0.9807124611575639</c:v>
                </c:pt>
                <c:pt idx="2">
                  <c:v>0.9780229110722582</c:v>
                </c:pt>
                <c:pt idx="3">
                  <c:v>0.9841564471953403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KLR R2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M6</c:v>
                </c:pt>
                <c:pt idx="1">
                  <c:v>M7</c:v>
                </c:pt>
                <c:pt idx="2">
                  <c:v>M8</c:v>
                </c:pt>
                <c:pt idx="3">
                  <c:v>M9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0.9689671217061675</c:v>
                </c:pt>
                <c:pt idx="1">
                  <c:v>0.9859841756742239</c:v>
                </c:pt>
                <c:pt idx="2">
                  <c:v>0.9844674405366255</c:v>
                </c:pt>
                <c:pt idx="3">
                  <c:v>0.9864725046803293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Slot MLP (the brain)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M6 (Teacher)</c:v>
                </c:pt>
                <c:pt idx="1">
                  <c:v>M7</c:v>
                </c:pt>
                <c:pt idx="2">
                  <c:v>M8</c:v>
                </c:pt>
                <c:pt idx="3">
                  <c:v>M9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16512</c:v>
                </c:pt>
                <c:pt idx="1">
                  <c:v>16512</c:v>
                </c:pt>
                <c:pt idx="2">
                  <c:v>6256</c:v>
                </c:pt>
                <c:pt idx="3">
                  <c:v>6272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Slot Attention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M6 (Teacher)</c:v>
                </c:pt>
                <c:pt idx="1">
                  <c:v>M7</c:v>
                </c:pt>
                <c:pt idx="2">
                  <c:v>M8</c:v>
                </c:pt>
                <c:pt idx="3">
                  <c:v>M9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20864</c:v>
                </c:pt>
                <c:pt idx="1">
                  <c:v>20864</c:v>
                </c:pt>
                <c:pt idx="2">
                  <c:v>20864</c:v>
                </c:pt>
                <c:pt idx="3">
                  <c:v>20864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 (embed, init, output)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M6 (Teacher)</c:v>
                </c:pt>
                <c:pt idx="1">
                  <c:v>M7</c:v>
                </c:pt>
                <c:pt idx="2">
                  <c:v>M8</c:v>
                </c:pt>
                <c:pt idx="3">
                  <c:v>M9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2135</c:v>
                </c:pt>
                <c:pt idx="1">
                  <c:v>1239</c:v>
                </c:pt>
                <c:pt idx="2">
                  <c:v>1275</c:v>
                </c:pt>
                <c:pt idx="3">
                  <c:v>1275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Error %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Scenario 56</c:v>
                </c:pt>
                <c:pt idx="1">
                  <c:v>Scenario 141</c:v>
                </c:pt>
                <c:pt idx="2">
                  <c:v>Scenario 73</c:v>
                </c:pt>
                <c:pt idx="3">
                  <c:v>Scenario 84</c:v>
                </c:pt>
                <c:pt idx="4">
                  <c:v>Scenario 60</c:v>
                </c:pt>
                <c:pt idx="5">
                  <c:v>Scenario 137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34.35</c:v>
                </c:pt>
                <c:pt idx="1">
                  <c:v>25.313</c:v>
                </c:pt>
                <c:pt idx="2">
                  <c:v>22.412</c:v>
                </c:pt>
                <c:pt idx="3">
                  <c:v>13.263</c:v>
                </c:pt>
                <c:pt idx="4">
                  <c:v>13.104</c:v>
                </c:pt>
                <c:pt idx="5">
                  <c:v>12.34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M7  vs  M8  vs  M9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B4BEC8"/>
                </a:solidFill>
              </a:rPr>
              <a:t>A Visual &amp; Simple Guide to the Three Model Versions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3478DC"/>
          </a:solidFill>
          <a:ln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M7 - Baseline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Parameters: 55,770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Accuracy (R2): 0.9897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28600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37744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M8 - Efficient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Parameters: 45,486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Accuracy (R2): 0.9882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28600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37744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M9 - SwiGLU (Best)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Parameters: 45,502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Accuracy (R2): 0.9915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8D2DC"/>
                </a:solidFill>
              </a:rPr>
              <a:t>What are these models?</a:t>
            </a:r>
          </a:p>
          <a:p>
            <a:pPr algn="l"/>
            <a:r>
              <a:rPr sz="1500" b="0">
                <a:solidFill>
                  <a:srgbClr val="C8D2DC"/>
                </a:solidFill>
              </a:rPr>
              <a:t>They all predict how a pile (foundation) degrades over time.</a:t>
            </a:r>
          </a:p>
          <a:p>
            <a:pPr algn="l"/>
            <a:r>
              <a:rPr sz="1500" b="0">
                <a:solidFill>
                  <a:srgbClr val="C8D2DC"/>
                </a:solidFill>
              </a:rPr>
              <a:t>Each version uses a smarter "brain" (MLP) to get more accurate with fewer parameters.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976"/>
                </a:solidFill>
              </a:rPr>
              <a:t>PFE - M7 / M8 / M9 Visual Comparison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What Does the Model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6"/>
                </a:solidFill>
              </a:rPr>
              <a:t>A simple explanation of the input, the brain, and the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200400" cy="4114800"/>
          </a:xfrm>
          <a:prstGeom prst="roundRect">
            <a:avLst>
              <a:gd name="adj" fmla="val 6000"/>
            </a:avLst>
          </a:prstGeom>
          <a:solidFill>
            <a:srgbClr val="E6F0FF"/>
          </a:solidFill>
          <a:ln w="25400"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78DC"/>
                </a:solidFill>
              </a:rPr>
              <a:t>INPUT</a:t>
            </a:r>
          </a:p>
          <a:p>
            <a:pPr algn="l"/>
            <a:r>
              <a:rPr sz="1300" b="0">
                <a:solidFill>
                  <a:srgbClr val="3478DC"/>
                </a:solidFill>
              </a:rPr>
              <a:t>8 numbers describing the pile:</a:t>
            </a:r>
          </a:p>
          <a:p>
            <a:pPr algn="l"/>
            <a:r>
              <a:rPr sz="1300" b="0">
                <a:solidFill>
                  <a:srgbClr val="3478DC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3478DC"/>
                </a:solidFill>
              </a:rPr>
              <a:t>  Soil type (PI)</a:t>
            </a:r>
          </a:p>
          <a:p>
            <a:pPr algn="l"/>
            <a:r>
              <a:rPr sz="1300" b="0">
                <a:solidFill>
                  <a:srgbClr val="3478DC"/>
                </a:solidFill>
              </a:rPr>
              <a:t>  Soil stiffness (Gmax)</a:t>
            </a:r>
          </a:p>
          <a:p>
            <a:pPr algn="l"/>
            <a:r>
              <a:rPr sz="1300" b="0">
                <a:solidFill>
                  <a:srgbClr val="3478DC"/>
                </a:solidFill>
              </a:rPr>
              <a:t>  Soil ratio (v)</a:t>
            </a:r>
          </a:p>
          <a:p>
            <a:pPr algn="l"/>
            <a:r>
              <a:rPr sz="1300" b="0">
                <a:solidFill>
                  <a:srgbClr val="3478DC"/>
                </a:solidFill>
              </a:rPr>
              <a:t>  Pile diameter (Dp)</a:t>
            </a:r>
          </a:p>
          <a:p>
            <a:pPr algn="l"/>
            <a:r>
              <a:rPr sz="1300" b="0">
                <a:solidFill>
                  <a:srgbClr val="3478DC"/>
                </a:solidFill>
              </a:rPr>
              <a:t>  Pile thickness (Tp)</a:t>
            </a:r>
          </a:p>
          <a:p>
            <a:pPr algn="l"/>
            <a:r>
              <a:rPr sz="1300" b="0">
                <a:solidFill>
                  <a:srgbClr val="3478DC"/>
                </a:solidFill>
              </a:rPr>
              <a:t>  Pile length (Lp)</a:t>
            </a:r>
          </a:p>
          <a:p>
            <a:pPr algn="l"/>
            <a:r>
              <a:rPr sz="1300" b="0">
                <a:solidFill>
                  <a:srgbClr val="3478DC"/>
                </a:solidFill>
              </a:rPr>
              <a:t>  Pile flexibility (Ip)</a:t>
            </a:r>
          </a:p>
          <a:p>
            <a:pPr algn="l"/>
            <a:r>
              <a:rPr sz="1300" b="0">
                <a:solidFill>
                  <a:srgbClr val="3478DC"/>
                </a:solidFill>
              </a:rPr>
              <a:t>  Shape ratio (Dp/Lp)</a:t>
            </a:r>
          </a:p>
          <a:p>
            <a:pPr algn="l"/>
            <a:r>
              <a:rPr sz="1300" b="0">
                <a:solidFill>
                  <a:srgbClr val="3478DC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3478DC"/>
                </a:solidFill>
              </a:rPr>
              <a:t>Think of it as: describing the</a:t>
            </a:r>
          </a:p>
          <a:p>
            <a:pPr algn="l"/>
            <a:r>
              <a:rPr sz="1300" b="0">
                <a:solidFill>
                  <a:srgbClr val="3478DC"/>
                </a:solidFill>
              </a:rPr>
              <a:t>pile and the ground around it.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49039" y="3200400"/>
            <a:ext cx="731520" cy="320040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0" y="1463040"/>
            <a:ext cx="3200400" cy="4114800"/>
          </a:xfrm>
          <a:prstGeom prst="roundRect">
            <a:avLst>
              <a:gd name="adj" fmla="val 6000"/>
            </a:avLst>
          </a:prstGeom>
          <a:solidFill>
            <a:srgbClr val="FFF8EB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55448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232E"/>
                </a:solidFill>
              </a:rPr>
              <a:t>THE BRAIN (Psi-NN)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1. Reads the 8 numbers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2. Splits them into "slots"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   (like memory boxes)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3. Each slot learns a pattern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4. Combines slots to predict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   how the pile changes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   over 21 loading cycles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This is where M7/M8/M9 differ!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863840" y="3200400"/>
            <a:ext cx="731520" cy="320040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1463040"/>
            <a:ext cx="3200400" cy="4114800"/>
          </a:xfrm>
          <a:prstGeom prst="roundRect">
            <a:avLst>
              <a:gd name="adj" fmla="val 6000"/>
            </a:avLst>
          </a:prstGeom>
          <a:solidFill>
            <a:srgbClr val="E6FAF0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155448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</a:rPr>
              <a:t>OUTPUT</a:t>
            </a:r>
          </a:p>
          <a:p>
            <a:pPr algn="l"/>
            <a:r>
              <a:rPr sz="1300" b="0">
                <a:solidFill>
                  <a:srgbClr val="2A9D8F"/>
                </a:solidFill>
              </a:rPr>
              <a:t>3 curves over 21 time steps:</a:t>
            </a:r>
          </a:p>
          <a:p>
            <a:pPr algn="l"/>
            <a:r>
              <a:rPr sz="1300" b="0">
                <a:solidFill>
                  <a:srgbClr val="2A9D8F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A9D8F"/>
                </a:solidFill>
              </a:rPr>
              <a:t>  KL  = Lateral stiffness</a:t>
            </a:r>
          </a:p>
          <a:p>
            <a:pPr algn="l"/>
            <a:r>
              <a:rPr sz="1300" b="0">
                <a:solidFill>
                  <a:srgbClr val="2A9D8F"/>
                </a:solidFill>
              </a:rPr>
              <a:t>        (side-to-side strength)</a:t>
            </a:r>
          </a:p>
          <a:p>
            <a:pPr algn="l"/>
            <a:r>
              <a:rPr sz="1300" b="0">
                <a:solidFill>
                  <a:srgbClr val="2A9D8F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A9D8F"/>
                </a:solidFill>
              </a:rPr>
              <a:t>  KR  = Rocking stiffness</a:t>
            </a:r>
          </a:p>
          <a:p>
            <a:pPr algn="l"/>
            <a:r>
              <a:rPr sz="1300" b="0">
                <a:solidFill>
                  <a:srgbClr val="2A9D8F"/>
                </a:solidFill>
              </a:rPr>
              <a:t>        (tilting resistance)</a:t>
            </a:r>
          </a:p>
          <a:p>
            <a:pPr algn="l"/>
            <a:r>
              <a:rPr sz="1300" b="0">
                <a:solidFill>
                  <a:srgbClr val="2A9D8F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A9D8F"/>
                </a:solidFill>
              </a:rPr>
              <a:t>  KLR = Cross-coupling</a:t>
            </a:r>
          </a:p>
          <a:p>
            <a:pPr algn="l"/>
            <a:r>
              <a:rPr sz="1300" b="0">
                <a:solidFill>
                  <a:srgbClr val="2A9D8F"/>
                </a:solidFill>
              </a:rPr>
              <a:t>        (how KL and KR interact)</a:t>
            </a:r>
          </a:p>
          <a:p>
            <a:pPr algn="l"/>
            <a:r>
              <a:rPr sz="1300" b="0">
                <a:solidFill>
                  <a:srgbClr val="2A9D8F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2A9D8F"/>
                </a:solidFill>
              </a:rPr>
              <a:t>These curves show how the pile</a:t>
            </a:r>
          </a:p>
          <a:p>
            <a:pPr algn="l"/>
            <a:r>
              <a:rPr sz="1300" b="0">
                <a:solidFill>
                  <a:srgbClr val="2A9D8F"/>
                </a:solidFill>
              </a:rPr>
              <a:t>gets weaker over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976"/>
                </a:solidFill>
              </a:rPr>
              <a:t>PFE - M7 / M8 / M9 Visual 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The 5 Building Blocks (All Versions Share This)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6"/>
                </a:solidFill>
              </a:rPr>
              <a:t>Each model has the same pipeline - the difference is in block 3 (the MLP)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C8D7F0"/>
          </a:solidFill>
          <a:ln w="25400"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478DC"/>
                </a:solidFill>
              </a:rPr>
              <a:t>1. Read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214884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8232E"/>
                </a:solidFill>
              </a:rPr>
              <a:t>Turns 8 numbers</a:t>
            </a:r>
          </a:p>
          <a:p>
            <a:pPr algn="ctr"/>
            <a:r>
              <a:rPr sz="1200" b="0">
                <a:solidFill>
                  <a:srgbClr val="18232E"/>
                </a:solidFill>
              </a:rPr>
              <a:t>into 64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155448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DCE6FA"/>
          </a:solidFill>
          <a:ln w="25400"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16459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478DC"/>
                </a:solidFill>
              </a:rPr>
              <a:t>2. Slot 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4884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8232E"/>
                </a:solidFill>
              </a:rPr>
              <a:t>Splits features</a:t>
            </a:r>
          </a:p>
          <a:p>
            <a:pPr algn="ctr"/>
            <a:r>
              <a:rPr sz="1200" b="0">
                <a:solidFill>
                  <a:srgbClr val="18232E"/>
                </a:solidFill>
              </a:rPr>
              <a:t>into memory slots</a:t>
            </a:r>
          </a:p>
          <a:p>
            <a:pPr algn="ctr"/>
            <a:r>
              <a:rPr sz="1200" b="0">
                <a:solidFill>
                  <a:srgbClr val="18232E"/>
                </a:solidFill>
              </a:rPr>
              <a:t>(like sorting info</a:t>
            </a:r>
          </a:p>
          <a:p>
            <a:pPr algn="ctr"/>
            <a:r>
              <a:rPr sz="1200" b="0">
                <a:solidFill>
                  <a:srgbClr val="18232E"/>
                </a:solidFill>
              </a:rPr>
              <a:t>into folders)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55448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FFEBDC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6459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76F51"/>
                </a:solidFill>
              </a:rPr>
              <a:t>3. Slot MLP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14884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8232E"/>
                </a:solidFill>
              </a:rPr>
              <a:t>Each slot goes</a:t>
            </a:r>
          </a:p>
          <a:p>
            <a:pPr algn="ctr"/>
            <a:r>
              <a:rPr sz="1200" b="0">
                <a:solidFill>
                  <a:srgbClr val="18232E"/>
                </a:solidFill>
              </a:rPr>
              <a:t>through a small</a:t>
            </a:r>
          </a:p>
          <a:p>
            <a:pPr algn="ctr"/>
            <a:r>
              <a:rPr sz="1200" b="0">
                <a:solidFill>
                  <a:srgbClr val="18232E"/>
                </a:solidFill>
              </a:rPr>
              <a:t>"brain" - THIS IS</a:t>
            </a:r>
          </a:p>
          <a:p>
            <a:pPr algn="ctr"/>
            <a:r>
              <a:rPr sz="1200" b="0">
                <a:solidFill>
                  <a:srgbClr val="18232E"/>
                </a:solidFill>
              </a:rPr>
              <a:t>WHAT CHANGES!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155448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E6FAF0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16459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A9D8F"/>
                </a:solidFill>
              </a:rPr>
              <a:t>4. Rebuild Slots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14884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8232E"/>
                </a:solidFill>
              </a:rPr>
              <a:t>Uses a recipe (R)</a:t>
            </a:r>
          </a:p>
          <a:p>
            <a:pPr algn="ctr"/>
            <a:r>
              <a:rPr sz="1200" b="0">
                <a:solidFill>
                  <a:srgbClr val="18232E"/>
                </a:solidFill>
              </a:rPr>
              <a:t>to reconstruct</a:t>
            </a:r>
          </a:p>
          <a:p>
            <a:pPr algn="ctr"/>
            <a:r>
              <a:rPr sz="1200" b="0">
                <a:solidFill>
                  <a:srgbClr val="18232E"/>
                </a:solidFill>
              </a:rPr>
              <a:t>all 21 time steps</a:t>
            </a:r>
          </a:p>
          <a:p>
            <a:pPr algn="ctr"/>
            <a:r>
              <a:rPr sz="1200" b="0">
                <a:solidFill>
                  <a:srgbClr val="18232E"/>
                </a:solidFill>
              </a:rPr>
              <a:t>from prototypes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55448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FFF5DC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6459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4A261"/>
                </a:solidFill>
              </a:rPr>
              <a:t>5.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214884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8232E"/>
                </a:solidFill>
              </a:rPr>
              <a:t>Produces the</a:t>
            </a:r>
          </a:p>
          <a:p>
            <a:pPr algn="ctr"/>
            <a:r>
              <a:rPr sz="1200" b="0">
                <a:solidFill>
                  <a:srgbClr val="18232E"/>
                </a:solidFill>
              </a:rPr>
              <a:t>3 curves:</a:t>
            </a:r>
          </a:p>
          <a:p>
            <a:pPr algn="ctr"/>
            <a:r>
              <a:rPr sz="1200" b="0">
                <a:solidFill>
                  <a:srgbClr val="18232E"/>
                </a:solidFill>
              </a:rPr>
              <a:t>KL, KR, KLR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331720" y="2697480"/>
            <a:ext cx="320040" cy="320040"/>
          </a:xfrm>
          <a:prstGeom prst="right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4663440" y="2697480"/>
            <a:ext cx="320040" cy="320040"/>
          </a:xfrm>
          <a:prstGeom prst="right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6995160" y="2697480"/>
            <a:ext cx="320040" cy="320040"/>
          </a:xfrm>
          <a:prstGeom prst="right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9326880" y="2697480"/>
            <a:ext cx="320040" cy="320040"/>
          </a:xfrm>
          <a:prstGeom prst="right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46320" y="1463040"/>
            <a:ext cx="2286000" cy="2926080"/>
          </a:xfrm>
          <a:prstGeom prst="roundRect">
            <a:avLst>
              <a:gd name="adj" fmla="val 6000"/>
            </a:avLst>
          </a:prstGeom>
          <a:noFill/>
          <a:ln w="38100">
            <a:solidFill>
              <a:srgbClr val="C8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572000"/>
            <a:ext cx="11612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32E"/>
                </a:solidFill>
              </a:rPr>
              <a:t>The KEY difference between M7, M8, and M9:</a:t>
            </a:r>
          </a:p>
          <a:p>
            <a:pPr algn="l"/>
            <a:r>
              <a:rPr sz="1400" b="0">
                <a:solidFill>
                  <a:srgbClr val="18232E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18232E"/>
                </a:solidFill>
              </a:rPr>
              <a:t>  M7 uses a BIG brain (wide MLP) for each slot         -&gt; lots of parameters, decent accuracy</a:t>
            </a:r>
          </a:p>
          <a:p>
            <a:pPr algn="l"/>
            <a:r>
              <a:rPr sz="1400" b="0">
                <a:solidFill>
                  <a:srgbClr val="18232E"/>
                </a:solidFill>
              </a:rPr>
              <a:t>  M8 uses a SMALL brain (bottleneck MLP) for each slot  -&gt; fewer parameters, saves space</a:t>
            </a:r>
          </a:p>
          <a:p>
            <a:pPr algn="l"/>
            <a:r>
              <a:rPr sz="1400" b="0">
                <a:solidFill>
                  <a:srgbClr val="18232E"/>
                </a:solidFill>
              </a:rPr>
              <a:t>  M9 uses a SMART brain (SwiGLU gated MLP) for each slot -&gt; same small size, BEST 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976"/>
                </a:solidFill>
              </a:rPr>
              <a:t>PFE - M7 / M8 / M9 Visual Comparison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M7 Architecture (Drawn)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6"/>
                </a:solidFill>
              </a:rPr>
              <a:t>The baseline model - uses a wide MLP with 128 hidden neurons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478DC"/>
                </a:solidFill>
              </a:rPr>
              <a:t>M7 - Baseline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3080" y="1737360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B4C8E6"/>
          </a:solidFill>
          <a:ln w="12700"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173736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Input: 8 numbers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soil + pile properties</a:t>
            </a:r>
          </a:p>
        </p:txBody>
      </p:sp>
      <p:sp>
        <p:nvSpPr>
          <p:cNvPr id="7" name="Down Arrow 6"/>
          <p:cNvSpPr/>
          <p:nvPr/>
        </p:nvSpPr>
        <p:spPr>
          <a:xfrm>
            <a:off x="2766060" y="2212848"/>
            <a:ext cx="320040" cy="256032"/>
          </a:xfrm>
          <a:prstGeom prst="downArrow">
            <a:avLst/>
          </a:prstGeom>
          <a:solidFill>
            <a:srgbClr val="34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83080" y="2542032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A0B9DC"/>
          </a:solidFill>
          <a:ln w="12700"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54203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Embedding (8 -&gt; 64)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expand to 64 features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766060" y="3017520"/>
            <a:ext cx="320040" cy="256032"/>
          </a:xfrm>
          <a:prstGeom prst="downArrow">
            <a:avLst/>
          </a:prstGeom>
          <a:solidFill>
            <a:srgbClr val="34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83080" y="3346703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8CAAD2"/>
          </a:solidFill>
          <a:ln w="12700"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3346703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Slot Attention (3 rounds)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7 slots: 1 initial + 6 prototypes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766060" y="3822191"/>
            <a:ext cx="320040" cy="256032"/>
          </a:xfrm>
          <a:prstGeom prst="downArrow">
            <a:avLst/>
          </a:prstGeom>
          <a:solidFill>
            <a:srgbClr val="34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83080" y="4151376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6496DC"/>
          </a:solidFill>
          <a:ln w="12700"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415137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Wide MLP: 64 -&gt; 128 -&gt; 64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GELU activation | 16,512 params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766060" y="4626864"/>
            <a:ext cx="320040" cy="256032"/>
          </a:xfrm>
          <a:prstGeom prst="downArrow">
            <a:avLst/>
          </a:prstGeom>
          <a:solidFill>
            <a:srgbClr val="34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83080" y="4956048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78A0D7"/>
          </a:solidFill>
          <a:ln w="12700"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495604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Fixed Relation Matrix R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6 protos -&gt; 20 drop-slots (frozen)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2766060" y="5431536"/>
            <a:ext cx="320040" cy="256032"/>
          </a:xfrm>
          <a:prstGeom prst="downArrow">
            <a:avLst/>
          </a:prstGeom>
          <a:solidFill>
            <a:srgbClr val="34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783080" y="5760720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8CAAD2"/>
          </a:solidFill>
          <a:ln w="12700"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83080" y="576072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Output Head (64 -&gt; 3)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KL, KR, KLR x 21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6327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478DC"/>
                </a:solidFill>
              </a:rPr>
              <a:t>Total: 55,770 params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371600"/>
            <a:ext cx="548640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4447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78DC"/>
                </a:solidFill>
              </a:rPr>
              <a:t>How M7 Works (Simple)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1810512"/>
            <a:ext cx="5212080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8232E"/>
                </a:solidFill>
              </a:rPr>
              <a:t>  1. Takes 8 input numbers about the pile and soil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2. Expands them to 64 features (like zooming in)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3. Slot Attention creates 7 "memory slots":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   - 1 slot for initial state (time=0)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   - 6 slots for typical degradation patterns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4. Each slot goes through a WIDE MLP (128 neurons)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   This is a big brain - uses lots of parameters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   Think: sledgehammer to crack a nut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5. A fixed recipe (R) builds 21 time steps from 6 patterns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   Problem: this recipe can never improve!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6. Outputs KL, KR, KLR curves (how pile degrades)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Result: R2 = 0.9897  |  Params: 55,770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976"/>
                </a:solidFill>
              </a:rPr>
              <a:t>PFE - M7 / M8 / M9 Visual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M8 Architecture (Drawn)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6"/>
                </a:solidFill>
              </a:rPr>
              <a:t>3 upgrades: smaller MLP, learnable recipe, physics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76F51"/>
                </a:solidFill>
              </a:rPr>
              <a:t>M8 - Efficient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3080" y="1737360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F0C8B4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173736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Input: 8 numbers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soil + pile properties</a:t>
            </a:r>
          </a:p>
        </p:txBody>
      </p:sp>
      <p:sp>
        <p:nvSpPr>
          <p:cNvPr id="7" name="Down Arrow 6"/>
          <p:cNvSpPr/>
          <p:nvPr/>
        </p:nvSpPr>
        <p:spPr>
          <a:xfrm>
            <a:off x="2766060" y="2212848"/>
            <a:ext cx="320040" cy="256032"/>
          </a:xfrm>
          <a:prstGeom prst="downArrow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83080" y="2542032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EBB9A5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54203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Embedding (8 -&gt; 64)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expand to 64 features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766060" y="3017520"/>
            <a:ext cx="320040" cy="256032"/>
          </a:xfrm>
          <a:prstGeom prst="downArrow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83080" y="3346703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E6AA96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3346703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Slot Attention (3 rounds)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6 slots: 1 initial + 5 prototypes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766060" y="3822191"/>
            <a:ext cx="320040" cy="256032"/>
          </a:xfrm>
          <a:prstGeom prst="downArrow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83080" y="4151376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E78264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415137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Bottleneck MLP: 64-&gt;48-&gt;64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GELU activation | 6,256 params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766060" y="4626864"/>
            <a:ext cx="320040" cy="256032"/>
          </a:xfrm>
          <a:prstGeom prst="downArrow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83080" y="4956048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E69682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495604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Learnable Relation R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5 protos -&gt; 20 slots (adapts!)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2766060" y="5431536"/>
            <a:ext cx="320040" cy="256032"/>
          </a:xfrm>
          <a:prstGeom prst="downArrow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783080" y="5760720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EBAA96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83080" y="576072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Output + Physics Check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KL,KR must decrease / KLR increase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6327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76F51"/>
                </a:solidFill>
              </a:rPr>
              <a:t>Total: 45,486 params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371600"/>
            <a:ext cx="548640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4447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6F51"/>
                </a:solidFill>
              </a:rPr>
              <a:t>What Changed in M8 (3 Upgrades)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1810512"/>
            <a:ext cx="5212080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8232E"/>
                </a:solidFill>
              </a:rPr>
              <a:t>  UPGRADE 1: Smaller MLP (bottleneck)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   Old: 64 -&gt; 128 -&gt; 64  (16,512 params)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   New: 64 -&gt;  48 -&gt; 64  ( 6,256 params)  -62% smaller!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   Like squeezing info through a narrow pipe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   Forces the model to keep only what matters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UPGRADE 2: Learnable Recipe (R)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   M7: recipe frozen after discovery -&gt; can't improve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   M8: recipe keeps learning during training -&gt; adapts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   Like a chef who keeps improving a recipe vs one who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   writes it down once and never changes it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UPGRADE 3: Physics Rules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   KL and KR MUST go down over time (pile gets weaker)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   KLR MUST go up over time (coupling increases)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   The model is penalized if it violates physics!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Result: R2 = 0.9882  |  Params: 45,486  (19.7% smaller)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976"/>
                </a:solidFill>
              </a:rPr>
              <a:t>PFE - M7 / M8 / M9 Visual Comparison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M9 Architecture (Drawn)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6"/>
                </a:solidFill>
              </a:rPr>
              <a:t>Uses SwiGLU - a smarter brain that decides what to focus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A9D8F"/>
                </a:solidFill>
              </a:rPr>
              <a:t>M9 - SwiGLU (Best)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3080" y="1737360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B4E6DC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173736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Input: 8 numbers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soil + pile properties</a:t>
            </a:r>
          </a:p>
        </p:txBody>
      </p:sp>
      <p:sp>
        <p:nvSpPr>
          <p:cNvPr id="7" name="Down Arrow 6"/>
          <p:cNvSpPr/>
          <p:nvPr/>
        </p:nvSpPr>
        <p:spPr>
          <a:xfrm>
            <a:off x="2766060" y="2212848"/>
            <a:ext cx="320040" cy="256032"/>
          </a:xfrm>
          <a:prstGeom prst="down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83080" y="2542032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A0DCD2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54203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Embedding (8 -&gt; 64)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expand to 64 features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766060" y="3017520"/>
            <a:ext cx="320040" cy="256032"/>
          </a:xfrm>
          <a:prstGeom prst="down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83080" y="3346703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8CD2C8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3346703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Slot Attention (3 rounds)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6 slots: 1 initial + 5 prototypes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766060" y="3822191"/>
            <a:ext cx="320040" cy="256032"/>
          </a:xfrm>
          <a:prstGeom prst="down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83080" y="4151376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3CB4A0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415137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SwiGLU MLP (gated, dim=32)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gate decides what matters | 6,272p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766060" y="4626864"/>
            <a:ext cx="320040" cy="256032"/>
          </a:xfrm>
          <a:prstGeom prst="down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83080" y="4956048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64C8B9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495604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Learnable Relation R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same as M8 (adapts)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2766060" y="5431536"/>
            <a:ext cx="320040" cy="256032"/>
          </a:xfrm>
          <a:prstGeom prst="down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783080" y="5760720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8CD2C8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83080" y="576072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Output + Physics Check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same physics rules as M8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6327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A9D8F"/>
                </a:solidFill>
              </a:rPr>
              <a:t>Total: 45,502 params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371600"/>
            <a:ext cx="548640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4447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A9D8F"/>
                </a:solidFill>
              </a:rPr>
              <a:t>What Changed in M9 (SwiGLU Brain)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1810512"/>
            <a:ext cx="5212080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8232E"/>
                </a:solidFill>
              </a:rPr>
              <a:t>  THE KEY UPGRADE: SwiGLU replaces the plain MLP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Normal MLP (M7/M8):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   Data goes in -&gt; gets transformed -&gt; comes out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   Every feature is treated the same way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SwiGLU MLP (M9):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   Data goes in through TWO paths: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   Path 1 (Gate):  decides "how important is this?"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   Path 2 (Value): carries the actual information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   The gate CONTROLS how much of each feature passes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   Like a smart filter: amplifies useful info,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   suppresses noise - without adding parameters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BONUS: Skips 2 training stages (reuses M8 results)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   -&gt; trains 2-3x faster!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</a:t>
            </a:r>
          </a:p>
          <a:p>
            <a:pPr algn="l"/>
            <a:r>
              <a:rPr sz="1100" b="0">
                <a:solidFill>
                  <a:srgbClr val="18232E"/>
                </a:solidFill>
              </a:rPr>
              <a:t>  Result: R2 = 0.9915 (BEST)  |  Params: 45,502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976"/>
                </a:solidFill>
              </a:rPr>
              <a:t>PFE - M7 / M8 / M9 Visual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Side-by-Side Architecture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6"/>
                </a:solidFill>
              </a:rPr>
              <a:t>Same pipeline, different MLP brains - spot the differences!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478DC"/>
                </a:solidFill>
              </a:rPr>
              <a:t>M7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B4C8E6"/>
          </a:solidFill>
          <a:ln w="12700"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8 inputs</a:t>
            </a:r>
          </a:p>
        </p:txBody>
      </p:sp>
      <p:sp>
        <p:nvSpPr>
          <p:cNvPr id="7" name="Down Arrow 6"/>
          <p:cNvSpPr/>
          <p:nvPr/>
        </p:nvSpPr>
        <p:spPr>
          <a:xfrm>
            <a:off x="1851660" y="2121408"/>
            <a:ext cx="320040" cy="256032"/>
          </a:xfrm>
          <a:prstGeom prst="downArrow">
            <a:avLst/>
          </a:prstGeom>
          <a:solidFill>
            <a:srgbClr val="34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450592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A0B9DC"/>
          </a:solidFill>
          <a:ln w="12700"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Embed 64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851660" y="2926080"/>
            <a:ext cx="320040" cy="256032"/>
          </a:xfrm>
          <a:prstGeom prst="downArrow">
            <a:avLst/>
          </a:prstGeom>
          <a:solidFill>
            <a:srgbClr val="34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3255264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8CAAD2"/>
          </a:solidFill>
          <a:ln w="12700"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55264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SlotAttn (7 slots)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851660" y="3730752"/>
            <a:ext cx="320040" cy="256032"/>
          </a:xfrm>
          <a:prstGeom prst="downArrow">
            <a:avLst/>
          </a:prstGeom>
          <a:solidFill>
            <a:srgbClr val="34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4059936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5082D2"/>
          </a:solidFill>
          <a:ln w="12700"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5993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Wide MLP 128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16,512 params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851660" y="4535424"/>
            <a:ext cx="320040" cy="256032"/>
          </a:xfrm>
          <a:prstGeom prst="downArrow">
            <a:avLst/>
          </a:prstGeom>
          <a:solidFill>
            <a:srgbClr val="34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4864608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78A0D7"/>
          </a:solidFill>
          <a:ln w="12700"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86460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Fixed R (6 proto)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851660" y="5340096"/>
            <a:ext cx="320040" cy="256032"/>
          </a:xfrm>
          <a:prstGeom prst="downArrow">
            <a:avLst/>
          </a:prstGeom>
          <a:solidFill>
            <a:srgbClr val="34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5669280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8CAAD2"/>
          </a:solidFill>
          <a:ln w="12700"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66928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KL, KR, KLR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2362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478DC"/>
                </a:solidFill>
              </a:rPr>
              <a:t>Total: 55,770 params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76F51"/>
                </a:solidFill>
              </a:rPr>
              <a:t>M8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1645920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F0C8B4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164592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8 inputs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966460" y="2121408"/>
            <a:ext cx="320040" cy="256032"/>
          </a:xfrm>
          <a:prstGeom prst="downArrow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983480" y="2450592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EBB9A5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245059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Embed 64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966460" y="2926080"/>
            <a:ext cx="320040" cy="256032"/>
          </a:xfrm>
          <a:prstGeom prst="downArrow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983480" y="3255264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E6AA96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3255264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SlotAttn (6 slots)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966460" y="3730752"/>
            <a:ext cx="320040" cy="256032"/>
          </a:xfrm>
          <a:prstGeom prst="downArrow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983480" y="4059936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83480" y="405993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Bottleneck MLP 48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6,256 params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5966460" y="4535424"/>
            <a:ext cx="320040" cy="256032"/>
          </a:xfrm>
          <a:prstGeom prst="downArrow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983480" y="4864608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E69682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83480" y="486460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Learnable R (5 proto)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5966460" y="5340096"/>
            <a:ext cx="320040" cy="256032"/>
          </a:xfrm>
          <a:prstGeom prst="downArrow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983480" y="5669280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EBAA96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83480" y="566928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KL,KR,KLR + physics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80" y="62362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76F51"/>
                </a:solidFill>
              </a:rPr>
              <a:t>Total: 45,486 params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A9D8F"/>
                </a:solidFill>
              </a:rPr>
              <a:t>M9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6840" y="1645920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B4E6DC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06840" y="164592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8 inputs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9989819" y="2121408"/>
            <a:ext cx="320040" cy="256032"/>
          </a:xfrm>
          <a:prstGeom prst="down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006840" y="2450592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A0DCD2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06840" y="245059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Embed 64</a:t>
            </a:r>
          </a:p>
        </p:txBody>
      </p:sp>
      <p:sp>
        <p:nvSpPr>
          <p:cNvPr id="48" name="Down Arrow 47"/>
          <p:cNvSpPr/>
          <p:nvPr/>
        </p:nvSpPr>
        <p:spPr>
          <a:xfrm>
            <a:off x="9989819" y="2926080"/>
            <a:ext cx="320040" cy="256032"/>
          </a:xfrm>
          <a:prstGeom prst="down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006840" y="3255264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8CD2C8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06840" y="3255264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SlotAttn (6 slots)</a:t>
            </a:r>
          </a:p>
        </p:txBody>
      </p:sp>
      <p:sp>
        <p:nvSpPr>
          <p:cNvPr id="51" name="Down Arrow 50"/>
          <p:cNvSpPr/>
          <p:nvPr/>
        </p:nvSpPr>
        <p:spPr>
          <a:xfrm>
            <a:off x="9989819" y="3730752"/>
            <a:ext cx="320040" cy="256032"/>
          </a:xfrm>
          <a:prstGeom prst="down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006840" y="4059936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06840" y="405993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SwiGLU MLP 32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6,272 params (gated)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9989819" y="4535424"/>
            <a:ext cx="320040" cy="256032"/>
          </a:xfrm>
          <a:prstGeom prst="down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006840" y="4864608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64C8B9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06840" y="486460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Learnable R (5 proto)</a:t>
            </a:r>
          </a:p>
        </p:txBody>
      </p:sp>
      <p:sp>
        <p:nvSpPr>
          <p:cNvPr id="57" name="Down Arrow 56"/>
          <p:cNvSpPr/>
          <p:nvPr/>
        </p:nvSpPr>
        <p:spPr>
          <a:xfrm>
            <a:off x="9989819" y="5340096"/>
            <a:ext cx="320040" cy="256032"/>
          </a:xfrm>
          <a:prstGeom prst="down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006840" y="5669280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8CD2C8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06840" y="566928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KL,KR,KLR + physics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06840" y="62362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A9D8F"/>
                </a:solidFill>
              </a:rPr>
              <a:t>Total: 45,502 params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3383280" y="3291840"/>
            <a:ext cx="1463040" cy="320040"/>
          </a:xfrm>
          <a:prstGeom prst="right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74720" y="29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76F51"/>
                </a:solidFill>
              </a:rPr>
              <a:t>Shrink MLP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7498079" y="3291840"/>
            <a:ext cx="1371600" cy="320040"/>
          </a:xfrm>
          <a:prstGeom prst="right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98079" y="29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A9D8F"/>
                </a:solidFill>
              </a:rPr>
              <a:t>Add gating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976"/>
                </a:solidFill>
              </a:rPr>
              <a:t>PFE - M7 / M8 / M9 Visual Comparison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The MLP Brain: How Data Flows Inside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6"/>
                </a:solidFill>
              </a:rPr>
              <a:t>This is THE most important difference between M7, M8, and M9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478DC"/>
                </a:solidFill>
              </a:rPr>
              <a:t>M7: Wide MLP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B4C8E6"/>
          </a:solidFill>
          <a:ln w="12700"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64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6496DC"/>
          </a:solidFill>
          <a:ln w="12700"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EXPAND to 128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78A0D7"/>
          </a:solidFill>
          <a:ln w="12700"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GELU activation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8CAAD2"/>
          </a:solidFill>
          <a:ln w="12700"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COMPRESS to 64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947672" y="2423160"/>
            <a:ext cx="320040" cy="228600"/>
          </a:xfrm>
          <a:prstGeom prst="downArrow">
            <a:avLst/>
          </a:prstGeom>
          <a:solidFill>
            <a:srgbClr val="34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1947672" y="3154680"/>
            <a:ext cx="320040" cy="228600"/>
          </a:xfrm>
          <a:prstGeom prst="downArrow">
            <a:avLst/>
          </a:prstGeom>
          <a:solidFill>
            <a:srgbClr val="34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1947672" y="3886200"/>
            <a:ext cx="320040" cy="228600"/>
          </a:xfrm>
          <a:prstGeom prst="downArrow">
            <a:avLst/>
          </a:prstGeom>
          <a:solidFill>
            <a:srgbClr val="34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7091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976"/>
                </a:solidFill>
              </a:rPr>
              <a:t>Simple: everything goes through</a:t>
            </a:r>
          </a:p>
          <a:p>
            <a:pPr algn="ctr"/>
            <a:r>
              <a:rPr sz="1100" b="0">
                <a:solidFill>
                  <a:srgbClr val="5A6976"/>
                </a:solidFill>
              </a:rPr>
              <a:t>a wide pipe. Uses 16,512 params.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76F51"/>
                </a:solidFill>
              </a:rPr>
              <a:t>M8: Bottleneck MLP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920240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F0C8B4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9202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64 features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2651760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E78264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651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SQUEEZE to 48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3383280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E69682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383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GELU activation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4114800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EBAA96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4114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EXPAND to 64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879592" y="2423160"/>
            <a:ext cx="320040" cy="228600"/>
          </a:xfrm>
          <a:prstGeom prst="downArrow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5879592" y="3154680"/>
            <a:ext cx="320040" cy="228600"/>
          </a:xfrm>
          <a:prstGeom prst="downArrow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5879592" y="3886200"/>
            <a:ext cx="320040" cy="228600"/>
          </a:xfrm>
          <a:prstGeom prst="downArrow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47091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976"/>
                </a:solidFill>
              </a:rPr>
              <a:t>Narrow pipe forces compression.</a:t>
            </a:r>
          </a:p>
          <a:p>
            <a:pPr algn="ctr"/>
            <a:r>
              <a:rPr sz="1100" b="0">
                <a:solidFill>
                  <a:srgbClr val="5A6976"/>
                </a:solidFill>
              </a:rPr>
              <a:t>Only 6,256 params (-62%).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A9D8F"/>
                </a:solidFill>
              </a:rPr>
              <a:t>M9: SwiGLU (Gated)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03920" y="1920240"/>
            <a:ext cx="3200400" cy="502920"/>
          </a:xfrm>
          <a:prstGeom prst="roundRect">
            <a:avLst>
              <a:gd name="adj" fmla="val 6000"/>
            </a:avLst>
          </a:prstGeom>
          <a:solidFill>
            <a:srgbClr val="B4E6DC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19202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64 features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9326880" y="2423160"/>
            <a:ext cx="320040" cy="228600"/>
          </a:xfrm>
          <a:prstGeom prst="down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own Arrow 33"/>
          <p:cNvSpPr/>
          <p:nvPr/>
        </p:nvSpPr>
        <p:spPr>
          <a:xfrm>
            <a:off x="10607040" y="2423160"/>
            <a:ext cx="320040" cy="228600"/>
          </a:xfrm>
          <a:prstGeom prst="down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503920" y="2743200"/>
            <a:ext cx="1417320" cy="502920"/>
          </a:xfrm>
          <a:prstGeom prst="roundRect">
            <a:avLst>
              <a:gd name="adj" fmla="val 6000"/>
            </a:avLst>
          </a:prstGeom>
          <a:solidFill>
            <a:srgbClr val="3CB4A0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274320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Gate path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SiLU(W_g * x)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41280" y="2743200"/>
            <a:ext cx="1463040" cy="502920"/>
          </a:xfrm>
          <a:prstGeom prst="roundRect">
            <a:avLst>
              <a:gd name="adj" fmla="val 6000"/>
            </a:avLst>
          </a:prstGeom>
          <a:solidFill>
            <a:srgbClr val="64C8B9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41280" y="27432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Value path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W_v * x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9326880" y="3246120"/>
            <a:ext cx="320040" cy="228600"/>
          </a:xfrm>
          <a:prstGeom prst="down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own Arrow 39"/>
          <p:cNvSpPr/>
          <p:nvPr/>
        </p:nvSpPr>
        <p:spPr>
          <a:xfrm>
            <a:off x="10607040" y="3246120"/>
            <a:ext cx="320040" cy="228600"/>
          </a:xfrm>
          <a:prstGeom prst="down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503920" y="3566160"/>
            <a:ext cx="3200400" cy="502920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35661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MULTIPLY: gate x value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gate controls what passes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9966960" y="4069080"/>
            <a:ext cx="320040" cy="228600"/>
          </a:xfrm>
          <a:prstGeom prst="down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503920" y="4389120"/>
            <a:ext cx="3200400" cy="502920"/>
          </a:xfrm>
          <a:prstGeom prst="roundRect">
            <a:avLst>
              <a:gd name="adj" fmla="val 6000"/>
            </a:avLst>
          </a:prstGeom>
          <a:solidFill>
            <a:srgbClr val="8CD2C8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0" y="4389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Output: 64 features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9834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976"/>
                </a:solidFill>
              </a:rPr>
              <a:t>Smart filter: gate decides what</a:t>
            </a:r>
          </a:p>
          <a:p>
            <a:pPr algn="ctr"/>
            <a:r>
              <a:rPr sz="1100" b="0">
                <a:solidFill>
                  <a:srgbClr val="5A6976"/>
                </a:solidFill>
              </a:rPr>
              <a:t>matters. 6,272 params. BEST accuracy.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976"/>
                </a:solidFill>
              </a:rPr>
              <a:t>PFE - M7 / M8 / M9 Visual Comparison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The Relation Matrix R: A Recipe for Time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6"/>
                </a:solidFill>
              </a:rPr>
              <a:t>How do we go from 5-6 patterns to 21 time steps?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232E"/>
                </a:solidFill>
              </a:rPr>
              <a:t>Think of it like this: we have 5 (or 6) typical "patterns" of how a pile degrades.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8232E"/>
                </a:solidFill>
              </a:rPr>
              <a:t>The Relation Matrix R is a RECIPE that mixes these patterns to create all 21 time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828800" cy="411480"/>
          </a:xfrm>
          <a:prstGeom prst="roundRect">
            <a:avLst>
              <a:gd name="adj" fmla="val 6000"/>
            </a:avLst>
          </a:prstGeom>
          <a:solidFill>
            <a:srgbClr val="FFEBDC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76F51"/>
                </a:solidFill>
              </a:rPr>
              <a:t>Pattern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828800" cy="411480"/>
          </a:xfrm>
          <a:prstGeom prst="roundRect">
            <a:avLst>
              <a:gd name="adj" fmla="val 6000"/>
            </a:avLst>
          </a:prstGeom>
          <a:solidFill>
            <a:srgbClr val="FFEBDC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76F51"/>
                </a:solidFill>
              </a:rPr>
              <a:t>Pattern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1828800" cy="411480"/>
          </a:xfrm>
          <a:prstGeom prst="roundRect">
            <a:avLst>
              <a:gd name="adj" fmla="val 6000"/>
            </a:avLst>
          </a:prstGeom>
          <a:solidFill>
            <a:srgbClr val="FFEBDC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76F51"/>
                </a:solidFill>
              </a:rPr>
              <a:t>Pattern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1828800" cy="411480"/>
          </a:xfrm>
          <a:prstGeom prst="roundRect">
            <a:avLst>
              <a:gd name="adj" fmla="val 6000"/>
            </a:avLst>
          </a:prstGeom>
          <a:solidFill>
            <a:srgbClr val="FFEBDC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76F51"/>
                </a:solidFill>
              </a:rPr>
              <a:t>Pattern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1828800" cy="411480"/>
          </a:xfrm>
          <a:prstGeom prst="roundRect">
            <a:avLst>
              <a:gd name="adj" fmla="val 6000"/>
            </a:avLst>
          </a:prstGeom>
          <a:solidFill>
            <a:srgbClr val="FFEBDC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709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76F51"/>
                </a:solidFill>
              </a:rPr>
              <a:t>Pattern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76F51"/>
                </a:solidFill>
              </a:rPr>
              <a:t>5 prototypes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743200" y="3657600"/>
            <a:ext cx="914400" cy="320040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0" y="265176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F0F0EB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27432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232E"/>
                </a:solidFill>
              </a:rPr>
              <a:t>RECIPE (R)</a:t>
            </a:r>
          </a:p>
          <a:p>
            <a:pPr algn="ctr"/>
            <a:r>
              <a:rPr sz="1100" b="0">
                <a:solidFill>
                  <a:srgbClr val="18232E"/>
                </a:solidFill>
              </a:rPr>
              <a:t/>
            </a:r>
          </a:p>
          <a:p>
            <a:pPr algn="ctr"/>
            <a:r>
              <a:rPr sz="1100" b="0">
                <a:solidFill>
                  <a:srgbClr val="18232E"/>
                </a:solidFill>
              </a:rPr>
              <a:t>Step 1 = 80% P1 + 20% P2</a:t>
            </a:r>
          </a:p>
          <a:p>
            <a:pPr algn="ctr"/>
            <a:r>
              <a:rPr sz="1100" b="0">
                <a:solidFill>
                  <a:srgbClr val="18232E"/>
                </a:solidFill>
              </a:rPr>
              <a:t>Step 2 = 60% P1 + 40% P2</a:t>
            </a:r>
          </a:p>
          <a:p>
            <a:pPr algn="ctr"/>
            <a:r>
              <a:rPr sz="1100" b="0">
                <a:solidFill>
                  <a:srgbClr val="18232E"/>
                </a:solidFill>
              </a:rPr>
              <a:t>Step 3 = 50% P2 + 50% P3</a:t>
            </a:r>
          </a:p>
          <a:p>
            <a:pPr algn="ctr"/>
            <a:r>
              <a:rPr sz="1100" b="0">
                <a:solidFill>
                  <a:srgbClr val="18232E"/>
                </a:solidFill>
              </a:rPr>
              <a:t>...</a:t>
            </a:r>
          </a:p>
          <a:p>
            <a:pPr algn="ctr"/>
            <a:r>
              <a:rPr sz="1100" b="0">
                <a:solidFill>
                  <a:srgbClr val="18232E"/>
                </a:solidFill>
              </a:rPr>
              <a:t>Step 20 = 90% P5 + 10% P4</a:t>
            </a:r>
          </a:p>
          <a:p>
            <a:pPr algn="ctr"/>
            <a:r>
              <a:rPr sz="1100" b="0">
                <a:solidFill>
                  <a:srgbClr val="18232E"/>
                </a:solidFill>
              </a:rPr>
              <a:t/>
            </a:r>
          </a:p>
          <a:p>
            <a:pPr algn="ctr"/>
            <a:r>
              <a:rPr sz="1100" b="0">
                <a:solidFill>
                  <a:srgbClr val="18232E"/>
                </a:solidFill>
              </a:rPr>
              <a:t>Each step is a mix</a:t>
            </a:r>
          </a:p>
          <a:p>
            <a:pPr algn="ctr"/>
            <a:r>
              <a:rPr sz="1100" b="0">
                <a:solidFill>
                  <a:srgbClr val="18232E"/>
                </a:solidFill>
              </a:rPr>
              <a:t>of the patterns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440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4A261"/>
                </a:solidFill>
              </a:rPr>
              <a:t>Relation Matrix (20 x 5)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766560" y="3657600"/>
            <a:ext cx="914400" cy="320040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0" y="2651760"/>
            <a:ext cx="1645920" cy="347472"/>
          </a:xfrm>
          <a:prstGeom prst="roundRect">
            <a:avLst>
              <a:gd name="adj" fmla="val 6000"/>
            </a:avLst>
          </a:prstGeom>
          <a:solidFill>
            <a:srgbClr val="E1F5F0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2670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A9D8F"/>
                </a:solidFill>
              </a:rPr>
              <a:t>Step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3090672"/>
            <a:ext cx="1645920" cy="347472"/>
          </a:xfrm>
          <a:prstGeom prst="roundRect">
            <a:avLst>
              <a:gd name="adj" fmla="val 6000"/>
            </a:avLst>
          </a:prstGeom>
          <a:solidFill>
            <a:srgbClr val="E1F5F0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3108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A9D8F"/>
                </a:solidFill>
              </a:rPr>
              <a:t>Step 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3529584"/>
            <a:ext cx="1645920" cy="347472"/>
          </a:xfrm>
          <a:prstGeom prst="roundRect">
            <a:avLst>
              <a:gd name="adj" fmla="val 6000"/>
            </a:avLst>
          </a:prstGeom>
          <a:solidFill>
            <a:srgbClr val="E1F5F0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35478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A9D8F"/>
                </a:solidFill>
              </a:rPr>
              <a:t>Step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3968496"/>
            <a:ext cx="1645920" cy="347472"/>
          </a:xfrm>
          <a:prstGeom prst="roundRect">
            <a:avLst>
              <a:gd name="adj" fmla="val 6000"/>
            </a:avLst>
          </a:prstGeom>
          <a:solidFill>
            <a:srgbClr val="E1F5F0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3986783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A9D8F"/>
                </a:solidFill>
              </a:rPr>
              <a:t>Step 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4407408"/>
            <a:ext cx="1645920" cy="347472"/>
          </a:xfrm>
          <a:prstGeom prst="roundRect">
            <a:avLst>
              <a:gd name="adj" fmla="val 6000"/>
            </a:avLst>
          </a:prstGeom>
          <a:solidFill>
            <a:srgbClr val="E1F5F0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44256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A9D8F"/>
                </a:solidFill>
              </a:rPr>
              <a:t>Step 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4846320"/>
            <a:ext cx="1645920" cy="347472"/>
          </a:xfrm>
          <a:prstGeom prst="roundRect">
            <a:avLst>
              <a:gd name="adj" fmla="val 6000"/>
            </a:avLst>
          </a:prstGeom>
          <a:solidFill>
            <a:srgbClr val="E1F5F0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4864607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A9D8F"/>
                </a:solidFill>
              </a:rPr>
              <a:t>Step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5303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9D8F"/>
                </a:solidFill>
              </a:rPr>
              <a:t>... up to
Step 20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75520" y="2651760"/>
            <a:ext cx="1645920" cy="411480"/>
          </a:xfrm>
          <a:prstGeom prst="roundRect">
            <a:avLst>
              <a:gd name="adj" fmla="val 6000"/>
            </a:avLst>
          </a:prstGeom>
          <a:solidFill>
            <a:srgbClr val="C8E6FF"/>
          </a:solidFill>
          <a:ln w="25400"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2697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478DC"/>
                </a:solidFill>
              </a:rPr>
              <a:t>Step 0 (initial)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976"/>
                </a:solidFill>
              </a:rPr>
              <a:t>Special slot for
time=0 (healthy pile)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4114800"/>
            <a:ext cx="3840480" cy="1645920"/>
          </a:xfrm>
          <a:prstGeom prst="roundRect">
            <a:avLst>
              <a:gd name="adj" fmla="val 6000"/>
            </a:avLst>
          </a:prstGeom>
          <a:solidFill>
            <a:srgbClr val="FFFAEB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79" y="420624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232E"/>
                </a:solidFill>
              </a:rPr>
              <a:t>M7: Recipe is FIXED (never changes)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  -&gt; like cooking with a rigid recipe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M8/M9: Recipe LEARNS during training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  -&gt; like a chef who keeps improving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  -&gt; gets better over time!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976"/>
                </a:solidFill>
              </a:rPr>
              <a:t>PFE - M7 / M8 / M9 Visual Comparison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Physics Rules: Teaching the Model Real-World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6"/>
                </a:solidFill>
              </a:rPr>
              <a:t>M8 and M9 enforce physical laws - M7 does not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8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83C32"/>
                </a:solidFill>
              </a:rPr>
              <a:t>KL (lateral stiffness)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976"/>
                </a:solidFill>
              </a:rPr>
              <a:t>Side-to-side strength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3C32"/>
                </a:solidFill>
              </a:rPr>
              <a:t>Time 1:  ████████████</a:t>
            </a:r>
          </a:p>
          <a:p>
            <a:pPr algn="l"/>
            <a:r>
              <a:rPr sz="1100" b="0">
                <a:solidFill>
                  <a:srgbClr val="C83C32"/>
                </a:solidFill>
              </a:rPr>
              <a:t>Time 5:  █████████</a:t>
            </a:r>
          </a:p>
          <a:p>
            <a:pPr algn="l"/>
            <a:r>
              <a:rPr sz="1100" b="0">
                <a:solidFill>
                  <a:srgbClr val="C83C32"/>
                </a:solidFill>
              </a:rPr>
              <a:t>Time 10: ██████</a:t>
            </a:r>
          </a:p>
          <a:p>
            <a:pPr algn="l"/>
            <a:r>
              <a:rPr sz="1100" b="0">
                <a:solidFill>
                  <a:srgbClr val="C83C32"/>
                </a:solidFill>
              </a:rPr>
              <a:t>Time 15: ████</a:t>
            </a:r>
          </a:p>
          <a:p>
            <a:pPr algn="l"/>
            <a:r>
              <a:rPr sz="1100" b="0">
                <a:solidFill>
                  <a:srgbClr val="C83C32"/>
                </a:solidFill>
              </a:rPr>
              <a:t>Time 21: ██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55448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8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645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83C32"/>
                </a:solidFill>
              </a:rPr>
              <a:t>KR (rocking stiffness)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976"/>
                </a:solidFill>
              </a:rPr>
              <a:t>Tilting resistance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3774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3C32"/>
                </a:solidFill>
              </a:rPr>
              <a:t>Time 1:  ████████████</a:t>
            </a:r>
          </a:p>
          <a:p>
            <a:pPr algn="l"/>
            <a:r>
              <a:rPr sz="1100" b="0">
                <a:solidFill>
                  <a:srgbClr val="C83C32"/>
                </a:solidFill>
              </a:rPr>
              <a:t>Time 5:  █████████</a:t>
            </a:r>
          </a:p>
          <a:p>
            <a:pPr algn="l"/>
            <a:r>
              <a:rPr sz="1100" b="0">
                <a:solidFill>
                  <a:srgbClr val="C83C32"/>
                </a:solidFill>
              </a:rPr>
              <a:t>Time 10: ██████</a:t>
            </a:r>
          </a:p>
          <a:p>
            <a:pPr algn="l"/>
            <a:r>
              <a:rPr sz="1100" b="0">
                <a:solidFill>
                  <a:srgbClr val="C83C32"/>
                </a:solidFill>
              </a:rPr>
              <a:t>Time 15: ████</a:t>
            </a:r>
          </a:p>
          <a:p>
            <a:pPr algn="l"/>
            <a:r>
              <a:rPr sz="1100" b="0">
                <a:solidFill>
                  <a:srgbClr val="C83C32"/>
                </a:solidFill>
              </a:rPr>
              <a:t>Time 21: ██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55448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645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7AE60"/>
                </a:solidFill>
              </a:rPr>
              <a:t>KLR (cross-coupling)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976"/>
                </a:solidFill>
              </a:rPr>
              <a:t>How KL and KR interact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3774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</a:rPr>
              <a:t>Time 1:  ██</a:t>
            </a:r>
          </a:p>
          <a:p>
            <a:pPr algn="l"/>
            <a:r>
              <a:rPr sz="1100" b="0">
                <a:solidFill>
                  <a:srgbClr val="27AE60"/>
                </a:solidFill>
              </a:rPr>
              <a:t>Time 5:  ████</a:t>
            </a:r>
          </a:p>
          <a:p>
            <a:pPr algn="l"/>
            <a:r>
              <a:rPr sz="1100" b="0">
                <a:solidFill>
                  <a:srgbClr val="27AE60"/>
                </a:solidFill>
              </a:rPr>
              <a:t>Time 10: ██████</a:t>
            </a:r>
          </a:p>
          <a:p>
            <a:pPr algn="l"/>
            <a:r>
              <a:rPr sz="1100" b="0">
                <a:solidFill>
                  <a:srgbClr val="27AE60"/>
                </a:solidFill>
              </a:rPr>
              <a:t>Time 15: █████████</a:t>
            </a:r>
          </a:p>
          <a:p>
            <a:pPr algn="l"/>
            <a:r>
              <a:rPr sz="1100" b="0">
                <a:solidFill>
                  <a:srgbClr val="27AE60"/>
                </a:solidFill>
              </a:rPr>
              <a:t>Time 21: ████████████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FFF5F0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232E"/>
                </a:solidFill>
              </a:rPr>
              <a:t>Why does this matter?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In the real world, piles ALWAYS get weaker over time.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The stiffness KL and KR always decrease.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The coupling KLR always increases.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Without physics rules, the model might predict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impossible results (like a pile getting STRONGER).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11480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20624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232E"/>
                </a:solidFill>
              </a:rPr>
              <a:t>Which models enforce physics?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   M7:  NO physics rules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         (might produce impossible curves)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   M8:  YES - physics penalty in loss function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         (penalized if curves go wrong direction)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   M9:  YES - same physics rules as M8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976"/>
                </a:solidFill>
              </a:rPr>
              <a:t>PFE - M7 / M8 / M9 Visual Comparison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How Each Model is Trained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6"/>
                </a:solidFill>
              </a:rPr>
              <a:t>M9 is much faster because it reuses work already done by M8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E6F0FF"/>
          </a:solidFill>
          <a:ln w="25400"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78DC"/>
                </a:solidFill>
              </a:rPr>
              <a:t>Stage A: Learn from Teacher</a:t>
            </a:r>
          </a:p>
          <a:p>
            <a:pPr algn="l"/>
            <a:r>
              <a:rPr sz="1200" b="0">
                <a:solidFill>
                  <a:srgbClr val="3478DC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3478DC"/>
                </a:solidFill>
              </a:rPr>
              <a:t>A student model copies the</a:t>
            </a:r>
          </a:p>
          <a:p>
            <a:pPr algn="l"/>
            <a:r>
              <a:rPr sz="1200" b="0">
                <a:solidFill>
                  <a:srgbClr val="3478DC"/>
                </a:solidFill>
              </a:rPr>
              <a:t>teacher (M6) behavior.</a:t>
            </a:r>
          </a:p>
          <a:p>
            <a:pPr algn="l"/>
            <a:r>
              <a:rPr sz="1200" b="0">
                <a:solidFill>
                  <a:srgbClr val="3478DC"/>
                </a:solidFill>
              </a:rPr>
              <a:t>Like a student copying notes.</a:t>
            </a:r>
          </a:p>
          <a:p>
            <a:pPr algn="l"/>
            <a:r>
              <a:rPr sz="1200" b="0">
                <a:solidFill>
                  <a:srgbClr val="3478DC"/>
                </a:solidFill>
              </a:rPr>
              <a:t>Takes ~2,000 training rounds.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23360" y="2194560"/>
            <a:ext cx="548640" cy="320040"/>
          </a:xfrm>
          <a:prstGeom prst="right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63440" y="1554480"/>
            <a:ext cx="3200400" cy="1645920"/>
          </a:xfrm>
          <a:prstGeom prst="roundRect">
            <a:avLst>
              <a:gd name="adj" fmla="val 6000"/>
            </a:avLst>
          </a:prstGeom>
          <a:solidFill>
            <a:srgbClr val="FFF0E1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6459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6F51"/>
                </a:solidFill>
              </a:rPr>
              <a:t>Stage B: Discover Patterns</a:t>
            </a:r>
          </a:p>
          <a:p>
            <a:pPr algn="l"/>
            <a:r>
              <a:rPr sz="1200" b="0">
                <a:solidFill>
                  <a:srgbClr val="E76F51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E76F51"/>
                </a:solidFill>
              </a:rPr>
              <a:t>Find k* typical patterns in</a:t>
            </a:r>
          </a:p>
          <a:p>
            <a:pPr algn="l"/>
            <a:r>
              <a:rPr sz="1200" b="0">
                <a:solidFill>
                  <a:srgbClr val="E76F51"/>
                </a:solidFill>
              </a:rPr>
              <a:t>the student's memory slots.</a:t>
            </a:r>
          </a:p>
          <a:p>
            <a:pPr algn="l"/>
            <a:r>
              <a:rPr sz="1200" b="0">
                <a:solidFill>
                  <a:srgbClr val="E76F51"/>
                </a:solidFill>
              </a:rPr>
              <a:t>Uses K-means clustering.</a:t>
            </a:r>
          </a:p>
          <a:p>
            <a:pPr algn="l"/>
            <a:r>
              <a:rPr sz="1200" b="0">
                <a:solidFill>
                  <a:srgbClr val="E76F51"/>
                </a:solidFill>
              </a:rPr>
              <a:t>Discovers R matrix recipe.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955279" y="2194560"/>
            <a:ext cx="548640" cy="320040"/>
          </a:xfrm>
          <a:prstGeom prst="right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0" y="1554480"/>
            <a:ext cx="3200400" cy="1645920"/>
          </a:xfrm>
          <a:prstGeom prst="roundRect">
            <a:avLst>
              <a:gd name="adj" fmla="val 6000"/>
            </a:avLst>
          </a:prstGeom>
          <a:solidFill>
            <a:srgbClr val="E1F8F0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6459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</a:rPr>
              <a:t>Stage C: Final Training</a:t>
            </a:r>
          </a:p>
          <a:p>
            <a:pPr algn="l"/>
            <a:r>
              <a:rPr sz="1200" b="0">
                <a:solidFill>
                  <a:srgbClr val="2A9D8F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2A9D8F"/>
                </a:solidFill>
              </a:rPr>
              <a:t>Train the compact model with</a:t>
            </a:r>
          </a:p>
          <a:p>
            <a:pPr algn="l"/>
            <a:r>
              <a:rPr sz="1200" b="0">
                <a:solidFill>
                  <a:srgbClr val="2A9D8F"/>
                </a:solidFill>
              </a:rPr>
              <a:t>k* slots and the R recipe.</a:t>
            </a:r>
          </a:p>
          <a:p>
            <a:pPr algn="l"/>
            <a:r>
              <a:rPr sz="1200" b="0">
                <a:solidFill>
                  <a:srgbClr val="2A9D8F"/>
                </a:solidFill>
              </a:rPr>
              <a:t>Takes ~2,500 training rounds.</a:t>
            </a:r>
          </a:p>
          <a:p>
            <a:pPr algn="l"/>
            <a:r>
              <a:rPr sz="1200" b="0">
                <a:solidFill>
                  <a:srgbClr val="2A9D8F"/>
                </a:solidFill>
              </a:rPr>
              <a:t>This is the final model!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657600"/>
          <a:ext cx="113385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571500"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Stage A (copy teacher)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Stage B (find patterns)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Stage C (final training)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Total time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M7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 (2,000 rounds)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 (k*=6 found)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 (2,500 rounds)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~4,500 rounds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M8</a:t>
                      </a:r>
                    </a:p>
                  </a:txBody>
                  <a:tcPr>
                    <a:solidFill>
                      <a:srgbClr val="FF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 (2,000 rounds)</a:t>
                      </a:r>
                    </a:p>
                  </a:txBody>
                  <a:tcPr>
                    <a:solidFill>
                      <a:srgbClr val="FF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 (k*=5 found)</a:t>
                      </a:r>
                    </a:p>
                  </a:txBody>
                  <a:tcPr>
                    <a:solidFill>
                      <a:srgbClr val="FF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 (2,500 rounds)</a:t>
                      </a:r>
                    </a:p>
                  </a:txBody>
                  <a:tcPr>
                    <a:solidFill>
                      <a:srgbClr val="FFF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~4,500 rounds</a:t>
                      </a:r>
                    </a:p>
                  </a:txBody>
                  <a:tcPr>
                    <a:solidFill>
                      <a:srgbClr val="FFF0E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M9</a:t>
                      </a:r>
                    </a:p>
                  </a:txBody>
                  <a:tcPr>
                    <a:solidFill>
                      <a:srgbClr val="D2F5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SKIP (reuses M8)</a:t>
                      </a:r>
                    </a:p>
                  </a:txBody>
                  <a:tcPr>
                    <a:solidFill>
                      <a:srgbClr val="D2F5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SKIP (reuses M8)</a:t>
                      </a:r>
                    </a:p>
                  </a:txBody>
                  <a:tcPr>
                    <a:solidFill>
                      <a:srgbClr val="D2F5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 (2,500 rounds)</a:t>
                      </a:r>
                    </a:p>
                  </a:txBody>
                  <a:tcPr>
                    <a:solidFill>
                      <a:srgbClr val="D2F5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~2,500 rounds!</a:t>
                      </a:r>
                    </a:p>
                  </a:txBody>
                  <a:tcPr>
                    <a:solidFill>
                      <a:srgbClr val="D2F5E6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0350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</a:rPr>
              <a:t>M9 is 2-3x faster because it reuses M8's Stage A and B results - no need to redo work!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976"/>
                </a:solidFill>
              </a:rPr>
              <a:t>PFE - M7 / M8 / M9 Visual Comparison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Accuracy Comparison: Who Predicts Best?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6"/>
                </a:solidFill>
              </a:rPr>
              <a:t>R2 = how well the model fits (1.0 = perfect)  |  RMSE = prediction error (lower = better)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554480"/>
          <a:ext cx="56692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11680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8232E"/>
                </a:solidFill>
              </a:rPr>
              <a:t>R2 Score (higher = better)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1554480"/>
          <a:ext cx="54864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5669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8232E"/>
                </a:solidFill>
              </a:rPr>
              <a:t>Error in billions (lower = better)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976"/>
                </a:solidFill>
              </a:rPr>
              <a:t>PFE - M7 / M8 / M9 Visual Comparison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Output Quality Per Variable: KL, KR, KLR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6"/>
                </a:solidFill>
              </a:rPr>
              <a:t>How well does each model predict each stiffness curve?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55448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389120" y="155448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321040" y="1554480"/>
          <a:ext cx="3657600" cy="27432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7160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478DC"/>
                </a:solidFill>
              </a:rPr>
              <a:t>KL (side-to-side)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76F51"/>
                </a:solidFill>
              </a:rPr>
              <a:t>KR (tilting)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A9D8F"/>
                </a:solidFill>
              </a:rPr>
              <a:t>KLR (coupling)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54880"/>
            <a:ext cx="11338560" cy="1371600"/>
          </a:xfrm>
          <a:prstGeom prst="roundRect">
            <a:avLst>
              <a:gd name="adj" fmla="val 6000"/>
            </a:avLst>
          </a:prstGeom>
          <a:solidFill>
            <a:srgbClr val="FAFAF5"/>
          </a:solidFill>
          <a:ln w="12700">
            <a:solidFill>
              <a:srgbClr val="5A6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232E"/>
                </a:solidFill>
              </a:rPr>
              <a:t>What this tells us: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  KL:  M7 is slightly best (0.9910) but all are very close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  KR:  M9 is best (0.9842) - this is the hardest variable to predict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  KLR: M9 is best (0.9865) - SwiGLU helps most on difficult variables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  All student models beat the M6 teacher on every variable!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976"/>
                </a:solidFill>
              </a:rPr>
              <a:t>PFE - M7 / M8 / M9 Visual Comparison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Model Size: How Many Parameters?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6"/>
                </a:solidFill>
              </a:rPr>
              <a:t>Fewer parameters = smaller model = faster to run = less memory needed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828800"/>
            <a:ext cx="7315200" cy="640080"/>
          </a:xfrm>
          <a:prstGeom prst="roundRect">
            <a:avLst>
              <a:gd name="adj" fmla="val 6000"/>
            </a:avLst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7451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A0A0A0"/>
                </a:solidFill>
              </a:rPr>
              <a:t>M6 (Teacher)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92024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56,646 params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</a:rPr>
              <a:t>0% (reference)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926080"/>
            <a:ext cx="7202074" cy="640080"/>
          </a:xfrm>
          <a:prstGeom prst="roundRect">
            <a:avLst>
              <a:gd name="adj" fmla="val 6000"/>
            </a:avLst>
          </a:prstGeom>
          <a:solidFill>
            <a:srgbClr val="3478DC"/>
          </a:solidFill>
          <a:ln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971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3478DC"/>
                </a:solidFill>
              </a:rPr>
              <a:t>M7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017520"/>
            <a:ext cx="683631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55,770 params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0954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78DC"/>
                </a:solidFill>
              </a:rPr>
              <a:t>1.5% smaller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4023360"/>
            <a:ext cx="5874010" cy="640080"/>
          </a:xfrm>
          <a:prstGeom prst="roundRect">
            <a:avLst>
              <a:gd name="adj" fmla="val 6000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4069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E76F51"/>
                </a:solidFill>
              </a:rPr>
              <a:t>M8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114800"/>
            <a:ext cx="550825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45,486 params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289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76F51"/>
                </a:solidFill>
              </a:rPr>
              <a:t>19.7% smaller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5120640"/>
            <a:ext cx="5876076" cy="640080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516635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2A9D8F"/>
                </a:solidFill>
              </a:rPr>
              <a:t>M9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212079"/>
            <a:ext cx="55103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45,502 params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4956" y="52120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9D8F"/>
                </a:solidFill>
              </a:rPr>
              <a:t>19.7% smaller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692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32E"/>
                </a:solidFill>
              </a:rPr>
              <a:t>M8 and M9 are nearly the same size (only 16 params difference!) but M9 is more accurate thanks to smarter SwiGLU gating.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976"/>
                </a:solidFill>
              </a:rPr>
              <a:t>PFE - M7 / M8 / M9 Visual Comparison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Where Do the Parameters Live?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6"/>
                </a:solidFill>
              </a:rPr>
              <a:t>The MLP is where M8/M9 saved most space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55448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5544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8232E"/>
                </a:solidFill>
              </a:rPr>
              <a:t>Reading the chart: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The Slot MLP (orange/top section) is where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M8 and M9 saved the most space: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  M6/M7: MLP = 16,512 params (huge!)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  M8:    MLP =  6,256 params (-62%)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  M9:    MLP =  6,272 params (-62%)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Slot Attention (middle) stays the same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in all models - it's already efficient.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The MLP was the "fat" part of the model.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M8 put it on a diet (bottleneck).</a:t>
            </a:r>
          </a:p>
          <a:p>
            <a:pPr algn="l"/>
            <a:r>
              <a:rPr sz="1300" b="0">
                <a:solidFill>
                  <a:srgbClr val="18232E"/>
                </a:solidFill>
              </a:rPr>
              <a:t>M9 made it smarter instead (SwiGLU).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976"/>
                </a:solidFill>
              </a:rPr>
              <a:t>PFE - M7 / M8 / M9 Visual Comparison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Where Does M9 Struggle? (Worst Cases)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6"/>
                </a:solidFill>
              </a:rPr>
              <a:t>Most predictions are excellent, but a few edge cases are harder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554480"/>
          <a:ext cx="6858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89520" y="1554480"/>
            <a:ext cx="41148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80" y="16276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A261"/>
                </a:solidFill>
              </a:rPr>
              <a:t>What This Means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80" y="1993391"/>
            <a:ext cx="3840480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8232E"/>
                </a:solidFill>
              </a:rPr>
              <a:t>  204 test scenarios evaluated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Average error: only 2.37%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Median error:  only 1.36%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Most predictions are very accurate!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A few extreme pile configurations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(unusual soil + pile combos) are harder.</a:t>
            </a:r>
          </a:p>
          <a:p>
            <a:pPr algn="l"/>
            <a:r>
              <a:rPr sz="1200" b="0">
                <a:solidFill>
                  <a:srgbClr val="18232E"/>
                </a:solidFill>
              </a:rPr>
              <a:t>  Scenario 56 is the worst (34% error).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029200"/>
            <a:ext cx="11338560" cy="1371600"/>
          </a:xfrm>
          <a:prstGeom prst="roundRect">
            <a:avLst>
              <a:gd name="adj" fmla="val 6000"/>
            </a:avLst>
          </a:prstGeom>
          <a:solidFill>
            <a:srgbClr val="FAFAF5"/>
          </a:solidFill>
          <a:ln w="12700">
            <a:solidFill>
              <a:srgbClr val="5A6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232E"/>
                </a:solidFill>
              </a:rPr>
              <a:t>Overall M9 Quality:</a:t>
            </a:r>
          </a:p>
          <a:p>
            <a:pPr algn="l"/>
            <a:r>
              <a:rPr sz="1400" b="0">
                <a:solidFill>
                  <a:srgbClr val="18232E"/>
                </a:solidFill>
              </a:rPr>
              <a:t>  Average accuracy (R2):  0.9829  -&gt;  Very good (close to 1.0 = perfect)</a:t>
            </a:r>
          </a:p>
          <a:p>
            <a:pPr algn="l"/>
            <a:r>
              <a:rPr sz="1400" b="0">
                <a:solidFill>
                  <a:srgbClr val="18232E"/>
                </a:solidFill>
              </a:rPr>
              <a:t>  Average error (MAPE):   2.37%   -&gt;  Very low (close to 0% = perfect)</a:t>
            </a:r>
          </a:p>
          <a:p>
            <a:pPr algn="l"/>
            <a:r>
              <a:rPr sz="1400" b="0">
                <a:solidFill>
                  <a:srgbClr val="18232E"/>
                </a:solidFill>
              </a:rPr>
              <a:t>  95th percentile error:  6.28%   -&gt;  Even worst 5% are below 6.3%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976"/>
                </a:solidFill>
              </a:rPr>
              <a:t>PFE - M7 / M8 / M9 Visual Comparison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All Differences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6"/>
                </a:solidFill>
              </a:rPr>
              <a:t>A simple comparison of everything that changed between M7, M8, and M9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386861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What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M7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M8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M9</a:t>
                      </a:r>
                    </a:p>
                  </a:txBody>
                  <a:tcPr>
                    <a:solidFill>
                      <a:srgbClr val="242E3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MLP brain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Wide (big)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Bottleneck (small)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SwiGLU (smart)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MLP brain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128 neurons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48 neurons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32 neurons (x2 paths)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MLP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16,512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6,256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6,272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Has feature gating?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 (the key advantage)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Recipe (R)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Fixed (frozen)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Learns during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Learns during training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Number of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 prototypes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 prototypes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 (reused from M8)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Physics rules?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 (penalty if wrong)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Yes (same as M8)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Training stages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 + B + C (slow)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 + B + C (slow)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C only (fast!)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Total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55,770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45,486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45,502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Size vs teacher M6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1.5% smaller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19.7% smaller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19.7% smaller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Accuracy (R2)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0.9915  BEST</a:t>
                      </a:r>
                    </a:p>
                  </a:txBody>
                  <a:tcPr/>
                </a:tc>
              </a:tr>
              <a:tr h="386868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Error (RMSE x1e9)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19.6  BEST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976"/>
                </a:solidFill>
              </a:rPr>
              <a:t>PFE - M7 / M8 / M9 Visual Comparison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232E"/>
                </a:solidFill>
              </a:rPr>
              <a:t>The Winner: M9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976"/>
                </a:solidFill>
              </a:rPr>
              <a:t>Best accuracy, nearly same size, and fastest to train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463040"/>
            <a:ext cx="4572000" cy="3474720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64592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M9 - SwiGLU Psi-NN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  Accuracy (R2):  0.9915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  Parameters:     45,502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  Compression:    19.7%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  Training:       Stage C only (fast!)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  Best accuracy of all versions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  Nearly same size as M8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  2-3x faster to train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  Enforces physics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303520"/>
            <a:ext cx="26517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349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A9D8F"/>
                </a:solidFill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15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8232E"/>
                </a:solidFill>
              </a:rPr>
              <a:t>M9 wins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5303520"/>
            <a:ext cx="26517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5349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76F51"/>
                </a:solidFill>
              </a:rPr>
              <a:t>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5715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8232E"/>
                </a:solidFill>
              </a:rPr>
              <a:t>M8 wins (by 16)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5303520"/>
            <a:ext cx="26517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5349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A9D8F"/>
                </a:solidFill>
              </a:rPr>
              <a:t>Speed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715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8232E"/>
                </a:solidFill>
              </a:rPr>
              <a:t>M9 wins (3x)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5303520"/>
            <a:ext cx="26517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5349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4A261"/>
                </a:solidFill>
              </a:rPr>
              <a:t>Physics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5715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8232E"/>
                </a:solidFill>
              </a:rPr>
              <a:t>M8 = M9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976"/>
                </a:solidFill>
              </a:rPr>
              <a:t>PFE - M7 / M8 / M9 Visual Comparison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Summary: The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CE6F0"/>
                </a:solidFill>
              </a:rPr>
              <a:t>M7 -&gt; M8 -&gt; M9: each version gets smarter, not bigger</a:t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>M7 (Baseline):</a:t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>   Uses a big wide brain (MLP with 128 neurons) and a fixed recipe.</a:t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>   Works well but wastes parameters. Only 1.5% smaller than teacher.</a:t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>M8 (Efficient):</a:t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>   Shrinks the brain (48 neurons = 62% less), makes recipe learnable,</a:t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>   adds physics rules. 19.7% smaller than teacher. Smart compression.</a:t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>M9 (SwiGLU - Best):</a:t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>   Replaces the brain with a gated version (SwiGLU).</a:t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>   The gate decides which features matter - like a smart filter.</a:t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>   Same small size as M8, but BETTER accuracy (0.9915 vs 0.9882).</a:t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>   Skips 2 training stages -&gt; trains 2-3x faster.</a:t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DCE6F0"/>
                </a:solidFill>
              </a:rPr>
              <a:t>Bottom line: M9 is the best model. Use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976"/>
                </a:solidFill>
              </a:rPr>
              <a:t>PFE - M7 / M8 / M9 Visual Comparison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