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Params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M7</c:v>
                </c:pt>
                <c:pt idx="1">
                  <c:v>M8</c:v>
                </c:pt>
                <c:pt idx="2">
                  <c:v>M9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55770</c:v>
                </c:pt>
                <c:pt idx="1">
                  <c:v>45486</c:v>
                </c:pt>
                <c:pt idx="2">
                  <c:v>45502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AA-42CF-A29D-0199C00141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M7</c:v>
                </c:pt>
                <c:pt idx="1">
                  <c:v>M8</c:v>
                </c:pt>
                <c:pt idx="2">
                  <c:v>M9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0.98966152170648169</c:v>
                </c:pt>
                <c:pt idx="1">
                  <c:v>0.98822025521096646</c:v>
                </c:pt>
                <c:pt idx="2">
                  <c:v>0.99150578048615534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BA-4F47-9C9B-99781449AE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RMSE (x1e9)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M7</c:v>
                </c:pt>
                <c:pt idx="1">
                  <c:v>M8</c:v>
                </c:pt>
                <c:pt idx="2">
                  <c:v>M9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21.600351516072195</c:v>
                </c:pt>
                <c:pt idx="1">
                  <c:v>23.056875226145145</c:v>
                </c:pt>
                <c:pt idx="2">
                  <c:v>19.579168713247132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71-4D56-9BF7-C3D05D4873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curve MAPE %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S56</c:v>
                </c:pt>
                <c:pt idx="1">
                  <c:v>S141</c:v>
                </c:pt>
                <c:pt idx="2">
                  <c:v>S73</c:v>
                </c:pt>
                <c:pt idx="3">
                  <c:v>S84</c:v>
                </c:pt>
                <c:pt idx="4">
                  <c:v>S60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34.35</c:v>
                </c:pt>
                <c:pt idx="1">
                  <c:v>25.312999999999999</c:v>
                </c:pt>
                <c:pt idx="2">
                  <c:v>22.411999999999999</c:v>
                </c:pt>
                <c:pt idx="3">
                  <c:v>13.263</c:v>
                </c:pt>
                <c:pt idx="4">
                  <c:v>13.103999999999999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ED-4837-A490-AA96D8EAFA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M7 vs M8 vs M9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Architecture, parameters, accuracy, and practical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5661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190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6FDF"/>
                </a:solidFill>
              </a:rPr>
              <a:t>M7 (baseline Psi-NN)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3291840" cy="2359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232E"/>
                </a:solidFill>
              </a:defRPr>
            </a:pPr>
            <a:r>
              <a:t>- Wide slot MLP (64-&gt;128-&gt;64)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Fixed relation matrix R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k*=6 prototypes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Params: 55,770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645920"/>
            <a:ext cx="35661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7190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6F51"/>
                </a:solidFill>
              </a:rPr>
              <a:t>M8 (efficient)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121408"/>
            <a:ext cx="3291840" cy="2359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232E"/>
                </a:solidFill>
              </a:defRPr>
            </a:pPr>
            <a:r>
              <a:t>- Bottleneck MLP (64-&gt;48-&gt;64)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Learnable relation matrix R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Physics monotonic regularization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Params: 45,486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30175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1907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9D8F"/>
                </a:solidFill>
              </a:rPr>
              <a:t>M9 (SwiGLU)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21408"/>
            <a:ext cx="2057551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232E"/>
                </a:solidFill>
              </a:defRPr>
            </a:pPr>
            <a:r>
              <a:rPr dirty="0"/>
              <a:t>- </a:t>
            </a:r>
            <a:r>
              <a:rPr dirty="0" err="1"/>
              <a:t>SwiGLU</a:t>
            </a:r>
            <a:r>
              <a:rPr dirty="0"/>
              <a:t>, hidden=32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rPr dirty="0"/>
              <a:t>- Same structured pipeline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rPr dirty="0"/>
              <a:t>- Reuses M8 discovery k*=5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rPr dirty="0"/>
              <a:t>- Params: 45,502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Comparative model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Architecture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What changed from M7 to M8 to M9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34747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1A6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6FDF"/>
                </a:solidFill>
              </a:rPr>
              <a:t>M7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Wide MLP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Static R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No physics monotonic loss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4747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755648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76F51"/>
                </a:solidFill>
              </a:rPr>
              <a:t>M8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Bottleneck MLP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Learnable R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Physics monotonic loss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645920"/>
            <a:ext cx="34747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755648"/>
            <a:ext cx="1832746" cy="10310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2A9D8F"/>
                </a:solidFill>
              </a:rPr>
              <a:t>M9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rPr dirty="0"/>
              <a:t>- </a:t>
            </a:r>
            <a:r>
              <a:rPr dirty="0" err="1"/>
              <a:t>SwiGLU</a:t>
            </a:r>
            <a:endParaRPr dirty="0"/>
          </a:p>
          <a:p>
            <a:pPr>
              <a:defRPr sz="1300">
                <a:solidFill>
                  <a:srgbClr val="18232E"/>
                </a:solidFill>
              </a:defRPr>
            </a:pPr>
            <a:r>
              <a:rPr dirty="0"/>
              <a:t>- Learnable R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rPr dirty="0"/>
              <a:t>- Physics monotonic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9663" y="242316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F4A261"/>
                </a:solidFill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8704" y="242316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F4A261"/>
                </a:solidFill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Comparative model study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Model Size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M8/M9 keep strong compression vs M6 teacher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62179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23760" y="1828800"/>
            <a:ext cx="44805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32E"/>
                </a:solidFill>
              </a:defRPr>
            </a:pPr>
            <a:r>
              <a:t>Compression vs M6 (56,646 params):</a:t>
            </a:r>
          </a:p>
          <a:p>
            <a:pPr>
              <a:defRPr sz="1300" b="0">
                <a:solidFill>
                  <a:srgbClr val="18232E"/>
                </a:solidFill>
              </a:defRPr>
            </a:pPr>
            <a:r>
              <a:t>- M7: 1.5%</a:t>
            </a:r>
          </a:p>
          <a:p>
            <a:pPr>
              <a:defRPr sz="1300" b="0">
                <a:solidFill>
                  <a:srgbClr val="18232E"/>
                </a:solidFill>
              </a:defRPr>
            </a:pPr>
            <a:r>
              <a:t>- M8: 19.7%</a:t>
            </a:r>
          </a:p>
          <a:p>
            <a:pPr>
              <a:defRPr sz="1300" b="0">
                <a:solidFill>
                  <a:srgbClr val="18232E"/>
                </a:solidFill>
              </a:defRPr>
            </a:pPr>
            <a:r>
              <a:t>- M9: 19.7%</a:t>
            </a:r>
          </a:p>
          <a:p>
            <a:pPr>
              <a:defRPr sz="1300" b="0">
                <a:solidFill>
                  <a:srgbClr val="18232E"/>
                </a:solidFill>
              </a:defRPr>
            </a:pPr>
            <a:endParaRPr/>
          </a:p>
          <a:p>
            <a:pPr>
              <a:defRPr sz="1500" b="1">
                <a:solidFill>
                  <a:srgbClr val="18232E"/>
                </a:solidFill>
              </a:defRPr>
            </a:pPr>
            <a:r>
              <a:t>Takeaway:</a:t>
            </a:r>
          </a:p>
          <a:p>
            <a:pPr>
              <a:defRPr sz="1300" b="0">
                <a:solidFill>
                  <a:srgbClr val="18232E"/>
                </a:solidFill>
              </a:defRPr>
            </a:pPr>
            <a:r>
              <a:t>M8 and M9 deliver near-identical compact size,</a:t>
            </a:r>
          </a:p>
          <a:p>
            <a:pPr>
              <a:defRPr sz="1300" b="0">
                <a:solidFill>
                  <a:srgbClr val="18232E"/>
                </a:solidFill>
              </a:defRPr>
            </a:pPr>
            <a:r>
              <a:t>with M9 only +16 params vs M8.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Comparative model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Accuracy Comparison (Overall)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Higher R2 and lower RMSE indicate better fit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554480"/>
          <a:ext cx="5577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55448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77440" y="57150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R2 (higher is better)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57150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RMSE in billions (lower is better)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Comparative model study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Per-variable 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KL, KR, KLR behavior across models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241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82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KL R2</a:t>
                      </a:r>
                    </a:p>
                  </a:txBody>
                  <a:tcPr>
                    <a:solidFill>
                      <a:srgbClr val="182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KR R2</a:t>
                      </a:r>
                    </a:p>
                  </a:txBody>
                  <a:tcPr>
                    <a:solidFill>
                      <a:srgbClr val="182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KLR R2</a:t>
                      </a:r>
                    </a:p>
                  </a:txBody>
                  <a:tcPr>
                    <a:solidFill>
                      <a:srgbClr val="182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M7</a:t>
                      </a:r>
                    </a:p>
                  </a:txBody>
                  <a:tcPr>
                    <a:solidFill>
                      <a:srgbClr val="E4F0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0.9910</a:t>
                      </a:r>
                    </a:p>
                  </a:txBody>
                  <a:tcPr>
                    <a:solidFill>
                      <a:srgbClr val="E4F0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0.9807</a:t>
                      </a:r>
                    </a:p>
                  </a:txBody>
                  <a:tcPr>
                    <a:solidFill>
                      <a:srgbClr val="E4F0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0.9860</a:t>
                      </a:r>
                    </a:p>
                  </a:txBody>
                  <a:tcPr>
                    <a:solidFill>
                      <a:srgbClr val="E4F0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M8</a:t>
                      </a:r>
                    </a:p>
                  </a:txBody>
                  <a:tcPr>
                    <a:solidFill>
                      <a:srgbClr val="FFEC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0.9888</a:t>
                      </a:r>
                    </a:p>
                  </a:txBody>
                  <a:tcPr>
                    <a:solidFill>
                      <a:srgbClr val="FFEC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0.9780</a:t>
                      </a:r>
                    </a:p>
                  </a:txBody>
                  <a:tcPr>
                    <a:solidFill>
                      <a:srgbClr val="FFEC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0.9845</a:t>
                      </a:r>
                    </a:p>
                  </a:txBody>
                  <a:tcPr>
                    <a:solidFill>
                      <a:srgbClr val="FF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M9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0.9895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0.9842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0.9865</a:t>
                      </a:r>
                    </a:p>
                  </a:txBody>
                  <a:tcPr>
                    <a:solidFill>
                      <a:srgbClr val="E1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480560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Observed trend:</a:t>
            </a:r>
          </a:p>
          <a:p>
            <a:pPr>
              <a:defRPr sz="1300" b="0"/>
            </a:pPr>
            <a:r>
              <a:t>- M9 improves overall R2 and RMSE vs both M7 and M8.</a:t>
            </a:r>
          </a:p>
          <a:p>
            <a:pPr>
              <a:defRPr sz="1300" b="0"/>
            </a:pPr>
            <a:r>
              <a:t>- KR remains the hardest variable; this is visible in all model versions.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Comparative model study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Pipeline Stage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Practical training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365760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6FDF"/>
                </a:solidFill>
              </a:rPr>
              <a:t>M7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3383280" cy="3639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232E"/>
                </a:solidFill>
              </a:defRPr>
            </a:pPr>
            <a:r>
              <a:t>- Stage A: train student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Stage B: discover k* and relation matrix R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Stage C: train structured model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Full process but larger final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65760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6F51"/>
                </a:solidFill>
              </a:rPr>
              <a:t>M8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938528"/>
            <a:ext cx="3383280" cy="3639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232E"/>
                </a:solidFill>
              </a:defRPr>
            </a:pPr>
            <a:r>
              <a:t>- Same 3 stages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More compact model design in Stage C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Introduces learnable relation matrix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Good compression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47472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53619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9D8F"/>
                </a:solidFill>
              </a:rPr>
              <a:t>M9 Practical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38528"/>
            <a:ext cx="3200400" cy="3639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232E"/>
                </a:solidFill>
              </a:defRPr>
            </a:pPr>
            <a:r>
              <a:t>- Reuses M8 Stage B artifacts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Skips expensive Stage A/B retraining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Runs Stage C with SwiGLU</a:t>
            </a:r>
          </a:p>
          <a:p>
            <a:pPr>
              <a:defRPr sz="1300">
                <a:solidFill>
                  <a:srgbClr val="18232E"/>
                </a:solidFill>
              </a:defRPr>
            </a:pPr>
            <a:r>
              <a:t>- Best speed/quality 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Comparative model study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M9 Worst-case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From scenario_analysis.json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1155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Global curve metrics: Avg MAPE=2.372%, Avg R2=0.98292, Test scenarios=204</a:t>
            </a:r>
          </a:p>
          <a:p>
            <a:pPr>
              <a:defRPr sz="1400" b="0"/>
            </a:pPr>
            <a:r>
              <a:t>Worst scenario ID=56 with Avg MAPE=34.35% and Avg R2=0.1195</a:t>
            </a:r>
          </a:p>
          <a:p>
            <a:pPr>
              <a:defRPr sz="1400" b="0"/>
            </a:pPr>
            <a:r>
              <a:t>Interpretation: most scenarios are very accurate, but a few edge-case parameter combinations remain difficult.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3200400"/>
          <a:ext cx="10972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Comparative model study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Decision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A5A68"/>
                </a:solidFill>
              </a:rPr>
              <a:t>Choosing the best version for deployment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762041"/>
              </p:ext>
            </p:extLst>
          </p:nvPr>
        </p:nvGraphicFramePr>
        <p:xfrm>
          <a:off x="731520" y="16459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>
                    <a:solidFill>
                      <a:srgbClr val="182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182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M8</a:t>
                      </a:r>
                    </a:p>
                  </a:txBody>
                  <a:tcPr>
                    <a:solidFill>
                      <a:srgbClr val="182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M9</a:t>
                      </a:r>
                    </a:p>
                  </a:txBody>
                  <a:tcPr>
                    <a:solidFill>
                      <a:srgbClr val="182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Best</a:t>
                      </a:r>
                    </a:p>
                  </a:txBody>
                  <a:tcPr>
                    <a:solidFill>
                      <a:srgbClr val="182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t>Overall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t>Param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t>Compression vs M6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M8/M9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212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A9D8F"/>
                </a:solidFill>
              </a:defRPr>
            </a:pPr>
            <a:r>
              <a:rPr dirty="0"/>
              <a:t>Final recommendation: M9 is the best balanced choice (best accuracy, nearly same compact size as M8, and faster practical workflow).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8"/>
                </a:solidFill>
              </a:rPr>
              <a:t>PFE - Comparative model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538</Words>
  <Application>Microsoft Office PowerPoint</Application>
  <PresentationFormat>Widescreen</PresentationFormat>
  <Paragraphs>125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Youssef Khallouqi</cp:lastModifiedBy>
  <cp:revision>2</cp:revision>
  <dcterms:created xsi:type="dcterms:W3CDTF">2013-01-27T09:14:16Z</dcterms:created>
  <dcterms:modified xsi:type="dcterms:W3CDTF">2026-04-19T07:47:42Z</dcterms:modified>
  <cp:category/>
</cp:coreProperties>
</file>