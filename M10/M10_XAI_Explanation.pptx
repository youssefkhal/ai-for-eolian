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13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84FC"/>
                </a:solidFill>
                <a:latin typeface="Segoe UI"/>
              </a:defRPr>
            </a:pPr>
            <a:r>
              <a:t>M10: Explainable AI (XAI)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Attention Rollout  ·  Gradient × Input (LRP)  ·  Integrated 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Three complementary techniques to interpret the SwiGLU Ψ-NN Slot-Attention Transformer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0967" y="4572000"/>
            <a:ext cx="2926080" cy="146304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23847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Attention Rollout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3847" y="5029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Segoe UI"/>
              </a:defRPr>
            </a:pPr>
            <a:r>
              <a:t>Cross + 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847" y="5349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Traces information flow</a:t>
            </a:r>
            <a:br/>
            <a:r>
              <a:t>through slots across iterations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807" y="4572000"/>
            <a:ext cx="2926080" cy="146304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15687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Gradient ×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5687" y="5029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Segoe UI"/>
              </a:defRPr>
            </a:pPr>
            <a:r>
              <a:t>LRP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5687" y="5349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Maps relevance back to</a:t>
            </a:r>
            <a:br/>
            <a:r>
              <a:t>8 raw input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4647" y="4572000"/>
            <a:ext cx="2926080" cy="146304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07527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Integrated Gradients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527" y="5029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Segoe UI"/>
              </a:defRPr>
            </a:pPr>
            <a:r>
              <a:t>Gold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7527" y="5349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Path-based attribution</a:t>
            </a:r>
            <a:br/>
            <a:r>
              <a:t>satisfying completeness axiom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Segoe UI"/>
              </a:defRPr>
            </a:pPr>
            <a:r>
              <a:t>The 3 Iterations &amp; Rollout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How the Slot-Attention Transformer refines its internal representations through recurrence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502920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Recurrent Slot Attention (num_iterations = 3)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The model processes the input through 3 sequential iterations.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In each iteration, the 21 slots update via three operations: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1. Cross-Attention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Slots query the input embedding to extract relevant soil/pile information.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2. Self-Attention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Slots attend to each other, sharing and redistributing information.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3. SwiGLU MLP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Each slot independently processes its state through a gated feedforward network.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Each iteration refines the slot representations. After 3 iterations, the final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slot states are decoded into the KL, KR, KLR stiffness degradation curves.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669280" cy="502920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5"/>
                </a:solidFill>
                <a:latin typeface="Segoe UI"/>
              </a:defRPr>
            </a:pPr>
            <a:r>
              <a:rPr dirty="0"/>
              <a:t>What is Rollout?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A single iteration's attention map is only a local snapshot.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Rollout aggregates all iterations into one global summary.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00D2FF"/>
                </a:solidFill>
                <a:latin typeface="Segoe UI"/>
              </a:defRPr>
            </a:pPr>
            <a:r>
              <a:rPr dirty="0"/>
              <a:t>Cross-Attention Rollout: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    Averages the cross-attention weights across iterations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    and </a:t>
            </a:r>
            <a:r>
              <a:rPr dirty="0" err="1"/>
              <a:t>normalises</a:t>
            </a:r>
            <a:r>
              <a:rPr dirty="0"/>
              <a:t> to sum to 1 across slots.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00FF88"/>
                </a:solidFill>
                <a:latin typeface="Segoe UI"/>
              </a:defRPr>
            </a:pPr>
            <a:r>
              <a:rPr dirty="0"/>
              <a:t>Self-Attention Rollout: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    Accounts for residual connections via mixing: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069080"/>
            <a:ext cx="4937760" cy="502920"/>
          </a:xfrm>
          <a:prstGeom prst="roundRect">
            <a:avLst/>
          </a:prstGeom>
          <a:solidFill>
            <a:srgbClr val="141430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4142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CC15"/>
                </a:solidFill>
                <a:latin typeface="Consolas"/>
              </a:defRPr>
            </a:pPr>
            <a:r>
              <a:t>A'ₗ = (1 − w)·I + w·Aₗ     (w = 0.5)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9999AA"/>
                </a:solidFill>
                <a:latin typeface="Segoe UI"/>
              </a:defRPr>
            </a:pPr>
            <a:r>
              <a:t>residual mixing per iteration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709160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    Then multiplies across all iterations: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5074920"/>
            <a:ext cx="4937760" cy="502920"/>
          </a:xfrm>
          <a:prstGeom prst="roundRect">
            <a:avLst/>
          </a:prstGeom>
          <a:solidFill>
            <a:srgbClr val="141430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5148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CC15"/>
                </a:solidFill>
                <a:latin typeface="Consolas"/>
              </a:defRPr>
            </a:pPr>
            <a:r>
              <a:t>R_total = A'₃  ×  A'₂  ×  A'₁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9999AA"/>
                </a:solidFill>
                <a:latin typeface="Segoe UI"/>
              </a:defRPr>
            </a:pPr>
            <a:r>
              <a:t>matrix product captures multi-step information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715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Result: a [21×21] matrix showing the total accumulated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information flow between all slot pairs.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Segoe UI"/>
              </a:defRPr>
            </a:pPr>
            <a:r>
              <a:t>Attention Rollout: Cross-Attention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Quantifying how each slot extracts information from the input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502920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Mechanism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Cross-Attention connects Slots (queries) to the Input Embedding (key/value).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Architecture: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Query:  21 slot vectors  [B, 21, 64]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Key/Value:  1 input embedding  [B, 1, 64]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Output:  attention weights  [B, 21, 1]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Since there is only 1 source token, each weight simply tells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us how strongly each of the 21 slots pulls from the input.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Rollout Computation: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1. Extract [B, 21, 1] weights per iteration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2. Squeeze to [B, 21] per iteration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3. Average across 3 iterations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4. Normalise so weights sum to 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669280" cy="502920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5"/>
                </a:solidFill>
                <a:latin typeface="Segoe UI"/>
              </a:defRPr>
            </a:pPr>
            <a:r>
              <a:t>Output &amp; Interpretation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FF88"/>
                </a:solidFill>
                <a:latin typeface="Segoe UI"/>
              </a:defRPr>
            </a:pPr>
            <a:r>
              <a:t>Result Shape:  [B, 21]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Each value represents the normalised importance of one slot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in extracting information from the soil/pile input features.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Interpretation: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Slot 1 (Initial) captures the initial stiffness state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Slots 2–21 (Drop slots) capture degradation increments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High cross-attention = slot actively queries input features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Low cross-attention = slot relies more on self-attention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Visualisation: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Displayed as bar charts (one per iteration + rollout)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in the M10 XAI Dashboard web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5120640"/>
            <a:ext cx="4937760" cy="640080"/>
          </a:xfrm>
          <a:prstGeom prst="roundRect">
            <a:avLst/>
          </a:prstGeom>
          <a:solidFill>
            <a:srgbClr val="141430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51937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CC15"/>
                </a:solidFill>
                <a:latin typeface="Consolas"/>
              </a:defRPr>
            </a:pPr>
            <a:r>
              <a:t>rollout = mean(attn_iter1, attn_iter2, attn_iter3)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9999AA"/>
                </a:solidFill>
                <a:latin typeface="Segoe UI"/>
              </a:defRPr>
            </a:pPr>
            <a:r>
              <a:t>normalised:  rollout / Σ(rollout) → sums to 1.0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8"/>
                </a:solidFill>
                <a:latin typeface="Segoe UI"/>
              </a:defRPr>
            </a:pPr>
            <a:r>
              <a:t>Attention Rollout: Self-Attention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Tracking slot-to-slot information flow across all iterations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502920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Mechanism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Self-Attention computes attention weights between all 21 slots.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Architecture: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Query/Key/Value:  all 21 slots  [B, 21, 64]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Output:  attention matrix  [B, 21, 21]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Aᵢⱼ = how much slot i attends to slot j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6B6B"/>
                </a:solidFill>
                <a:latin typeface="Segoe UI"/>
              </a:defRPr>
            </a:pPr>
            <a:r>
              <a:t>Residual Connection Problem: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The model uses residual connections: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slots = LayerNorm(slots + self_attn(slots))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This means each slot retains its previous state.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Raw attention matrices alone miss this identity path.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Solution — Residual Mixing: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Mix attention with identity matrix before rollout.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669280" cy="502920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5"/>
                </a:solidFill>
                <a:latin typeface="Segoe UI"/>
              </a:defRPr>
            </a:pPr>
            <a:r>
              <a:t>Computation Steps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00D2FF"/>
                </a:solidFill>
                <a:latin typeface="Segoe UI"/>
              </a:defRPr>
            </a:pPr>
            <a:r>
              <a:t>Step 1: Residual Mixing (per iteration)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103120"/>
            <a:ext cx="4937760" cy="502920"/>
          </a:xfrm>
          <a:prstGeom prst="roundRect">
            <a:avLst/>
          </a:prstGeom>
          <a:solidFill>
            <a:srgbClr val="141430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2176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CC15"/>
                </a:solidFill>
                <a:latin typeface="Consolas"/>
              </a:defRPr>
            </a:pPr>
            <a:r>
              <a:t>A'ₗ = 0.5 · I₂₁ₓ₂₁ + 0.5 · Aₗ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9999AA"/>
                </a:solidFill>
                <a:latin typeface="Segoe UI"/>
              </a:defRPr>
            </a:pPr>
            <a:r>
              <a:t>50% identity (residual) + 50% attention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00D2FF"/>
                </a:solidFill>
                <a:latin typeface="Segoe UI"/>
              </a:defRPr>
            </a:pPr>
            <a:r>
              <a:t>Step 2: Row Normalisation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Each row of A'ₗ is re-normalised to sum to 1.0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00D2FF"/>
                </a:solidFill>
                <a:latin typeface="Segoe UI"/>
              </a:defRPr>
            </a:pPr>
            <a:r>
              <a:t>Step 3: Matrix Multiplication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931920"/>
            <a:ext cx="4937760" cy="502920"/>
          </a:xfrm>
          <a:prstGeom prst="roundRect">
            <a:avLst/>
          </a:prstGeom>
          <a:solidFill>
            <a:srgbClr val="141430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4005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CC15"/>
                </a:solidFill>
                <a:latin typeface="Consolas"/>
              </a:defRPr>
            </a:pPr>
            <a:r>
              <a:t>R = A'₃ × A'₂ × A'₁     [B, 21, 21]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9999AA"/>
                </a:solidFill>
                <a:latin typeface="Segoe UI"/>
              </a:defRPr>
            </a:pPr>
            <a:r>
              <a:t>matrix product propagates flow across iterations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 algn="l"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00FF88"/>
                </a:solidFill>
                <a:latin typeface="Segoe UI"/>
              </a:defRPr>
            </a:pPr>
            <a:r>
              <a:t>Result Shape:  [B, 21, 21]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Rᵢⱼ = cumulative information flow from slot j to slot i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across all 3 iterations, accounting for residual paths.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9999AA"/>
                </a:solidFill>
                <a:latin typeface="Segoe UI"/>
              </a:defRPr>
            </a:pPr>
            <a:r>
              <a:t>Visualised as 21×21 heatmaps in the XAI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500"/>
                </a:solidFill>
                <a:latin typeface="Segoe UI"/>
              </a:defRPr>
            </a:pPr>
            <a:r>
              <a:t>Gradient × Input: LRP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Mapping relevance from model output back to the 8 raw input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502920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Mechanism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For each output variable (KL, KR, KLR) at each of the 21 steps: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1. Forward pass: compute the output prediction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2. Backward pass: compute ∂output/∂xⱼ for each input feature j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3. Multiply: attributionⱼ = xⱼ × ∂output/∂xⱼ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4937760" cy="502920"/>
          </a:xfrm>
          <a:prstGeom prst="roundRect">
            <a:avLst/>
          </a:prstGeom>
          <a:solidFill>
            <a:srgbClr val="141430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364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CC15"/>
                </a:solidFill>
                <a:latin typeface="Consolas"/>
              </a:defRPr>
            </a:pPr>
            <a:r>
              <a:t>attributionⱼ = xⱼ · ∂f(x)/∂xⱼ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9999AA"/>
                </a:solidFill>
                <a:latin typeface="Segoe UI"/>
              </a:defRPr>
            </a:pPr>
            <a:r>
              <a:t>first-order Taylor expansion; satisfies local linearity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00D2FF"/>
                </a:solidFill>
                <a:latin typeface="Segoe UI"/>
              </a:defRPr>
            </a:pPr>
            <a:r>
              <a:t>Completeness (approximate):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FACC15"/>
                </a:solidFill>
                <a:latin typeface="Segoe UI"/>
              </a:defRPr>
            </a:pPr>
            <a:r>
              <a:t>    f(x) ≈ f(0) + Σⱼ xⱼ · ∂f/∂xⱼ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This holds exactly for linear models. For the Ψ-NN transformer,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it is a first-order approximation (hence 'approximate completeness').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669280" cy="502920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5"/>
                </a:solidFill>
                <a:latin typeface="Segoe UI"/>
              </a:defRPr>
            </a:pPr>
            <a:r>
              <a:t>Output &amp; Usage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FF88"/>
                </a:solidFill>
                <a:latin typeface="Segoe UI"/>
              </a:defRPr>
            </a:pPr>
            <a:r>
              <a:t>Result Shape:  [3, 21, 8]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3 variables × 21 degradation steps × 8 input features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Interpretation: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Positive attribution: feature pushes prediction higher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Negative attribution: feature pushes prediction lower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Large |attribution|: feature is highly influential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Feature Importance (aggregated):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Sum |attributionⱼ| across all 21 steps per variable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Normalise to percentages → feature ranking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00FF88"/>
                </a:solidFill>
                <a:latin typeface="Segoe UI"/>
              </a:defRPr>
            </a:pPr>
            <a:r>
              <a:t>Speed:  ~50 ms per scenario (default method)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Used for real-time XAI dashboard interactions.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9999AA"/>
                </a:solidFill>
                <a:latin typeface="Segoe UI"/>
              </a:defRPr>
            </a:pPr>
            <a:r>
              <a:t>Visualisation:  Diverging heatmap (red/blue) + bar charts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8"/>
                </a:solidFill>
                <a:latin typeface="Segoe UI"/>
              </a:defRPr>
            </a:pPr>
            <a:r>
              <a:t>Integrated Gradients: The Gold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Path-based attribution satisfying the exact Completeness Axiom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502920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Theory &amp; Computation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Integrated Gradients (Sundararajan et al., 2017) is based 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the Aumann-Shapley value from cooperative game theory.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Algorithm: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1. Define baseline x' = 0 (all-zeros input)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2. Create N interpolation points along the straight line: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   x(α) = x' + α · (x − x'),  α ∈ {1/2N, 3/2N, ..., (2N−1)/2N}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3. At each point, compute ∂f/∂xⱼ (backpropagation)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4. Average all N gradients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5. Multiply by (x − x')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51960"/>
            <a:ext cx="4937760" cy="685800"/>
          </a:xfrm>
          <a:prstGeom prst="roundRect">
            <a:avLst/>
          </a:prstGeom>
          <a:solidFill>
            <a:srgbClr val="141430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25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CC15"/>
                </a:solidFill>
                <a:latin typeface="Consolas"/>
              </a:defRPr>
            </a:pPr>
            <a:r>
              <a:t>IGⱼ = (xⱼ − x'ⱼ) · (1/N) · Σₖ ∂f/∂xⱼ |ₓ₌ₓ'₊ₐₖ(ₓ₋ₓ')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9999AA"/>
                </a:solidFill>
                <a:latin typeface="Segoe UI"/>
              </a:defRPr>
            </a:pPr>
            <a:r>
              <a:t>N = 50 interpolation steps (ig_steps parameter)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ACC15"/>
                </a:solidFill>
                <a:latin typeface="Segoe UI"/>
              </a:defRPr>
            </a:pPr>
            <a:r>
              <a:t>Completeness Axiom (exact):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577840"/>
            <a:ext cx="4937760" cy="502920"/>
          </a:xfrm>
          <a:prstGeom prst="roundRect">
            <a:avLst/>
          </a:prstGeom>
          <a:solidFill>
            <a:srgbClr val="141430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650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CC15"/>
                </a:solidFill>
                <a:latin typeface="Consolas"/>
              </a:defRPr>
            </a:pPr>
            <a:r>
              <a:t>f(x) − f(baseline) = Σⱼ IGⱼ    (exactly)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9999AA"/>
                </a:solidFill>
                <a:latin typeface="Segoe UI"/>
              </a:defRPr>
            </a:pPr>
            <a:r>
              <a:t>all attribution scores sum to the prediction difference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5669280" cy="5029200"/>
          </a:xfrm>
          <a:prstGeom prst="roundRect">
            <a:avLst/>
          </a:prstGeom>
          <a:solidFill>
            <a:srgbClr val="1C1C3A"/>
          </a:solidFill>
          <a:ln w="1524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5"/>
                </a:solidFill>
                <a:latin typeface="Segoe UI"/>
              </a:defRPr>
            </a:pPr>
            <a:r>
              <a:t>vs Gradient × Input (LRP)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FF6B6B"/>
                </a:solidFill>
                <a:latin typeface="Segoe UI"/>
              </a:defRPr>
            </a:pPr>
            <a:r>
              <a:t>Why is IG superior to Gradient × Input?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Grad × Input uses a single gradient at point x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IG integrates gradients along the full path from 0 to x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IG captures nonlinearities that a single gradient misses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IG satisfies completeness exactly (no approximation)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A500"/>
                </a:solidFill>
                <a:latin typeface="Segoe UI"/>
              </a:defRPr>
            </a:pPr>
            <a:r>
              <a:t>Trade-off: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Grad × Input:  ~50 ms  (used in real-time dashboard)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Integrated Gradients:  ~2 seconds  (offline analysis)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00D2FF"/>
                </a:solidFill>
                <a:latin typeface="Segoe UI"/>
              </a:defRPr>
            </a:pPr>
            <a:r>
              <a:t>In M10: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The XAI dashboard defaults to Gradient × Input for speed.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Integrated Gradients is available via: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ACC15"/>
                </a:solidFill>
                <a:latin typeface="Consolas"/>
              </a:defRPr>
            </a:pPr>
            <a:r>
              <a:t>    analyzer.analyze(x, method='integrated_gradients')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00FF88"/>
                </a:solidFill>
                <a:latin typeface="Segoe UI"/>
              </a:defRPr>
            </a:pPr>
            <a:r>
              <a:t>Result Shape:  [3, 21, 8]  (same as Grad × Input)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 Interpretation is identical, but numerically more precise.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84FC"/>
                </a:solidFill>
                <a:latin typeface="Segoe UI"/>
              </a:defRPr>
            </a:pPr>
            <a:r>
              <a:t>XAI Methods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Three complementary perspectives on the Ψ-NN decision process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12367" y="1371600"/>
          <a:ext cx="99669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122B"/>
                          </a:solidFill>
                          <a:latin typeface="Segoe U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122B"/>
                          </a:solidFill>
                          <a:latin typeface="Segoe U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122B"/>
                          </a:solidFill>
                          <a:latin typeface="Segoe UI"/>
                        </a:defRPr>
                      </a:pPr>
                      <a:r>
                        <a:t>Output Shape</a:t>
                      </a:r>
                    </a:p>
                  </a:txBody>
                  <a:tcPr anchor="ctr"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122B"/>
                          </a:solidFill>
                          <a:latin typeface="Segoe UI"/>
                        </a:defRPr>
                      </a:pPr>
                      <a:r>
                        <a:t>Speed</a:t>
                      </a:r>
                    </a:p>
                  </a:txBody>
                  <a:tcPr anchor="ctr"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122B"/>
                          </a:solidFill>
                          <a:latin typeface="Segoe UI"/>
                        </a:defRPr>
                      </a:pPr>
                      <a:r>
                        <a:t>Completeness</a:t>
                      </a:r>
                    </a:p>
                  </a:txBody>
                  <a:tcPr anchor="ctr"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122B"/>
                          </a:solidFill>
                          <a:latin typeface="Segoe UI"/>
                        </a:defRPr>
                      </a:pPr>
                      <a:r>
                        <a:t>Visualisation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Cross-Attn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Rollout</a:t>
                      </a:r>
                    </a:p>
                  </a:txBody>
                  <a:tcPr anchor="ctr">
                    <a:solidFill>
                      <a:srgbClr val="1C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Slot ← Input</a:t>
                      </a:r>
                    </a:p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flow</a:t>
                      </a:r>
                    </a:p>
                  </a:txBody>
                  <a:tcPr anchor="ctr">
                    <a:solidFill>
                      <a:srgbClr val="1C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[B, 21]</a:t>
                      </a:r>
                    </a:p>
                  </a:txBody>
                  <a:tcPr anchor="ctr">
                    <a:solidFill>
                      <a:srgbClr val="1C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&lt; 1 ms</a:t>
                      </a:r>
                    </a:p>
                  </a:txBody>
                  <a:tcPr anchor="ctr">
                    <a:solidFill>
                      <a:srgbClr val="1C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(attention only)</a:t>
                      </a:r>
                    </a:p>
                  </a:txBody>
                  <a:tcPr anchor="ctr">
                    <a:solidFill>
                      <a:srgbClr val="1C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Bar charts</a:t>
                      </a:r>
                    </a:p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per iteration</a:t>
                      </a:r>
                    </a:p>
                  </a:txBody>
                  <a:tcPr anchor="ctr">
                    <a:solidFill>
                      <a:srgbClr val="1C1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Self-Attn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Rollout</a:t>
                      </a:r>
                    </a:p>
                  </a:txBody>
                  <a:tcPr anchor="ctr"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Slot ↔ Slot</a:t>
                      </a:r>
                    </a:p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flow</a:t>
                      </a:r>
                    </a:p>
                  </a:txBody>
                  <a:tcPr anchor="ctr"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[B, 21, 21]</a:t>
                      </a:r>
                    </a:p>
                  </a:txBody>
                  <a:tcPr anchor="ctr"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&lt; 1 ms</a:t>
                      </a:r>
                    </a:p>
                  </a:txBody>
                  <a:tcPr anchor="ctr"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(attention only)</a:t>
                      </a:r>
                    </a:p>
                  </a:txBody>
                  <a:tcPr anchor="ctr"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21×21</a:t>
                      </a:r>
                    </a:p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heatmaps</a:t>
                      </a:r>
                    </a:p>
                  </a:txBody>
                  <a:tcPr anchor="ctr">
                    <a:solidFill>
                      <a:srgbClr val="1A1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Gradient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× Input</a:t>
                      </a:r>
                    </a:p>
                  </a:txBody>
                  <a:tcPr anchor="ctr">
                    <a:solidFill>
                      <a:srgbClr val="1C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Feature → Output</a:t>
                      </a:r>
                    </a:p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attribution</a:t>
                      </a:r>
                    </a:p>
                  </a:txBody>
                  <a:tcPr anchor="ctr">
                    <a:solidFill>
                      <a:srgbClr val="1C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[3, 21, 8]</a:t>
                      </a:r>
                    </a:p>
                  </a:txBody>
                  <a:tcPr anchor="ctr">
                    <a:solidFill>
                      <a:srgbClr val="1C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~50 ms</a:t>
                      </a:r>
                    </a:p>
                  </a:txBody>
                  <a:tcPr anchor="ctr">
                    <a:solidFill>
                      <a:srgbClr val="1C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Approximate</a:t>
                      </a:r>
                    </a:p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(1st order)</a:t>
                      </a:r>
                    </a:p>
                  </a:txBody>
                  <a:tcPr anchor="ctr">
                    <a:solidFill>
                      <a:srgbClr val="1C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Diverging heatmap</a:t>
                      </a:r>
                    </a:p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+ bar charts</a:t>
                      </a:r>
                    </a:p>
                  </a:txBody>
                  <a:tcPr anchor="ctr">
                    <a:solidFill>
                      <a:srgbClr val="1C1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Integrated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Gradients</a:t>
                      </a:r>
                    </a:p>
                  </a:txBody>
                  <a:tcPr anchor="ctr"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Feature → Output</a:t>
                      </a:r>
                    </a:p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attribution</a:t>
                      </a:r>
                    </a:p>
                  </a:txBody>
                  <a:tcPr anchor="ctr"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[3, 21, 8]</a:t>
                      </a:r>
                    </a:p>
                  </a:txBody>
                  <a:tcPr anchor="ctr"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~2 sec</a:t>
                      </a:r>
                    </a:p>
                  </a:txBody>
                  <a:tcPr anchor="ctr"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Exact</a:t>
                      </a:r>
                    </a:p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(axiomatic)</a:t>
                      </a:r>
                    </a:p>
                  </a:txBody>
                  <a:tcPr anchor="ctr"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Diverging heatmap</a:t>
                      </a:r>
                    </a:p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+ bar charts</a:t>
                      </a:r>
                    </a:p>
                  </a:txBody>
                  <a:tcPr anchor="ctr">
                    <a:solidFill>
                      <a:srgbClr val="1A1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5394960"/>
            <a:ext cx="10058400" cy="1005840"/>
          </a:xfrm>
          <a:prstGeom prst="roundRect">
            <a:avLst/>
          </a:prstGeom>
          <a:solidFill>
            <a:srgbClr val="181832"/>
          </a:solidFill>
          <a:ln w="1524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544068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Key Takeaway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9999AA"/>
                </a:solidFill>
                <a:latin typeface="Segoe UI"/>
              </a:defRPr>
            </a:pPr>
            <a:endParaRPr/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Attention Rollout reveals how the model's internal representations communicate (slot-level transparency).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Gradient × Input and Integrated Gradients reveal which of the 8 soil/pile input features drive each prediction (feature-level transparency).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1576</Words>
  <Application>Microsoft Office PowerPoint</Application>
  <PresentationFormat>Widescreen</PresentationFormat>
  <Paragraphs>249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Youssef Khallouqi</cp:lastModifiedBy>
  <cp:revision>2</cp:revision>
  <dcterms:created xsi:type="dcterms:W3CDTF">2013-01-27T09:14:16Z</dcterms:created>
  <dcterms:modified xsi:type="dcterms:W3CDTF">2026-04-28T09:14:53Z</dcterms:modified>
  <cp:category/>
</cp:coreProperties>
</file>