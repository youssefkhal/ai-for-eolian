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M10: Explainable AI for Pile Stiffness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84FC"/>
                </a:solidFill>
                <a:latin typeface="Segoe UI"/>
              </a:defRPr>
            </a:pPr>
            <a:r>
              <a:t>How does the model know which soil parameters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A practical guide for civil engineering researchers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9527" y="4114800"/>
            <a:ext cx="3017520" cy="182880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6687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6687" y="47091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Typhoon loads degrade</a:t>
            </a:r>
            <a:br/>
            <a:r>
              <a:t>soil stiffness around</a:t>
            </a:r>
            <a:br/>
            <a:r>
              <a:t>monopile foundations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94479" y="4892040"/>
            <a:ext cx="274320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87087" y="4114800"/>
            <a:ext cx="3017520" cy="18288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247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47091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A Slot-Attention AI</a:t>
            </a:r>
            <a:br/>
            <a:r>
              <a:t>predicts KL, KR, KLR</a:t>
            </a:r>
            <a:br/>
            <a:r>
              <a:t>degradation curves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32039" y="4892040"/>
            <a:ext cx="274320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24647" y="4114800"/>
            <a:ext cx="3017520" cy="18288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807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THE XAI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47091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Three methods reveal</a:t>
            </a:r>
            <a:br/>
            <a:r>
              <a:t>WHY the model makes</a:t>
            </a:r>
            <a:br/>
            <a:r>
              <a:t>each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What Does M10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From 8 soil/pile measurements to 21-step stiffness degradation curves + explanations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560320" cy="475488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INPUT: 8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20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PI  (Plasticity Index)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86584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Gmax  (Max Shear Modulus)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98648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v  (Poisson's Ratio)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10712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Dp  (Pile Diameter)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22776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867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Tp  (Wall Thickness)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34840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Lp  (Pile Length)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46904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Ip  (Moment of Inertia)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58968"/>
            <a:ext cx="228600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5229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Dp/Lp  (Slenderness)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63240" y="3474720"/>
            <a:ext cx="457200" cy="36576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1371600"/>
            <a:ext cx="4389120" cy="47548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1463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M10: SwiGLU Slot-Attention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1828800"/>
            <a:ext cx="4114800" cy="566928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1874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Feature 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103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8 numbers  --&gt;  64-dim vector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760720" y="2377440"/>
            <a:ext cx="182880" cy="15544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94760" y="2514600"/>
            <a:ext cx="4114800" cy="566928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21 Slots Initialised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27889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1 initial + 20 drop slots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760720" y="3063240"/>
            <a:ext cx="182880" cy="15544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94760" y="3200400"/>
            <a:ext cx="4114800" cy="566928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Cross-Attention (x3)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474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query the input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760720" y="3749040"/>
            <a:ext cx="182880" cy="15544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94760" y="3886200"/>
            <a:ext cx="4114800" cy="566928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Self-Attention (x3)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1605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share information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760720" y="4434840"/>
            <a:ext cx="182880" cy="15544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794760" y="4572000"/>
            <a:ext cx="4114800" cy="566928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SwiGLU MLP (x3)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8463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Each slot refines itself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760720" y="5120640"/>
            <a:ext cx="182880" cy="15544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794760" y="5257800"/>
            <a:ext cx="4114800" cy="566928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0" y="5303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Prediction Heads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532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 --&gt; KL, KR, KLR values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183879" y="3474720"/>
            <a:ext cx="457200" cy="365760"/>
          </a:xfrm>
          <a:prstGeom prst="rightArrow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778240" y="1371600"/>
            <a:ext cx="3017520" cy="47548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OUTPUT: Stiffness Curves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15400" y="1828800"/>
            <a:ext cx="2743200" cy="12344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1901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KL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19019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DDDD"/>
                </a:solidFill>
                <a:latin typeface="Segoe UI"/>
              </a:defRPr>
            </a:pPr>
            <a:r>
              <a:t>Lateral Stiffness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21 values showing</a:t>
            </a:r>
            <a:br/>
            <a:r>
              <a:t>how KL drops with</a:t>
            </a:r>
            <a:br/>
            <a:r>
              <a:t>cyclic loading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15400" y="3200400"/>
            <a:ext cx="2743200" cy="12344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3273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Segoe UI"/>
              </a:defRPr>
            </a:pPr>
            <a:r>
              <a:t>KR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32735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DDDD"/>
                </a:solidFill>
                <a:latin typeface="Segoe UI"/>
              </a:defRPr>
            </a:pPr>
            <a:r>
              <a:t>Rotational Stiffness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3611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21 values showing</a:t>
            </a:r>
            <a:br/>
            <a:r>
              <a:t>how KR drops with</a:t>
            </a:r>
            <a:br/>
            <a:r>
              <a:t>cyclic loading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15400" y="4572000"/>
            <a:ext cx="2743200" cy="12344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4645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KLR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6451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DDDD"/>
                </a:solidFill>
                <a:latin typeface="Segoe UI"/>
              </a:defRPr>
            </a:pPr>
            <a:r>
              <a:t>Coupled Stiffness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4983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21 values showing</a:t>
            </a:r>
            <a:br/>
            <a:r>
              <a:t>how KLR changes</a:t>
            </a:r>
            <a:br/>
            <a:r>
              <a:t>with cyclic loading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What Are Slots?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The 21 internal states that represent different stages of stiffness degradation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029200" cy="4846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Slots = Internal Representation States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The model uses 21 slots to represent the pile's condition: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D2FF"/>
                </a:solidFill>
                <a:latin typeface="Segoe UI"/>
              </a:defRPr>
            </a:pPr>
            <a:r>
              <a:t>Slot 1  =  Initial state (before any loading)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Captures the pile's original stiffness (KL0, KR0, KLR0)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FF6B6B"/>
                </a:solidFill>
                <a:latin typeface="Segoe UI"/>
              </a:defRPr>
            </a:pPr>
            <a:r>
              <a:t>Slots 2-21  =  Drop states (progressive degradation)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Each slot represents one step of stiffness reduction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Step 2 = small load  ...  Step 21 = extreme loading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t>Key Design: Physics-Consistent Constraints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KL and KR can only decrease (soil gets weaker)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KLR magnitude can only increase (coupling grows)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This is enforced in the model architecture itself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C084FC"/>
                </a:solidFill>
                <a:latin typeface="Segoe UI"/>
              </a:defRPr>
            </a:pPr>
            <a:r>
              <a:t>Prototype Compression: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20 drop slots are built from only 4 prototypes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   Reduces parameters while preserving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417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21 Slots - Visual Layout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1920240"/>
            <a:ext cx="822960" cy="822960"/>
          </a:xfrm>
          <a:prstGeom prst="ellipse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57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31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DD"/>
                </a:solidFill>
                <a:latin typeface="Segoe UI"/>
              </a:defRPr>
            </a:pPr>
            <a:r>
              <a:t>Initial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549640" y="2743200"/>
            <a:ext cx="182880" cy="274320"/>
          </a:xfrm>
          <a:prstGeom prst="down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31089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Drop Slots (Degradation Steps)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3429000"/>
            <a:ext cx="594360" cy="594360"/>
          </a:xfrm>
          <a:prstGeom prst="ellipse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53872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749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3429000"/>
            <a:ext cx="594360" cy="594360"/>
          </a:xfrm>
          <a:prstGeom prst="ellipse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53872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49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2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3429000"/>
            <a:ext cx="594360" cy="594360"/>
          </a:xfrm>
          <a:prstGeom prst="ellipse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53872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49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3</a:t>
            </a:r>
          </a:p>
        </p:txBody>
      </p:sp>
      <p:sp>
        <p:nvSpPr>
          <p:cNvPr id="22" name="Oval 21"/>
          <p:cNvSpPr/>
          <p:nvPr/>
        </p:nvSpPr>
        <p:spPr>
          <a:xfrm>
            <a:off x="9555480" y="3429000"/>
            <a:ext cx="594360" cy="594360"/>
          </a:xfrm>
          <a:prstGeom prst="ellipse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53872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49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4</a:t>
            </a:r>
          </a:p>
        </p:txBody>
      </p:sp>
      <p:sp>
        <p:nvSpPr>
          <p:cNvPr id="25" name="Oval 24"/>
          <p:cNvSpPr/>
          <p:nvPr/>
        </p:nvSpPr>
        <p:spPr>
          <a:xfrm>
            <a:off x="10698480" y="3429000"/>
            <a:ext cx="594360" cy="594360"/>
          </a:xfrm>
          <a:prstGeom prst="ellipse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353872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S6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749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5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4206240"/>
            <a:ext cx="594360" cy="594360"/>
          </a:xfrm>
          <a:prstGeom prst="ellipse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3159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6</a:t>
            </a:r>
          </a:p>
        </p:txBody>
      </p:sp>
      <p:sp>
        <p:nvSpPr>
          <p:cNvPr id="31" name="Oval 30"/>
          <p:cNvSpPr/>
          <p:nvPr/>
        </p:nvSpPr>
        <p:spPr>
          <a:xfrm>
            <a:off x="7269480" y="4206240"/>
            <a:ext cx="594360" cy="594360"/>
          </a:xfrm>
          <a:prstGeom prst="ellipse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43159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7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206240"/>
            <a:ext cx="594360" cy="594360"/>
          </a:xfrm>
          <a:prstGeom prst="ellipse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3159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S9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8</a:t>
            </a:r>
          </a:p>
        </p:txBody>
      </p:sp>
      <p:sp>
        <p:nvSpPr>
          <p:cNvPr id="37" name="Oval 36"/>
          <p:cNvSpPr/>
          <p:nvPr/>
        </p:nvSpPr>
        <p:spPr>
          <a:xfrm>
            <a:off x="9555480" y="4206240"/>
            <a:ext cx="594360" cy="594360"/>
          </a:xfrm>
          <a:prstGeom prst="ellipse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43159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S10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9</a:t>
            </a:r>
          </a:p>
        </p:txBody>
      </p:sp>
      <p:sp>
        <p:nvSpPr>
          <p:cNvPr id="40" name="Oval 39"/>
          <p:cNvSpPr/>
          <p:nvPr/>
        </p:nvSpPr>
        <p:spPr>
          <a:xfrm>
            <a:off x="10698480" y="4206240"/>
            <a:ext cx="594360" cy="594360"/>
          </a:xfrm>
          <a:prstGeom prst="ellipse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431596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S11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10</a:t>
            </a:r>
          </a:p>
        </p:txBody>
      </p:sp>
      <p:sp>
        <p:nvSpPr>
          <p:cNvPr id="43" name="Oval 42"/>
          <p:cNvSpPr/>
          <p:nvPr/>
        </p:nvSpPr>
        <p:spPr>
          <a:xfrm>
            <a:off x="6126480" y="4983480"/>
            <a:ext cx="594360" cy="594360"/>
          </a:xfrm>
          <a:prstGeom prst="ellipse">
            <a:avLst/>
          </a:prstGeom>
          <a:solidFill>
            <a:srgbClr val="4540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0932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S12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303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11</a:t>
            </a:r>
          </a:p>
        </p:txBody>
      </p:sp>
      <p:sp>
        <p:nvSpPr>
          <p:cNvPr id="46" name="Oval 45"/>
          <p:cNvSpPr/>
          <p:nvPr/>
        </p:nvSpPr>
        <p:spPr>
          <a:xfrm>
            <a:off x="7269480" y="4983480"/>
            <a:ext cx="594360" cy="594360"/>
          </a:xfrm>
          <a:prstGeom prst="ellipse">
            <a:avLst/>
          </a:prstGeom>
          <a:solidFill>
            <a:srgbClr val="4540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0932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S13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303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12</a:t>
            </a:r>
          </a:p>
        </p:txBody>
      </p:sp>
      <p:sp>
        <p:nvSpPr>
          <p:cNvPr id="49" name="Oval 48"/>
          <p:cNvSpPr/>
          <p:nvPr/>
        </p:nvSpPr>
        <p:spPr>
          <a:xfrm>
            <a:off x="8412480" y="4983480"/>
            <a:ext cx="594360" cy="594360"/>
          </a:xfrm>
          <a:prstGeom prst="ellipse">
            <a:avLst/>
          </a:prstGeom>
          <a:solidFill>
            <a:srgbClr val="4540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50932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S14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303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13</a:t>
            </a:r>
          </a:p>
        </p:txBody>
      </p:sp>
      <p:sp>
        <p:nvSpPr>
          <p:cNvPr id="52" name="Oval 51"/>
          <p:cNvSpPr/>
          <p:nvPr/>
        </p:nvSpPr>
        <p:spPr>
          <a:xfrm>
            <a:off x="9555480" y="4983480"/>
            <a:ext cx="594360" cy="594360"/>
          </a:xfrm>
          <a:prstGeom prst="ellipse">
            <a:avLst/>
          </a:prstGeom>
          <a:solidFill>
            <a:srgbClr val="4540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50932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S15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5303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14</a:t>
            </a:r>
          </a:p>
        </p:txBody>
      </p:sp>
      <p:sp>
        <p:nvSpPr>
          <p:cNvPr id="55" name="Oval 54"/>
          <p:cNvSpPr/>
          <p:nvPr/>
        </p:nvSpPr>
        <p:spPr>
          <a:xfrm>
            <a:off x="10698480" y="4983480"/>
            <a:ext cx="594360" cy="594360"/>
          </a:xfrm>
          <a:prstGeom prst="ellipse">
            <a:avLst/>
          </a:prstGeom>
          <a:solidFill>
            <a:srgbClr val="4540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98480" y="509320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S16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5303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15</a:t>
            </a:r>
          </a:p>
        </p:txBody>
      </p:sp>
      <p:sp>
        <p:nvSpPr>
          <p:cNvPr id="58" name="Oval 57"/>
          <p:cNvSpPr/>
          <p:nvPr/>
        </p:nvSpPr>
        <p:spPr>
          <a:xfrm>
            <a:off x="6126480" y="5760720"/>
            <a:ext cx="594360" cy="594360"/>
          </a:xfrm>
          <a:prstGeom prst="ellipse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5870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60807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16</a:t>
            </a:r>
          </a:p>
        </p:txBody>
      </p:sp>
      <p:sp>
        <p:nvSpPr>
          <p:cNvPr id="61" name="Oval 60"/>
          <p:cNvSpPr/>
          <p:nvPr/>
        </p:nvSpPr>
        <p:spPr>
          <a:xfrm>
            <a:off x="7269480" y="5760720"/>
            <a:ext cx="594360" cy="594360"/>
          </a:xfrm>
          <a:prstGeom prst="ellipse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69480" y="5870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60807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17</a:t>
            </a:r>
          </a:p>
        </p:txBody>
      </p:sp>
      <p:sp>
        <p:nvSpPr>
          <p:cNvPr id="64" name="Oval 63"/>
          <p:cNvSpPr/>
          <p:nvPr/>
        </p:nvSpPr>
        <p:spPr>
          <a:xfrm>
            <a:off x="8412480" y="5760720"/>
            <a:ext cx="594360" cy="594360"/>
          </a:xfrm>
          <a:prstGeom prst="ellipse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5870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60807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18</a:t>
            </a:r>
          </a:p>
        </p:txBody>
      </p:sp>
      <p:sp>
        <p:nvSpPr>
          <p:cNvPr id="67" name="Oval 66"/>
          <p:cNvSpPr/>
          <p:nvPr/>
        </p:nvSpPr>
        <p:spPr>
          <a:xfrm>
            <a:off x="9555480" y="5760720"/>
            <a:ext cx="594360" cy="594360"/>
          </a:xfrm>
          <a:prstGeom prst="ellipse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55480" y="5870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60807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19</a:t>
            </a:r>
          </a:p>
        </p:txBody>
      </p:sp>
      <p:sp>
        <p:nvSpPr>
          <p:cNvPr id="70" name="Oval 69"/>
          <p:cNvSpPr/>
          <p:nvPr/>
        </p:nvSpPr>
        <p:spPr>
          <a:xfrm>
            <a:off x="10698480" y="5760720"/>
            <a:ext cx="594360" cy="594360"/>
          </a:xfrm>
          <a:prstGeom prst="ellipse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0" y="5870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S21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0807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Drop 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23560" y="3611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6B6B"/>
                </a:solidFill>
                <a:latin typeface="Segoe UI"/>
              </a:defRPr>
            </a:pPr>
            <a:r>
              <a:t>Proto 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23560" y="4389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A500"/>
                </a:solidFill>
                <a:latin typeface="Segoe UI"/>
              </a:defRPr>
            </a:pPr>
            <a:r>
              <a:t>Proto 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3560" y="5166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ACC15"/>
                </a:solidFill>
                <a:latin typeface="Segoe UI"/>
              </a:defRPr>
            </a:pPr>
            <a:r>
              <a:t>Proto 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0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0FF88"/>
                </a:solidFill>
                <a:latin typeface="Segoe UI"/>
              </a:defRPr>
            </a:pPr>
            <a:r>
              <a:t>Proto 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Each colour = one prototype cluster.  20 drop slots are built from just 4 learned prototypes.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The 3 Iteration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The model refines its predictions by repeating three operations three times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371600"/>
            <a:ext cx="3474720" cy="502920"/>
          </a:xfrm>
          <a:prstGeom prst="roundRect">
            <a:avLst/>
          </a:prstGeom>
          <a:solidFill>
            <a:srgbClr val="1A2A3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Iteration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011680"/>
            <a:ext cx="3291840" cy="1325880"/>
          </a:xfrm>
          <a:prstGeom prst="roundRect">
            <a:avLst/>
          </a:prstGeom>
          <a:solidFill>
            <a:srgbClr val="302A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20848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CROSS-ATTENTION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3591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Slots read the input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Each slot queries the 8 soil/pile</a:t>
            </a:r>
            <a:br/>
            <a:r>
              <a:t>parameters to extract relevant info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27935" y="3319272"/>
            <a:ext cx="146304" cy="20116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167" y="3520440"/>
            <a:ext cx="3291840" cy="13258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607" y="35935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SELF-ATTENTION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8679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Slots communicate with each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share information to capture</a:t>
            </a:r>
            <a:br/>
            <a:r>
              <a:t>interactions (e.g. PI affects Gmax effect)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227935" y="4828032"/>
            <a:ext cx="146304" cy="20116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167" y="5029200"/>
            <a:ext cx="3291840" cy="13258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07" y="51023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SwiGLU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607" y="53766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Each slot processes independently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7" y="5669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Non-linear transformation refines</a:t>
            </a:r>
            <a:br/>
            <a:r>
              <a:t>each slot's internal representation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56735" y="3200400"/>
            <a:ext cx="292608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8487" y="1371600"/>
            <a:ext cx="3474720" cy="502920"/>
          </a:xfrm>
          <a:prstGeom prst="roundRect">
            <a:avLst/>
          </a:prstGeom>
          <a:solidFill>
            <a:srgbClr val="202A35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9927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Iteration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2011680"/>
            <a:ext cx="3291840" cy="1325880"/>
          </a:xfrm>
          <a:prstGeom prst="roundRect">
            <a:avLst/>
          </a:prstGeom>
          <a:solidFill>
            <a:srgbClr val="302A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1367" y="20848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CROSS-ATTENTION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23591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Slots read the input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Each slot queries the 8 soil/pile</a:t>
            </a:r>
            <a:br/>
            <a:r>
              <a:t>parameters to extract relevant info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022695" y="3319272"/>
            <a:ext cx="146304" cy="20116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49927" y="3520440"/>
            <a:ext cx="3291840" cy="13258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1367" y="35935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SELF-ATTENTION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1367" y="38679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Slots communicate with each other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1367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share information to capture</a:t>
            </a:r>
            <a:br/>
            <a:r>
              <a:t>interactions (e.g. PI affects Gmax effect)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6022695" y="4828032"/>
            <a:ext cx="146304" cy="20116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49927" y="5029200"/>
            <a:ext cx="3291840" cy="13258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1367" y="51023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SwiGLU MLP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1367" y="53766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Each slot processes independently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1367" y="5669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Non-linear transformation refines</a:t>
            </a:r>
            <a:br/>
            <a:r>
              <a:t>each slot's internal representation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851495" y="3200400"/>
            <a:ext cx="292608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53247" y="1371600"/>
            <a:ext cx="3474720" cy="502920"/>
          </a:xfrm>
          <a:prstGeom prst="roundRect">
            <a:avLst/>
          </a:prstGeom>
          <a:solidFill>
            <a:srgbClr val="252A3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4687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Iteration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44687" y="2011680"/>
            <a:ext cx="3291840" cy="1325880"/>
          </a:xfrm>
          <a:prstGeom prst="roundRect">
            <a:avLst/>
          </a:prstGeom>
          <a:solidFill>
            <a:srgbClr val="302A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6127" y="20848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CROSS-ATTENTION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6127" y="23591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Slots read the input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6127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Each slot queries the 8 soil/pile</a:t>
            </a:r>
            <a:br/>
            <a:r>
              <a:t>parameters to extract relevant info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9817455" y="3319272"/>
            <a:ext cx="146304" cy="20116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44687" y="3520440"/>
            <a:ext cx="3291840" cy="13258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6127" y="35935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SELF-ATTENTION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6127" y="38679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Slots communicate with each other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6127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share information to capture</a:t>
            </a:r>
            <a:br/>
            <a:r>
              <a:t>interactions (e.g. PI affects Gmax effect)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9817455" y="4828032"/>
            <a:ext cx="146304" cy="201168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44687" y="5029200"/>
            <a:ext cx="3291840" cy="13258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6127" y="51023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SwiGLU MLP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6127" y="53766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Each slot processes independently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6127" y="5669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Segoe UI"/>
              </a:defRPr>
            </a:pPr>
            <a:r>
              <a:t>Non-linear transformation refines</a:t>
            </a:r>
            <a:br/>
            <a:r>
              <a:t>each slot's internal representation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5943600"/>
            <a:ext cx="1033272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59893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WHY 3 ITERATIONS?  Each pass refines the slot representations.  Iteration 1 captures basic features.  Iteration 2 captures interactions.  Iteration 3 fine-tunes for accurate stiffness degradation curves.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Segoe UI"/>
              </a:defRPr>
            </a:pPr>
            <a:r>
              <a:t>Why Do We Need Explainability (XAI)?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AI models are powerful but opaque -- civil engineers need to trust and understand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371600"/>
            <a:ext cx="5303520" cy="484632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WITHOUT XAI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2367" y="2103120"/>
            <a:ext cx="1463040" cy="73152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Segoe UI"/>
              </a:defRPr>
            </a:pPr>
            <a:r>
              <a:t>8 Soil/Pile</a:t>
            </a:r>
            <a:br/>
            <a:r>
              <a:t>Parameters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66847" y="2286000"/>
            <a:ext cx="365760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24047" y="2011680"/>
            <a:ext cx="914400" cy="914400"/>
          </a:xfrm>
          <a:prstGeom prst="roundRect">
            <a:avLst/>
          </a:prstGeom>
          <a:solidFill>
            <a:srgbClr val="101010"/>
          </a:solidFill>
          <a:ln w="190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Segoe UI"/>
              </a:defRPr>
            </a:pPr>
            <a:r>
              <a:t>  ???</a:t>
            </a:r>
            <a:br/>
            <a:r>
              <a:t>BLACK</a:t>
            </a:r>
            <a:br/>
            <a:r>
              <a:t>  BOX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29887" y="2286000"/>
            <a:ext cx="365760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7087" y="2103120"/>
            <a:ext cx="1005840" cy="73152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807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Segoe UI"/>
              </a:defRPr>
            </a:pPr>
            <a:r>
              <a:t>KL, KR, KLR</a:t>
            </a:r>
            <a:br/>
            <a:r>
              <a:t>Curves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291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X   Cannot verify if predictions are physically reasonable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3822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X   No way to identify which soil parameter drives 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43525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X   Cannot detect when the model is extrapolating dangerously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48828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X   Regulators and reviewers won't accept unexplained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" y="5413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X   Engineers cannot build intuition from black-box 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371600"/>
            <a:ext cx="5303520" cy="484632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WITH M10 XAI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3087" y="2103120"/>
            <a:ext cx="1463040" cy="73152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4527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Segoe UI"/>
              </a:defRPr>
            </a:pPr>
            <a:r>
              <a:t>8 Soil/Pile</a:t>
            </a:r>
            <a:br/>
            <a:r>
              <a:t>Parameters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27567" y="2286000"/>
            <a:ext cx="365760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84767" y="2011680"/>
            <a:ext cx="914400" cy="914400"/>
          </a:xfrm>
          <a:prstGeom prst="roundRect">
            <a:avLst/>
          </a:prstGeom>
          <a:solidFill>
            <a:srgbClr val="102010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4767" y="2148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GLASS</a:t>
            </a:r>
            <a:br/>
            <a:r>
              <a:t>  BOX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890607" y="2286000"/>
            <a:ext cx="365760" cy="27432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47807" y="2103120"/>
            <a:ext cx="1005840" cy="73152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93527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Segoe UI"/>
              </a:defRPr>
            </a:pPr>
            <a:r>
              <a:t>KL, KR, KLR</a:t>
            </a:r>
            <a:br/>
            <a:r>
              <a:t>+ WHY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8767" y="3291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+   See which soil parameters control each stiffness variable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8767" y="38221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+   Track how information flows through the model's internal states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8767" y="43525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+   Verify that the model learned real soil mechanics relationships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8767" y="48828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+   Build confidence for peer review and regulatory acceptance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8767" y="5413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  <a:latin typeface="Segoe UI"/>
              </a:defRPr>
            </a:pPr>
            <a:r>
              <a:t>+   Identify edge cases where the model may be unreliable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M10 Uses Three Complementary XAI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Each method answers a different question about the model's decision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371600"/>
            <a:ext cx="3474720" cy="45720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1481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Cross-Attention 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2011680"/>
            <a:ext cx="320040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19202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121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Which slots are most</a:t>
            </a:r>
            <a:br/>
            <a:r>
              <a:t>active for this scenario?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7432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88899"/>
                </a:solidFill>
                <a:latin typeface="Segoe UI"/>
              </a:defRPr>
            </a:pPr>
            <a:r>
              <a:t>HOW: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9718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Tracks how much each of the</a:t>
            </a:r>
            <a:br/>
            <a:r>
              <a:t>21 slots reads from the input</a:t>
            </a:r>
            <a:br/>
            <a:r>
              <a:t>soil parameters, averaged</a:t>
            </a:r>
            <a:br/>
            <a:r>
              <a:t>across all 3 iterations.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887" y="4069080"/>
            <a:ext cx="320040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607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Segoe UI"/>
              </a:defRPr>
            </a:pPr>
            <a:r>
              <a:t>Output: 21 importance scores</a:t>
            </a:r>
            <a:br/>
            <a:r>
              <a:t>(one per slot, sum = 1.0)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0927" y="4892040"/>
            <a:ext cx="2560320" cy="59436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927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SLOT-LEVEL</a:t>
            </a:r>
            <a:br/>
            <a:r>
              <a:t>TRANSPARENCY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487" y="1371600"/>
            <a:ext cx="3474720" cy="45720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5647" y="1481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Self-Attention Rollout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5647" y="2011680"/>
            <a:ext cx="320040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19202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2121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do the slots</a:t>
            </a:r>
            <a:br/>
            <a:r>
              <a:t>communicate internally?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27432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88899"/>
                </a:solidFill>
                <a:latin typeface="Segoe UI"/>
              </a:defRPr>
            </a:pPr>
            <a:r>
              <a:t>HOW: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29718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Tracks the information flow</a:t>
            </a:r>
            <a:br/>
            <a:r>
              <a:t>between all 21 slots across</a:t>
            </a:r>
            <a:br/>
            <a:r>
              <a:t>3 iterations, accounting for</a:t>
            </a:r>
            <a:br/>
            <a:r>
              <a:t>residual connections.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5647" y="4069080"/>
            <a:ext cx="320040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1367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Segoe UI"/>
              </a:defRPr>
            </a:pPr>
            <a:r>
              <a:t>Output: 21x21 flow matrix</a:t>
            </a:r>
            <a:br/>
            <a:r>
              <a:t>showing slot-to-slot influence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15687" y="4892040"/>
            <a:ext cx="2560320" cy="5943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5687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INTERACTION</a:t>
            </a:r>
            <a:br/>
            <a:r>
              <a:t>TRANSPARENCY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3247" y="1371600"/>
            <a:ext cx="3474720" cy="45720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407" y="1481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Gradient x Input</a:t>
            </a:r>
            <a:br/>
            <a:r>
              <a:t>(+ Integrated Gradients)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90407" y="2011680"/>
            <a:ext cx="320040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6127" y="19202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127" y="2121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Which of the 8 input features</a:t>
            </a:r>
            <a:br/>
            <a:r>
              <a:t>matters most for the prediction?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6127" y="27432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88899"/>
                </a:solidFill>
                <a:latin typeface="Segoe UI"/>
              </a:defRPr>
            </a:pPr>
            <a:r>
              <a:t>HOW: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407" y="29718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Computes how much each soil/pile</a:t>
            </a:r>
            <a:br/>
            <a:r>
              <a:t>parameter contributes to each</a:t>
            </a:r>
            <a:br/>
            <a:r>
              <a:t>predicted stiffness value at</a:t>
            </a:r>
            <a:br/>
            <a:r>
              <a:t>each degradation step.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90407" y="4069080"/>
            <a:ext cx="320040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6127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A500"/>
                </a:solidFill>
                <a:latin typeface="Segoe UI"/>
              </a:defRPr>
            </a:pPr>
            <a:r>
              <a:t>Output: importance score for</a:t>
            </a:r>
            <a:br/>
            <a:r>
              <a:t>each of the 8 input features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10447" y="4892040"/>
            <a:ext cx="2560320" cy="59436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10447" y="4937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FEATURE-LEVEL</a:t>
            </a:r>
            <a:br/>
            <a:r>
              <a:t>TRANSPARENCY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Cross-Attention Rollout: How Slots Read the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Visualising which of the 21 slots extract the most information from the soil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645920" cy="292608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408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87752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968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43784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8529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9816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1089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55848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3649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6210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67912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87705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23944"/>
            <a:ext cx="1280160" cy="21031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133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472B6"/>
                </a:solidFill>
                <a:latin typeface="Segoe UI"/>
              </a:defRPr>
            </a:pPr>
            <a:r>
              <a:t>D/L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94560" y="2377440"/>
            <a:ext cx="548640" cy="164592"/>
          </a:xfrm>
          <a:prstGeom prst="rightArrow">
            <a:avLst/>
          </a:prstGeom>
          <a:solidFill>
            <a:srgbClr val="00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194560" y="2834640"/>
            <a:ext cx="548640" cy="164592"/>
          </a:xfrm>
          <a:prstGeom prst="rightArrow">
            <a:avLst/>
          </a:prstGeom>
          <a:solidFill>
            <a:srgbClr val="00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194560" y="3291840"/>
            <a:ext cx="548640" cy="164592"/>
          </a:xfrm>
          <a:prstGeom prst="rightArrow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2194560" y="3749040"/>
            <a:ext cx="548640" cy="164592"/>
          </a:xfrm>
          <a:prstGeom prst="rightArrow">
            <a:avLst/>
          </a:prstGeom>
          <a:solidFill>
            <a:srgbClr val="00B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2194560" y="4206240"/>
            <a:ext cx="548640" cy="164592"/>
          </a:xfrm>
          <a:prstGeom prst="rightArrow">
            <a:avLst/>
          </a:prstGeom>
          <a:solidFill>
            <a:srgbClr val="00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26080" y="1371600"/>
            <a:ext cx="3200400" cy="3840480"/>
          </a:xfrm>
          <a:prstGeom prst="roundRect">
            <a:avLst/>
          </a:prstGeom>
          <a:solidFill>
            <a:srgbClr val="181830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CROSS-ATTENTION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x 3 Iterations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2194560"/>
            <a:ext cx="2743200" cy="685800"/>
          </a:xfrm>
          <a:prstGeom prst="roundRect">
            <a:avLst/>
          </a:prstGeom>
          <a:solidFill>
            <a:srgbClr val="2A20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2860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Iter. 1: Initial 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Segoe UI"/>
              </a:defRPr>
            </a:pPr>
            <a:r>
              <a:t>S1: 0.05  S2: 0.04  S3: 0.06  ...  S21: 0.05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063240"/>
            <a:ext cx="2743200" cy="685800"/>
          </a:xfrm>
          <a:prstGeom prst="roundRect">
            <a:avLst/>
          </a:prstGeom>
          <a:solidFill>
            <a:srgbClr val="2F25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31546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Iter. 2: Refined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Segoe UI"/>
              </a:defRPr>
            </a:pPr>
            <a:r>
              <a:t>S1: 0.05  S2: 0.04  S3: 0.06  ...  S21: 0.05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3931920"/>
            <a:ext cx="2743200" cy="685800"/>
          </a:xfrm>
          <a:prstGeom prst="roundRect">
            <a:avLst/>
          </a:prstGeom>
          <a:solidFill>
            <a:srgbClr val="352A0A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023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Iter. 3: Final 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Segoe UI"/>
              </a:defRPr>
            </a:pPr>
            <a:r>
              <a:t>S1: 0.05  S2: 0.04  S3: 0.06  ...  S21: 0.05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263640" y="2377440"/>
            <a:ext cx="457200" cy="164592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263640" y="2834640"/>
            <a:ext cx="457200" cy="164592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6263640" y="3291840"/>
            <a:ext cx="457200" cy="164592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6263640" y="3749040"/>
            <a:ext cx="457200" cy="164592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6263640" y="4206240"/>
            <a:ext cx="457200" cy="164592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58000" y="1371600"/>
            <a:ext cx="4846320" cy="384048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1463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ROLLOUT RESULT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1783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Average across 3 iterations, normalised to sum = 1.0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2743200"/>
            <a:ext cx="182880" cy="164592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22592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51192" y="3154680"/>
            <a:ext cx="182880" cy="123444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2904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61504" y="2948940"/>
            <a:ext cx="182880" cy="14401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3216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71816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53528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8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74152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2752" y="3154680"/>
            <a:ext cx="182880" cy="123444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84464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13064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94776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23376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33688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15400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25712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54312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36024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64624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46336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74936" y="3771900"/>
            <a:ext cx="182880" cy="61722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56648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85248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66960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95560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77272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05872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87584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16184" y="3360420"/>
            <a:ext cx="182880" cy="102870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97896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826496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808208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S19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36808" y="3771900"/>
            <a:ext cx="182880" cy="61722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18520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247120" y="3566160"/>
            <a:ext cx="182880" cy="822960"/>
          </a:xfrm>
          <a:prstGeom prst="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228832" y="440740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88899"/>
                </a:solidFill>
                <a:latin typeface="Segoe UI"/>
              </a:defRPr>
            </a:pPr>
            <a:r>
              <a:t>S21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" y="557784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What does this tell a civil engineer?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- High bar = that slot is actively reading the soil parameters to make its prediction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- Low bar = that slot relies more on information shared from other slots (self-attention)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- Slot 1 (initial stiffness) typically has high cross-attention because initial values depend directly on soil properties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Self-Attention Rollout: How Slots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Tracking information flow between the 21 internal states across all iterations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029200" cy="4846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How It Works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In each iteration, every slot can attend to every other slot.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This creates a 21x21 weight matrix per iteration.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FACC15"/>
                </a:solidFill>
                <a:latin typeface="Segoe UI"/>
              </a:defRPr>
            </a:pPr>
            <a:r>
              <a:t>The Residual Connection: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The model adds the slot's own previous state back in: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ACC15"/>
                </a:solidFill>
                <a:latin typeface="Consolas"/>
              </a:defRPr>
            </a:pPr>
            <a:r>
              <a:t>   new_slot = LayerNorm( old_slot + attention_output 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This means ~50% of information is kept from before.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FACC15"/>
                </a:solidFill>
                <a:latin typeface="Segoe UI"/>
              </a:defRPr>
            </a:pPr>
            <a:r>
              <a:t>The Rollout: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We mix 50% identity + 50% attention at each iteration,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then multiply the three matrices together: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00FF88"/>
                </a:solidFill>
                <a:latin typeface="Consolas"/>
              </a:defRPr>
            </a:pPr>
            <a:r>
              <a:t>   R = (0.5*I + 0.5*A3) x (0.5*I + 0.5*A2) x (0.5*I + 0.5*A1)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00D2FF"/>
                </a:solidFill>
                <a:latin typeface="Segoe UI"/>
              </a:defRPr>
            </a:pPr>
            <a:r>
              <a:t>What civil engineers learn: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- Which degradation steps influence which other steps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- Whether early loading stages affect late-stage predictions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- The model's internal representation of progressive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6126480" cy="4846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463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Self-Attention Rollout Heatmap  [21 x 21]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8308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Brighter = stronger information flow from column slot to row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591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4616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638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968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70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73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175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577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980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3304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  <a:latin typeface="Segoe UI"/>
              </a:defRPr>
            </a:pPr>
            <a:r>
              <a:t>S19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2286000"/>
            <a:ext cx="384048" cy="384048"/>
          </a:xfrm>
          <a:prstGeom prst="rect">
            <a:avLst/>
          </a:prstGeom>
          <a:solidFill>
            <a:srgbClr val="33C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68896" y="2286000"/>
            <a:ext cx="384048" cy="384048"/>
          </a:xfrm>
          <a:prstGeom prst="rect">
            <a:avLst/>
          </a:prstGeom>
          <a:solidFill>
            <a:srgbClr val="0D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71232" y="2286000"/>
            <a:ext cx="384048" cy="384048"/>
          </a:xfrm>
          <a:prstGeom prst="rect">
            <a:avLst/>
          </a:prstGeom>
          <a:solidFill>
            <a:srgbClr val="092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2286000"/>
            <a:ext cx="384048" cy="384048"/>
          </a:xfrm>
          <a:prstGeom prst="rect">
            <a:avLst/>
          </a:prstGeom>
          <a:solidFill>
            <a:srgbClr val="092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5904" y="2286000"/>
            <a:ext cx="384048" cy="384048"/>
          </a:xfrm>
          <a:prstGeom prst="rect">
            <a:avLst/>
          </a:prstGeom>
          <a:solidFill>
            <a:srgbClr val="0E3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2286000"/>
            <a:ext cx="384048" cy="384048"/>
          </a:xfrm>
          <a:prstGeom prst="rect">
            <a:avLst/>
          </a:prstGeom>
          <a:solidFill>
            <a:srgbClr val="0E3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0576" y="2286000"/>
            <a:ext cx="384048" cy="384048"/>
          </a:xfrm>
          <a:prstGeom prst="rect">
            <a:avLst/>
          </a:prstGeom>
          <a:solidFill>
            <a:srgbClr val="104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82912" y="2286000"/>
            <a:ext cx="384048" cy="384048"/>
          </a:xfrm>
          <a:prstGeom prst="rect">
            <a:avLst/>
          </a:prstGeom>
          <a:solidFill>
            <a:srgbClr val="071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85248" y="2286000"/>
            <a:ext cx="384048" cy="384048"/>
          </a:xfrm>
          <a:prstGeom prst="rect">
            <a:avLst/>
          </a:prstGeom>
          <a:solidFill>
            <a:srgbClr val="0B2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87584" y="2286000"/>
            <a:ext cx="384048" cy="384048"/>
          </a:xfrm>
          <a:prstGeom prst="rect">
            <a:avLst/>
          </a:prstGeom>
          <a:solidFill>
            <a:srgbClr val="071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2688336"/>
            <a:ext cx="384048" cy="384048"/>
          </a:xfrm>
          <a:prstGeom prst="rect">
            <a:avLst/>
          </a:prstGeom>
          <a:solidFill>
            <a:srgbClr val="104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68896" y="2688336"/>
            <a:ext cx="384048" cy="384048"/>
          </a:xfrm>
          <a:prstGeom prst="rect">
            <a:avLst/>
          </a:prstGeom>
          <a:solidFill>
            <a:srgbClr val="30C1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1232" y="2688336"/>
            <a:ext cx="384048" cy="384048"/>
          </a:xfrm>
          <a:prstGeom prst="rect">
            <a:avLst/>
          </a:prstGeom>
          <a:solidFill>
            <a:srgbClr val="0D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73568" y="2688336"/>
            <a:ext cx="384048" cy="384048"/>
          </a:xfrm>
          <a:prstGeom prst="rect">
            <a:avLst/>
          </a:prstGeom>
          <a:solidFill>
            <a:srgbClr val="0106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75904" y="2688336"/>
            <a:ext cx="384048" cy="384048"/>
          </a:xfrm>
          <a:prstGeom prst="rect">
            <a:avLst/>
          </a:prstGeom>
          <a:solidFill>
            <a:srgbClr val="051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0" y="2688336"/>
            <a:ext cx="384048" cy="384048"/>
          </a:xfrm>
          <a:prstGeom prst="rect">
            <a:avLst/>
          </a:prstGeom>
          <a:solidFill>
            <a:srgbClr val="041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0576" y="2688336"/>
            <a:ext cx="384048" cy="384048"/>
          </a:xfrm>
          <a:prstGeom prst="rect">
            <a:avLst/>
          </a:prstGeom>
          <a:solidFill>
            <a:srgbClr val="010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82912" y="2688336"/>
            <a:ext cx="384048" cy="384048"/>
          </a:xfrm>
          <a:prstGeom prst="rect">
            <a:avLst/>
          </a:prstGeom>
          <a:solidFill>
            <a:srgbClr val="05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85248" y="2688336"/>
            <a:ext cx="384048" cy="384048"/>
          </a:xfrm>
          <a:prstGeom prst="rect">
            <a:avLst/>
          </a:prstGeom>
          <a:solidFill>
            <a:srgbClr val="071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87584" y="2688336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66560" y="3090672"/>
            <a:ext cx="384048" cy="384048"/>
          </a:xfrm>
          <a:prstGeom prst="rect">
            <a:avLst/>
          </a:prstGeom>
          <a:solidFill>
            <a:srgbClr val="0F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68896" y="3090672"/>
            <a:ext cx="384048" cy="384048"/>
          </a:xfrm>
          <a:prstGeom prst="rect">
            <a:avLst/>
          </a:prstGeom>
          <a:solidFill>
            <a:srgbClr val="196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71232" y="3090672"/>
            <a:ext cx="384048" cy="384048"/>
          </a:xfrm>
          <a:prstGeom prst="rect">
            <a:avLst/>
          </a:prstGeom>
          <a:solidFill>
            <a:srgbClr val="2BA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8" y="3090672"/>
            <a:ext cx="384048" cy="384048"/>
          </a:xfrm>
          <a:prstGeom prst="rect">
            <a:avLst/>
          </a:prstGeom>
          <a:solidFill>
            <a:srgbClr val="0F3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75904" y="3090672"/>
            <a:ext cx="384048" cy="384048"/>
          </a:xfrm>
          <a:prstGeom prst="rect">
            <a:avLst/>
          </a:prstGeom>
          <a:solidFill>
            <a:srgbClr val="08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78240" y="3090672"/>
            <a:ext cx="384048" cy="384048"/>
          </a:xfrm>
          <a:prstGeom prst="rect">
            <a:avLst/>
          </a:prstGeom>
          <a:solidFill>
            <a:srgbClr val="020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80576" y="3090672"/>
            <a:ext cx="384048" cy="384048"/>
          </a:xfrm>
          <a:prstGeom prst="rect">
            <a:avLst/>
          </a:prstGeom>
          <a:solidFill>
            <a:srgbClr val="000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82912" y="3090672"/>
            <a:ext cx="384048" cy="384048"/>
          </a:xfrm>
          <a:prstGeom prst="rect">
            <a:avLst/>
          </a:prstGeom>
          <a:solidFill>
            <a:srgbClr val="000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85248" y="3090672"/>
            <a:ext cx="384048" cy="384048"/>
          </a:xfrm>
          <a:prstGeom prst="rect">
            <a:avLst/>
          </a:prstGeom>
          <a:solidFill>
            <a:srgbClr val="071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87584" y="3090672"/>
            <a:ext cx="384048" cy="384048"/>
          </a:xfrm>
          <a:prstGeom prst="rect">
            <a:avLst/>
          </a:prstGeom>
          <a:solidFill>
            <a:srgbClr val="05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66560" y="3493008"/>
            <a:ext cx="384048" cy="384048"/>
          </a:xfrm>
          <a:prstGeom prst="rect">
            <a:avLst/>
          </a:prstGeom>
          <a:solidFill>
            <a:srgbClr val="0F3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68896" y="3493008"/>
            <a:ext cx="384048" cy="384048"/>
          </a:xfrm>
          <a:prstGeom prst="rect">
            <a:avLst/>
          </a:prstGeom>
          <a:solidFill>
            <a:srgbClr val="061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71232" y="3493008"/>
            <a:ext cx="384048" cy="384048"/>
          </a:xfrm>
          <a:prstGeom prst="rect">
            <a:avLst/>
          </a:prstGeom>
          <a:solidFill>
            <a:srgbClr val="165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73568" y="3493008"/>
            <a:ext cx="384048" cy="384048"/>
          </a:xfrm>
          <a:prstGeom prst="rect">
            <a:avLst/>
          </a:prstGeom>
          <a:solidFill>
            <a:srgbClr val="3CF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75904" y="3493008"/>
            <a:ext cx="384048" cy="384048"/>
          </a:xfrm>
          <a:prstGeom prst="rect">
            <a:avLst/>
          </a:prstGeom>
          <a:solidFill>
            <a:srgbClr val="134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78240" y="3493008"/>
            <a:ext cx="384048" cy="384048"/>
          </a:xfrm>
          <a:prstGeom prst="rect">
            <a:avLst/>
          </a:prstGeom>
          <a:solidFill>
            <a:srgbClr val="041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80576" y="3493008"/>
            <a:ext cx="384048" cy="384048"/>
          </a:xfrm>
          <a:prstGeom prst="rect">
            <a:avLst/>
          </a:prstGeom>
          <a:solidFill>
            <a:srgbClr val="071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82912" y="3493008"/>
            <a:ext cx="384048" cy="384048"/>
          </a:xfrm>
          <a:prstGeom prst="rect">
            <a:avLst/>
          </a:prstGeom>
          <a:solidFill>
            <a:srgbClr val="05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85248" y="3493008"/>
            <a:ext cx="384048" cy="384048"/>
          </a:xfrm>
          <a:prstGeom prst="rect">
            <a:avLst/>
          </a:prstGeom>
          <a:solidFill>
            <a:srgbClr val="071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87584" y="3493008"/>
            <a:ext cx="384048" cy="384048"/>
          </a:xfrm>
          <a:prstGeom prst="rect">
            <a:avLst/>
          </a:prstGeom>
          <a:solidFill>
            <a:srgbClr val="05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66560" y="3895344"/>
            <a:ext cx="384048" cy="384048"/>
          </a:xfrm>
          <a:prstGeom prst="rect">
            <a:avLst/>
          </a:prstGeom>
          <a:solidFill>
            <a:srgbClr val="0E3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68896" y="3895344"/>
            <a:ext cx="384048" cy="384048"/>
          </a:xfrm>
          <a:prstGeom prst="rect">
            <a:avLst/>
          </a:prstGeom>
          <a:solidFill>
            <a:srgbClr val="00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71232" y="3895344"/>
            <a:ext cx="384048" cy="384048"/>
          </a:xfrm>
          <a:prstGeom prst="rect">
            <a:avLst/>
          </a:prstGeom>
          <a:solidFill>
            <a:srgbClr val="010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73568" y="3895344"/>
            <a:ext cx="384048" cy="384048"/>
          </a:xfrm>
          <a:prstGeom prst="rect">
            <a:avLst/>
          </a:prstGeom>
          <a:solidFill>
            <a:srgbClr val="124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75904" y="3895344"/>
            <a:ext cx="384048" cy="384048"/>
          </a:xfrm>
          <a:prstGeom prst="rect">
            <a:avLst/>
          </a:prstGeom>
          <a:solidFill>
            <a:srgbClr val="259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778240" y="3895344"/>
            <a:ext cx="384048" cy="384048"/>
          </a:xfrm>
          <a:prstGeom prst="rect">
            <a:avLst/>
          </a:prstGeom>
          <a:solidFill>
            <a:srgbClr val="114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80576" y="3895344"/>
            <a:ext cx="384048" cy="384048"/>
          </a:xfrm>
          <a:prstGeom prst="rect">
            <a:avLst/>
          </a:prstGeom>
          <a:solidFill>
            <a:srgbClr val="000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82912" y="3895344"/>
            <a:ext cx="384048" cy="384048"/>
          </a:xfrm>
          <a:prstGeom prst="rect">
            <a:avLst/>
          </a:prstGeom>
          <a:solidFill>
            <a:srgbClr val="0209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985248" y="3895344"/>
            <a:ext cx="384048" cy="384048"/>
          </a:xfrm>
          <a:prstGeom prst="rect">
            <a:avLst/>
          </a:prstGeom>
          <a:solidFill>
            <a:srgbClr val="051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387584" y="3895344"/>
            <a:ext cx="384048" cy="384048"/>
          </a:xfrm>
          <a:prstGeom prst="rect">
            <a:avLst/>
          </a:prstGeom>
          <a:solidFill>
            <a:srgbClr val="030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66560" y="4297680"/>
            <a:ext cx="384048" cy="384048"/>
          </a:xfrm>
          <a:prstGeom prst="rect">
            <a:avLst/>
          </a:prstGeom>
          <a:solidFill>
            <a:srgbClr val="0A2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68896" y="4297680"/>
            <a:ext cx="384048" cy="384048"/>
          </a:xfrm>
          <a:prstGeom prst="rect">
            <a:avLst/>
          </a:prstGeom>
          <a:solidFill>
            <a:srgbClr val="010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71232" y="4297680"/>
            <a:ext cx="384048" cy="384048"/>
          </a:xfrm>
          <a:prstGeom prst="rect">
            <a:avLst/>
          </a:prstGeom>
          <a:solidFill>
            <a:srgbClr val="0209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973568" y="4297680"/>
            <a:ext cx="384048" cy="384048"/>
          </a:xfrm>
          <a:prstGeom prst="rect">
            <a:avLst/>
          </a:prstGeom>
          <a:solidFill>
            <a:srgbClr val="082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75904" y="4297680"/>
            <a:ext cx="384048" cy="384048"/>
          </a:xfrm>
          <a:prstGeom prst="rect">
            <a:avLst/>
          </a:prstGeom>
          <a:solidFill>
            <a:srgbClr val="186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778240" y="4297680"/>
            <a:ext cx="384048" cy="384048"/>
          </a:xfrm>
          <a:prstGeom prst="rect">
            <a:avLst/>
          </a:prstGeom>
          <a:solidFill>
            <a:srgbClr val="32C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80576" y="4297680"/>
            <a:ext cx="384048" cy="384048"/>
          </a:xfrm>
          <a:prstGeom prst="rect">
            <a:avLst/>
          </a:prstGeom>
          <a:solidFill>
            <a:srgbClr val="104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82912" y="4297680"/>
            <a:ext cx="384048" cy="384048"/>
          </a:xfrm>
          <a:prstGeom prst="rect">
            <a:avLst/>
          </a:prstGeom>
          <a:solidFill>
            <a:srgbClr val="061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985248" y="4297680"/>
            <a:ext cx="384048" cy="384048"/>
          </a:xfrm>
          <a:prstGeom prst="rect">
            <a:avLst/>
          </a:prstGeom>
          <a:solidFill>
            <a:srgbClr val="010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87584" y="4297680"/>
            <a:ext cx="384048" cy="384048"/>
          </a:xfrm>
          <a:prstGeom prst="rect">
            <a:avLst/>
          </a:prstGeom>
          <a:solidFill>
            <a:srgbClr val="03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766560" y="4700016"/>
            <a:ext cx="384048" cy="384048"/>
          </a:xfrm>
          <a:prstGeom prst="rect">
            <a:avLst/>
          </a:prstGeom>
          <a:solidFill>
            <a:srgbClr val="114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168896" y="4700016"/>
            <a:ext cx="384048" cy="384048"/>
          </a:xfrm>
          <a:prstGeom prst="rect">
            <a:avLst/>
          </a:prstGeom>
          <a:solidFill>
            <a:srgbClr val="051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571232" y="4700016"/>
            <a:ext cx="384048" cy="384048"/>
          </a:xfrm>
          <a:prstGeom prst="rect">
            <a:avLst/>
          </a:prstGeom>
          <a:solidFill>
            <a:srgbClr val="041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73568" y="4700016"/>
            <a:ext cx="384048" cy="384048"/>
          </a:xfrm>
          <a:prstGeom prst="rect">
            <a:avLst/>
          </a:prstGeom>
          <a:solidFill>
            <a:srgbClr val="051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75904" y="4700016"/>
            <a:ext cx="384048" cy="384048"/>
          </a:xfrm>
          <a:prstGeom prst="rect">
            <a:avLst/>
          </a:prstGeom>
          <a:solidFill>
            <a:srgbClr val="071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78240" y="4700016"/>
            <a:ext cx="384048" cy="384048"/>
          </a:xfrm>
          <a:prstGeom prst="rect">
            <a:avLst/>
          </a:prstGeom>
          <a:solidFill>
            <a:srgbClr val="1A6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180576" y="4700016"/>
            <a:ext cx="384048" cy="384048"/>
          </a:xfrm>
          <a:prstGeom prst="rect">
            <a:avLst/>
          </a:prstGeom>
          <a:solidFill>
            <a:srgbClr val="29A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582912" y="4700016"/>
            <a:ext cx="384048" cy="384048"/>
          </a:xfrm>
          <a:prstGeom prst="rect">
            <a:avLst/>
          </a:prstGeom>
          <a:solidFill>
            <a:srgbClr val="0D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985248" y="4700016"/>
            <a:ext cx="384048" cy="384048"/>
          </a:xfrm>
          <a:prstGeom prst="rect">
            <a:avLst/>
          </a:prstGeom>
          <a:solidFill>
            <a:srgbClr val="020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387584" y="4700016"/>
            <a:ext cx="384048" cy="384048"/>
          </a:xfrm>
          <a:prstGeom prst="rect">
            <a:avLst/>
          </a:prstGeom>
          <a:solidFill>
            <a:srgbClr val="0209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66560" y="5102352"/>
            <a:ext cx="384048" cy="384048"/>
          </a:xfrm>
          <a:prstGeom prst="rect">
            <a:avLst/>
          </a:prstGeom>
          <a:solidFill>
            <a:srgbClr val="092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168896" y="5102352"/>
            <a:ext cx="384048" cy="384048"/>
          </a:xfrm>
          <a:prstGeom prst="rect">
            <a:avLst/>
          </a:prstGeom>
          <a:solidFill>
            <a:srgbClr val="082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571232" y="5102352"/>
            <a:ext cx="384048" cy="384048"/>
          </a:xfrm>
          <a:prstGeom prst="rect">
            <a:avLst/>
          </a:prstGeom>
          <a:solidFill>
            <a:srgbClr val="071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973568" y="5102352"/>
            <a:ext cx="384048" cy="384048"/>
          </a:xfrm>
          <a:prstGeom prst="rect">
            <a:avLst/>
          </a:prstGeom>
          <a:solidFill>
            <a:srgbClr val="020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375904" y="5102352"/>
            <a:ext cx="384048" cy="384048"/>
          </a:xfrm>
          <a:prstGeom prst="rect">
            <a:avLst/>
          </a:prstGeom>
          <a:solidFill>
            <a:srgbClr val="051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78240" y="5102352"/>
            <a:ext cx="384048" cy="384048"/>
          </a:xfrm>
          <a:prstGeom prst="rect">
            <a:avLst/>
          </a:prstGeom>
          <a:solidFill>
            <a:srgbClr val="03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80576" y="5102352"/>
            <a:ext cx="384048" cy="384048"/>
          </a:xfrm>
          <a:prstGeom prst="rect">
            <a:avLst/>
          </a:prstGeom>
          <a:solidFill>
            <a:srgbClr val="1D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82912" y="5102352"/>
            <a:ext cx="384048" cy="384048"/>
          </a:xfrm>
          <a:prstGeom prst="rect">
            <a:avLst/>
          </a:prstGeom>
          <a:solidFill>
            <a:srgbClr val="2FB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985248" y="5102352"/>
            <a:ext cx="384048" cy="384048"/>
          </a:xfrm>
          <a:prstGeom prst="rect">
            <a:avLst/>
          </a:prstGeom>
          <a:solidFill>
            <a:srgbClr val="114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387584" y="5102352"/>
            <a:ext cx="384048" cy="384048"/>
          </a:xfrm>
          <a:prstGeom prst="rect">
            <a:avLst/>
          </a:prstGeom>
          <a:solidFill>
            <a:srgbClr val="0208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66560" y="5504688"/>
            <a:ext cx="384048" cy="384048"/>
          </a:xfrm>
          <a:prstGeom prst="rect">
            <a:avLst/>
          </a:prstGeom>
          <a:solidFill>
            <a:srgbClr val="0C3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168896" y="5504688"/>
            <a:ext cx="384048" cy="384048"/>
          </a:xfrm>
          <a:prstGeom prst="rect">
            <a:avLst/>
          </a:prstGeom>
          <a:solidFill>
            <a:srgbClr val="0209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71232" y="5504688"/>
            <a:ext cx="384048" cy="384048"/>
          </a:xfrm>
          <a:prstGeom prst="rect">
            <a:avLst/>
          </a:prstGeom>
          <a:solidFill>
            <a:srgbClr val="05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73568" y="5504688"/>
            <a:ext cx="384048" cy="384048"/>
          </a:xfrm>
          <a:prstGeom prst="rect">
            <a:avLst/>
          </a:prstGeom>
          <a:solidFill>
            <a:srgbClr val="071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375904" y="5504688"/>
            <a:ext cx="384048" cy="384048"/>
          </a:xfrm>
          <a:prstGeom prst="rect">
            <a:avLst/>
          </a:prstGeom>
          <a:solidFill>
            <a:srgbClr val="03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78240" y="5504688"/>
            <a:ext cx="384048" cy="384048"/>
          </a:xfrm>
          <a:prstGeom prst="rect">
            <a:avLst/>
          </a:prstGeom>
          <a:solidFill>
            <a:srgbClr val="010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180576" y="5504688"/>
            <a:ext cx="384048" cy="384048"/>
          </a:xfrm>
          <a:prstGeom prst="rect">
            <a:avLst/>
          </a:prstGeom>
          <a:solidFill>
            <a:srgbClr val="082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82912" y="5504688"/>
            <a:ext cx="384048" cy="384048"/>
          </a:xfrm>
          <a:prstGeom prst="rect">
            <a:avLst/>
          </a:prstGeom>
          <a:solidFill>
            <a:srgbClr val="165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5248" y="5504688"/>
            <a:ext cx="384048" cy="384048"/>
          </a:xfrm>
          <a:prstGeom prst="rect">
            <a:avLst/>
          </a:prstGeom>
          <a:solidFill>
            <a:srgbClr val="259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387584" y="5504688"/>
            <a:ext cx="384048" cy="384048"/>
          </a:xfrm>
          <a:prstGeom prst="rect">
            <a:avLst/>
          </a:prstGeom>
          <a:solidFill>
            <a:srgbClr val="0D3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766560" y="5907024"/>
            <a:ext cx="384048" cy="384048"/>
          </a:xfrm>
          <a:prstGeom prst="rect">
            <a:avLst/>
          </a:prstGeom>
          <a:solidFill>
            <a:srgbClr val="082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168896" y="5907024"/>
            <a:ext cx="384048" cy="384048"/>
          </a:xfrm>
          <a:prstGeom prst="rect">
            <a:avLst/>
          </a:prstGeom>
          <a:solidFill>
            <a:srgbClr val="05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571232" y="5907024"/>
            <a:ext cx="384048" cy="384048"/>
          </a:xfrm>
          <a:prstGeom prst="rect">
            <a:avLst/>
          </a:prstGeom>
          <a:solidFill>
            <a:srgbClr val="061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973568" y="5907024"/>
            <a:ext cx="384048" cy="384048"/>
          </a:xfrm>
          <a:prstGeom prst="rect">
            <a:avLst/>
          </a:prstGeom>
          <a:solidFill>
            <a:srgbClr val="030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375904" y="5907024"/>
            <a:ext cx="384048" cy="384048"/>
          </a:xfrm>
          <a:prstGeom prst="rect">
            <a:avLst/>
          </a:prstGeom>
          <a:solidFill>
            <a:srgbClr val="0002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78240" y="5907024"/>
            <a:ext cx="384048" cy="384048"/>
          </a:xfrm>
          <a:prstGeom prst="rect">
            <a:avLst/>
          </a:prstGeom>
          <a:solidFill>
            <a:srgbClr val="03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80576" y="5907024"/>
            <a:ext cx="384048" cy="384048"/>
          </a:xfrm>
          <a:prstGeom prst="rect">
            <a:avLst/>
          </a:prstGeom>
          <a:solidFill>
            <a:srgbClr val="082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582912" y="5907024"/>
            <a:ext cx="384048" cy="384048"/>
          </a:xfrm>
          <a:prstGeom prst="rect">
            <a:avLst/>
          </a:prstGeom>
          <a:solidFill>
            <a:srgbClr val="041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985248" y="5907024"/>
            <a:ext cx="384048" cy="384048"/>
          </a:xfrm>
          <a:prstGeom prst="rect">
            <a:avLst/>
          </a:prstGeom>
          <a:solidFill>
            <a:srgbClr val="1E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387584" y="5907024"/>
            <a:ext cx="384048" cy="384048"/>
          </a:xfrm>
          <a:prstGeom prst="rect">
            <a:avLst/>
          </a:prstGeom>
          <a:solidFill>
            <a:srgbClr val="39E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863840" y="63825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Source Slot (Key)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43600" y="5029200"/>
            <a:ext cx="5577840" cy="10058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80760" y="50749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Reading the Heatmap: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DDDDDD"/>
                </a:solidFill>
                <a:latin typeface="Segoe UI"/>
              </a:defRPr>
            </a:pPr>
            <a:r>
              <a:t>Bright diagonal = each slot retains its own information (residual connection)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DDDDDD"/>
                </a:solidFill>
                <a:latin typeface="Segoe UI"/>
              </a:defRPr>
            </a:pPr>
            <a:r>
              <a:t>Bright off-diagonal = strong communication between those slots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DDDDDD"/>
                </a:solidFill>
                <a:latin typeface="Segoe UI"/>
              </a:defRPr>
            </a:pPr>
            <a:r>
              <a:t>Bright first row/column = initial slot influences or is influenced by all others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Feature Attribution: Which Soil Parameters Matter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Gradient x Input (fast) and Integrated Gradients (precise) trace predictions back to the 8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How Feature Attribution Works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Both methods answer: 'If I change this soil parameter slightly,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how much does the predicted stiffness change?'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FACC15"/>
                </a:solidFill>
                <a:latin typeface="Segoe UI"/>
              </a:defRPr>
            </a:pPr>
            <a:r>
              <a:t>Gradient x Input (Default -- ~50 ms):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Takes one snapshot: multiply each feature value by its gradient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4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300" b="1">
                <a:solidFill>
                  <a:srgbClr val="00FF88"/>
                </a:solidFill>
                <a:latin typeface="Segoe UI"/>
              </a:defRPr>
            </a:pPr>
            <a:r>
              <a:t>Integrated Gradients (Precise -- ~2 sec):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Traces a path from 'no soil' to 'actual soil', averaging gradients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  Guarantees all attributions sum exactly to the predicted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Typical Feature Importance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(% contribution to prediction)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121408"/>
            <a:ext cx="3200400" cy="1554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20" y="21031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Segoe UI"/>
              </a:defRPr>
            </a:pPr>
            <a:r>
              <a:t>28.5%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225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340864"/>
            <a:ext cx="2717532" cy="155448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8452" y="232257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A500"/>
                </a:solidFill>
                <a:latin typeface="Segoe UI"/>
              </a:defRPr>
            </a:pPr>
            <a:r>
              <a:t>24.2%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4203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560320"/>
            <a:ext cx="1774256" cy="155448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5176" y="25420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FF88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614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Dp/Lp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779776"/>
            <a:ext cx="1268930" cy="1554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9850" y="27614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Segoe UI"/>
              </a:defRPr>
            </a:pPr>
            <a:r>
              <a:t>11.3%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8094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999232"/>
            <a:ext cx="909587" cy="1554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0507" y="29809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218688"/>
            <a:ext cx="628850" cy="155448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9770" y="32004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2FF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41985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084FC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438144"/>
            <a:ext cx="471637" cy="155448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2557" y="34198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84FC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6393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657600"/>
            <a:ext cx="258277" cy="1554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9197" y="36393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72B6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206240"/>
            <a:ext cx="11430000" cy="237744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Feature Attribution Heatmap: [3 variables x 21 steps x 8 features]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For each stiffness variable: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8920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KL (Lateral)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507492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62456" y="5074920"/>
            <a:ext cx="256032" cy="146304"/>
          </a:xfrm>
          <a:prstGeom prst="rect">
            <a:avLst/>
          </a:prstGeom>
          <a:solidFill>
            <a:srgbClr val="9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27632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92808" y="5074920"/>
            <a:ext cx="256032" cy="146304"/>
          </a:xfrm>
          <a:prstGeom prst="rect">
            <a:avLst/>
          </a:prstGeom>
          <a:solidFill>
            <a:srgbClr val="A2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57984" y="5074920"/>
            <a:ext cx="256032" cy="146304"/>
          </a:xfrm>
          <a:prstGeom prst="rect">
            <a:avLst/>
          </a:prstGeom>
          <a:solidFill>
            <a:srgbClr val="1B2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23160" y="5074920"/>
            <a:ext cx="256032" cy="146304"/>
          </a:xfrm>
          <a:prstGeom prst="rect">
            <a:avLst/>
          </a:prstGeom>
          <a:solidFill>
            <a:srgbClr val="E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88336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53512" y="5074920"/>
            <a:ext cx="256032" cy="146304"/>
          </a:xfrm>
          <a:prstGeom prst="rect">
            <a:avLst/>
          </a:prstGeom>
          <a:solidFill>
            <a:srgbClr val="1D3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18688" y="5074920"/>
            <a:ext cx="256032" cy="146304"/>
          </a:xfrm>
          <a:prstGeom prst="rect">
            <a:avLst/>
          </a:prstGeom>
          <a:solidFill>
            <a:srgbClr val="A0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83864" y="5074920"/>
            <a:ext cx="256032" cy="146304"/>
          </a:xfrm>
          <a:prstGeom prst="rect">
            <a:avLst/>
          </a:prstGeom>
          <a:solidFill>
            <a:srgbClr val="CB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5230368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7280" y="5230368"/>
            <a:ext cx="256032" cy="146304"/>
          </a:xfrm>
          <a:prstGeom prst="rect">
            <a:avLst/>
          </a:prstGeom>
          <a:solidFill>
            <a:srgbClr val="DE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62456" y="5230368"/>
            <a:ext cx="256032" cy="146304"/>
          </a:xfrm>
          <a:prstGeom prst="rect">
            <a:avLst/>
          </a:prstGeom>
          <a:solidFill>
            <a:srgbClr val="C9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27632" y="5230368"/>
            <a:ext cx="256032" cy="146304"/>
          </a:xfrm>
          <a:prstGeom prst="rect">
            <a:avLst/>
          </a:prstGeom>
          <a:solidFill>
            <a:srgbClr val="CD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92808" y="5230368"/>
            <a:ext cx="256032" cy="146304"/>
          </a:xfrm>
          <a:prstGeom prst="rect">
            <a:avLst/>
          </a:prstGeom>
          <a:solidFill>
            <a:srgbClr val="A6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57984" y="5230368"/>
            <a:ext cx="256032" cy="146304"/>
          </a:xfrm>
          <a:prstGeom prst="rect">
            <a:avLst/>
          </a:prstGeom>
          <a:solidFill>
            <a:srgbClr val="8B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23160" y="5230368"/>
            <a:ext cx="256032" cy="146304"/>
          </a:xfrm>
          <a:prstGeom prst="rect">
            <a:avLst/>
          </a:prstGeom>
          <a:solidFill>
            <a:srgbClr val="305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88336" y="5230368"/>
            <a:ext cx="256032" cy="146304"/>
          </a:xfrm>
          <a:prstGeom prst="rect">
            <a:avLst/>
          </a:prstGeom>
          <a:solidFill>
            <a:srgbClr val="B9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53512" y="5230368"/>
            <a:ext cx="256032" cy="146304"/>
          </a:xfrm>
          <a:prstGeom prst="rect">
            <a:avLst/>
          </a:prstGeom>
          <a:solidFill>
            <a:srgbClr val="D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18688" y="5230368"/>
            <a:ext cx="256032" cy="146304"/>
          </a:xfrm>
          <a:prstGeom prst="rect">
            <a:avLst/>
          </a:prstGeom>
          <a:solidFill>
            <a:srgbClr val="98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83864" y="5230368"/>
            <a:ext cx="256032" cy="146304"/>
          </a:xfrm>
          <a:prstGeom prst="rect">
            <a:avLst/>
          </a:prstGeom>
          <a:solidFill>
            <a:srgbClr val="F1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" y="5385816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7280" y="5385816"/>
            <a:ext cx="256032" cy="146304"/>
          </a:xfrm>
          <a:prstGeom prst="rect">
            <a:avLst/>
          </a:prstGeom>
          <a:solidFill>
            <a:srgbClr val="8A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362456" y="5385816"/>
            <a:ext cx="256032" cy="146304"/>
          </a:xfrm>
          <a:prstGeom prst="rect">
            <a:avLst/>
          </a:prstGeom>
          <a:solidFill>
            <a:srgbClr val="31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27632" y="5385816"/>
            <a:ext cx="256032" cy="146304"/>
          </a:xfrm>
          <a:prstGeom prst="rect">
            <a:avLst/>
          </a:prstGeom>
          <a:solidFill>
            <a:srgbClr val="18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92808" y="5385816"/>
            <a:ext cx="256032" cy="146304"/>
          </a:xfrm>
          <a:prstGeom prst="rect">
            <a:avLst/>
          </a:prstGeom>
          <a:solidFill>
            <a:srgbClr val="8C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57984" y="5385816"/>
            <a:ext cx="256032" cy="146304"/>
          </a:xfrm>
          <a:prstGeom prst="rect">
            <a:avLst/>
          </a:prstGeom>
          <a:solidFill>
            <a:srgbClr val="73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423160" y="5385816"/>
            <a:ext cx="256032" cy="146304"/>
          </a:xfrm>
          <a:prstGeom prst="rect">
            <a:avLst/>
          </a:prstGeom>
          <a:solidFill>
            <a:srgbClr val="4B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88336" y="5385816"/>
            <a:ext cx="256032" cy="146304"/>
          </a:xfrm>
          <a:prstGeom prst="rect">
            <a:avLst/>
          </a:prstGeom>
          <a:solidFill>
            <a:srgbClr val="132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53512" y="5385816"/>
            <a:ext cx="256032" cy="146304"/>
          </a:xfrm>
          <a:prstGeom prst="rect">
            <a:avLst/>
          </a:prstGeom>
          <a:solidFill>
            <a:srgbClr val="6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18688" y="5385816"/>
            <a:ext cx="256032" cy="146304"/>
          </a:xfrm>
          <a:prstGeom prst="rect">
            <a:avLst/>
          </a:prstGeom>
          <a:solidFill>
            <a:srgbClr val="070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83864" y="5385816"/>
            <a:ext cx="256032" cy="146304"/>
          </a:xfrm>
          <a:prstGeom prst="rect">
            <a:avLst/>
          </a:prstGeom>
          <a:solidFill>
            <a:srgbClr val="5F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8" y="5541264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5541264"/>
            <a:ext cx="256032" cy="146304"/>
          </a:xfrm>
          <a:prstGeom prst="rect">
            <a:avLst/>
          </a:prstGeom>
          <a:solidFill>
            <a:srgbClr val="0F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62456" y="5541264"/>
            <a:ext cx="256032" cy="146304"/>
          </a:xfrm>
          <a:prstGeom prst="rect">
            <a:avLst/>
          </a:prstGeom>
          <a:solidFill>
            <a:srgbClr val="050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27632" y="5541264"/>
            <a:ext cx="256032" cy="146304"/>
          </a:xfrm>
          <a:prstGeom prst="rect">
            <a:avLst/>
          </a:prstGeom>
          <a:solidFill>
            <a:srgbClr val="0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92808" y="5541264"/>
            <a:ext cx="256032" cy="146304"/>
          </a:xfrm>
          <a:prstGeom prst="rect">
            <a:avLst/>
          </a:prstGeom>
          <a:solidFill>
            <a:srgbClr val="62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57984" y="5541264"/>
            <a:ext cx="256032" cy="146304"/>
          </a:xfrm>
          <a:prstGeom prst="rect">
            <a:avLst/>
          </a:prstGeom>
          <a:solidFill>
            <a:srgbClr val="5D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23160" y="5541264"/>
            <a:ext cx="256032" cy="146304"/>
          </a:xfrm>
          <a:prstGeom prst="rect">
            <a:avLst/>
          </a:prstGeom>
          <a:solidFill>
            <a:srgbClr val="5F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88336" y="5541264"/>
            <a:ext cx="256032" cy="146304"/>
          </a:xfrm>
          <a:prstGeom prst="rect">
            <a:avLst/>
          </a:prstGeom>
          <a:solidFill>
            <a:srgbClr val="45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53512" y="5541264"/>
            <a:ext cx="256032" cy="146304"/>
          </a:xfrm>
          <a:prstGeom prst="rect">
            <a:avLst/>
          </a:prstGeom>
          <a:solidFill>
            <a:srgbClr val="121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18688" y="5541264"/>
            <a:ext cx="256032" cy="146304"/>
          </a:xfrm>
          <a:prstGeom prst="rect">
            <a:avLst/>
          </a:prstGeom>
          <a:solidFill>
            <a:srgbClr val="6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83864" y="5541264"/>
            <a:ext cx="256032" cy="146304"/>
          </a:xfrm>
          <a:prstGeom prst="rect">
            <a:avLst/>
          </a:prstGeom>
          <a:solidFill>
            <a:srgbClr val="37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" y="5696712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696712"/>
            <a:ext cx="256032" cy="146304"/>
          </a:xfrm>
          <a:prstGeom prst="rect">
            <a:avLst/>
          </a:prstGeom>
          <a:solidFill>
            <a:srgbClr val="1B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62456" y="5696712"/>
            <a:ext cx="256032" cy="146304"/>
          </a:xfrm>
          <a:prstGeom prst="rect">
            <a:avLst/>
          </a:prstGeom>
          <a:solidFill>
            <a:srgbClr val="0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27632" y="5696712"/>
            <a:ext cx="256032" cy="146304"/>
          </a:xfrm>
          <a:prstGeom prst="rect">
            <a:avLst/>
          </a:prstGeom>
          <a:solidFill>
            <a:srgbClr val="06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892808" y="5696712"/>
            <a:ext cx="256032" cy="146304"/>
          </a:xfrm>
          <a:prstGeom prst="rect">
            <a:avLst/>
          </a:prstGeom>
          <a:solidFill>
            <a:srgbClr val="0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157984" y="5696712"/>
            <a:ext cx="256032" cy="146304"/>
          </a:xfrm>
          <a:prstGeom prst="rect">
            <a:avLst/>
          </a:prstGeom>
          <a:solidFill>
            <a:srgbClr val="18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423160" y="5696712"/>
            <a:ext cx="256032" cy="146304"/>
          </a:xfrm>
          <a:prstGeom prst="rect">
            <a:avLst/>
          </a:prstGeom>
          <a:solidFill>
            <a:srgbClr val="10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88336" y="5696712"/>
            <a:ext cx="256032" cy="146304"/>
          </a:xfrm>
          <a:prstGeom prst="rect">
            <a:avLst/>
          </a:prstGeom>
          <a:solidFill>
            <a:srgbClr val="35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53512" y="5696712"/>
            <a:ext cx="256032" cy="146304"/>
          </a:xfrm>
          <a:prstGeom prst="rect">
            <a:avLst/>
          </a:prstGeom>
          <a:solidFill>
            <a:srgbClr val="1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18688" y="5696712"/>
            <a:ext cx="256032" cy="146304"/>
          </a:xfrm>
          <a:prstGeom prst="rect">
            <a:avLst/>
          </a:prstGeom>
          <a:solidFill>
            <a:srgbClr val="050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83864" y="5696712"/>
            <a:ext cx="256032" cy="146304"/>
          </a:xfrm>
          <a:prstGeom prst="rect">
            <a:avLst/>
          </a:prstGeom>
          <a:solidFill>
            <a:srgbClr val="04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2648" y="585216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97280" y="5852160"/>
            <a:ext cx="256032" cy="146304"/>
          </a:xfrm>
          <a:prstGeom prst="rect">
            <a:avLst/>
          </a:prstGeom>
          <a:solidFill>
            <a:srgbClr val="040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362456" y="5852160"/>
            <a:ext cx="256032" cy="146304"/>
          </a:xfrm>
          <a:prstGeom prst="rect">
            <a:avLst/>
          </a:prstGeom>
          <a:solidFill>
            <a:srgbClr val="0E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27632" y="5852160"/>
            <a:ext cx="256032" cy="146304"/>
          </a:xfrm>
          <a:prstGeom prst="rect">
            <a:avLst/>
          </a:prstGeom>
          <a:solidFill>
            <a:srgbClr val="091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892808" y="5852160"/>
            <a:ext cx="256032" cy="146304"/>
          </a:xfrm>
          <a:prstGeom prst="rect">
            <a:avLst/>
          </a:prstGeom>
          <a:solidFill>
            <a:srgbClr val="2509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157984" y="5852160"/>
            <a:ext cx="256032" cy="146304"/>
          </a:xfrm>
          <a:prstGeom prst="rect">
            <a:avLst/>
          </a:prstGeom>
          <a:solidFill>
            <a:srgbClr val="090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423160" y="5852160"/>
            <a:ext cx="256032" cy="146304"/>
          </a:xfrm>
          <a:prstGeom prst="rect">
            <a:avLst/>
          </a:prstGeom>
          <a:solidFill>
            <a:srgbClr val="05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688336" y="5852160"/>
            <a:ext cx="256032" cy="146304"/>
          </a:xfrm>
          <a:prstGeom prst="rect">
            <a:avLst/>
          </a:prstGeom>
          <a:solidFill>
            <a:srgbClr val="39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953512" y="5852160"/>
            <a:ext cx="256032" cy="146304"/>
          </a:xfrm>
          <a:prstGeom prst="rect">
            <a:avLst/>
          </a:prstGeom>
          <a:solidFill>
            <a:srgbClr val="0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18688" y="5852160"/>
            <a:ext cx="256032" cy="146304"/>
          </a:xfrm>
          <a:prstGeom prst="rect">
            <a:avLst/>
          </a:prstGeom>
          <a:solidFill>
            <a:srgbClr val="050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483864" y="5852160"/>
            <a:ext cx="256032" cy="146304"/>
          </a:xfrm>
          <a:prstGeom prst="rect">
            <a:avLst/>
          </a:prstGeom>
          <a:solidFill>
            <a:srgbClr val="0D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2648" y="6007608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97280" y="6007608"/>
            <a:ext cx="256032" cy="146304"/>
          </a:xfrm>
          <a:prstGeom prst="rect">
            <a:avLst/>
          </a:prstGeom>
          <a:solidFill>
            <a:srgbClr val="12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362456" y="6007608"/>
            <a:ext cx="256032" cy="146304"/>
          </a:xfrm>
          <a:prstGeom prst="rect">
            <a:avLst/>
          </a:prstGeom>
          <a:solidFill>
            <a:srgbClr val="1D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27632" y="6007608"/>
            <a:ext cx="256032" cy="146304"/>
          </a:xfrm>
          <a:prstGeom prst="rect">
            <a:avLst/>
          </a:prstGeom>
          <a:solidFill>
            <a:srgbClr val="090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892808" y="6007608"/>
            <a:ext cx="256032" cy="146304"/>
          </a:xfrm>
          <a:prstGeom prst="rect">
            <a:avLst/>
          </a:prstGeom>
          <a:solidFill>
            <a:srgbClr val="040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157984" y="6007608"/>
            <a:ext cx="256032" cy="146304"/>
          </a:xfrm>
          <a:prstGeom prst="rect">
            <a:avLst/>
          </a:prstGeom>
          <a:solidFill>
            <a:srgbClr val="1C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423160" y="6007608"/>
            <a:ext cx="256032" cy="146304"/>
          </a:xfrm>
          <a:prstGeom prst="rect">
            <a:avLst/>
          </a:prstGeom>
          <a:solidFill>
            <a:srgbClr val="040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88336" y="6007608"/>
            <a:ext cx="256032" cy="146304"/>
          </a:xfrm>
          <a:prstGeom prst="rect">
            <a:avLst/>
          </a:prstGeom>
          <a:solidFill>
            <a:srgbClr val="04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953512" y="6007608"/>
            <a:ext cx="256032" cy="146304"/>
          </a:xfrm>
          <a:prstGeom prst="rect">
            <a:avLst/>
          </a:prstGeom>
          <a:solidFill>
            <a:srgbClr val="04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218688" y="6007608"/>
            <a:ext cx="256032" cy="146304"/>
          </a:xfrm>
          <a:prstGeom prst="rect">
            <a:avLst/>
          </a:prstGeom>
          <a:solidFill>
            <a:srgbClr val="2C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483864" y="6007608"/>
            <a:ext cx="256032" cy="146304"/>
          </a:xfrm>
          <a:prstGeom prst="rect">
            <a:avLst/>
          </a:prstGeom>
          <a:solidFill>
            <a:srgbClr val="060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2648" y="6163056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472B6"/>
                </a:solidFill>
                <a:latin typeface="Segoe UI"/>
              </a:defRPr>
            </a:pPr>
            <a:r>
              <a:t>D/L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97280" y="6163056"/>
            <a:ext cx="256032" cy="146304"/>
          </a:xfrm>
          <a:prstGeom prst="rect">
            <a:avLst/>
          </a:prstGeom>
          <a:solidFill>
            <a:srgbClr val="090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362456" y="6163056"/>
            <a:ext cx="256032" cy="146304"/>
          </a:xfrm>
          <a:prstGeom prst="rect">
            <a:avLst/>
          </a:prstGeom>
          <a:solidFill>
            <a:srgbClr val="13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627632" y="6163056"/>
            <a:ext cx="256032" cy="146304"/>
          </a:xfrm>
          <a:prstGeom prst="rect">
            <a:avLst/>
          </a:prstGeom>
          <a:solidFill>
            <a:srgbClr val="04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892808" y="6163056"/>
            <a:ext cx="256032" cy="146304"/>
          </a:xfrm>
          <a:prstGeom prst="rect">
            <a:avLst/>
          </a:prstGeom>
          <a:solidFill>
            <a:srgbClr val="10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57984" y="6163056"/>
            <a:ext cx="256032" cy="146304"/>
          </a:xfrm>
          <a:prstGeom prst="rect">
            <a:avLst/>
          </a:prstGeom>
          <a:solidFill>
            <a:srgbClr val="33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423160" y="6163056"/>
            <a:ext cx="256032" cy="146304"/>
          </a:xfrm>
          <a:prstGeom prst="rect">
            <a:avLst/>
          </a:prstGeom>
          <a:solidFill>
            <a:srgbClr val="1B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88336" y="6163056"/>
            <a:ext cx="256032" cy="146304"/>
          </a:xfrm>
          <a:prstGeom prst="rect">
            <a:avLst/>
          </a:prstGeom>
          <a:solidFill>
            <a:srgbClr val="16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953512" y="6163056"/>
            <a:ext cx="256032" cy="146304"/>
          </a:xfrm>
          <a:prstGeom prst="rect">
            <a:avLst/>
          </a:prstGeom>
          <a:solidFill>
            <a:srgbClr val="2F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218688" y="6163056"/>
            <a:ext cx="256032" cy="146304"/>
          </a:xfrm>
          <a:prstGeom prst="rect">
            <a:avLst/>
          </a:prstGeom>
          <a:solidFill>
            <a:srgbClr val="080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483864" y="6163056"/>
            <a:ext cx="256032" cy="146304"/>
          </a:xfrm>
          <a:prstGeom prst="rect">
            <a:avLst/>
          </a:prstGeom>
          <a:solidFill>
            <a:srgbClr val="08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7280" y="6327648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Step 1  --&gt;  Step 21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480560" y="48920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KR (Rotational)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53128" y="507492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937760" y="5074920"/>
            <a:ext cx="256032" cy="146304"/>
          </a:xfrm>
          <a:prstGeom prst="rect">
            <a:avLst/>
          </a:prstGeom>
          <a:solidFill>
            <a:srgbClr val="92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202936" y="5074920"/>
            <a:ext cx="256032" cy="146304"/>
          </a:xfrm>
          <a:prstGeom prst="rect">
            <a:avLst/>
          </a:prstGeom>
          <a:solidFill>
            <a:srgbClr val="253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468112" y="5074920"/>
            <a:ext cx="256032" cy="146304"/>
          </a:xfrm>
          <a:prstGeom prst="rect">
            <a:avLst/>
          </a:prstGeom>
          <a:solidFill>
            <a:srgbClr val="92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733288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998464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63640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528816" y="5074920"/>
            <a:ext cx="256032" cy="146304"/>
          </a:xfrm>
          <a:prstGeom prst="rect">
            <a:avLst/>
          </a:prstGeom>
          <a:solidFill>
            <a:srgbClr val="F7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793992" y="5074920"/>
            <a:ext cx="256032" cy="146304"/>
          </a:xfrm>
          <a:prstGeom prst="rect">
            <a:avLst/>
          </a:prstGeom>
          <a:solidFill>
            <a:srgbClr val="A4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59168" y="5074920"/>
            <a:ext cx="256032" cy="146304"/>
          </a:xfrm>
          <a:prstGeom prst="rect">
            <a:avLst/>
          </a:prstGeom>
          <a:solidFill>
            <a:srgbClr val="8F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324344" y="5074920"/>
            <a:ext cx="256032" cy="146304"/>
          </a:xfrm>
          <a:prstGeom prst="rect">
            <a:avLst/>
          </a:prstGeom>
          <a:solidFill>
            <a:srgbClr val="A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453128" y="5230368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937760" y="5230368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02936" y="5230368"/>
            <a:ext cx="256032" cy="146304"/>
          </a:xfrm>
          <a:prstGeom prst="rect">
            <a:avLst/>
          </a:prstGeom>
          <a:solidFill>
            <a:srgbClr val="2C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468112" y="5230368"/>
            <a:ext cx="256032" cy="146304"/>
          </a:xfrm>
          <a:prstGeom prst="rect">
            <a:avLst/>
          </a:prstGeom>
          <a:solidFill>
            <a:srgbClr val="CE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33288" y="5230368"/>
            <a:ext cx="256032" cy="146304"/>
          </a:xfrm>
          <a:prstGeom prst="rect">
            <a:avLst/>
          </a:prstGeom>
          <a:solidFill>
            <a:srgbClr val="7D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98464" y="5230368"/>
            <a:ext cx="256032" cy="146304"/>
          </a:xfrm>
          <a:prstGeom prst="rect">
            <a:avLst/>
          </a:prstGeom>
          <a:solidFill>
            <a:srgbClr val="1B2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63640" y="5230368"/>
            <a:ext cx="256032" cy="146304"/>
          </a:xfrm>
          <a:prstGeom prst="rect">
            <a:avLst/>
          </a:prstGeom>
          <a:solidFill>
            <a:srgbClr val="2E4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28816" y="5230368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93992" y="5230368"/>
            <a:ext cx="256032" cy="146304"/>
          </a:xfrm>
          <a:prstGeom prst="rect">
            <a:avLst/>
          </a:prstGeom>
          <a:solidFill>
            <a:srgbClr val="1B2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059168" y="5230368"/>
            <a:ext cx="256032" cy="146304"/>
          </a:xfrm>
          <a:prstGeom prst="rect">
            <a:avLst/>
          </a:prstGeom>
          <a:solidFill>
            <a:srgbClr val="294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324344" y="5230368"/>
            <a:ext cx="256032" cy="146304"/>
          </a:xfrm>
          <a:prstGeom prst="rect">
            <a:avLst/>
          </a:prstGeom>
          <a:solidFill>
            <a:srgbClr val="2F4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53128" y="5385816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937760" y="5385816"/>
            <a:ext cx="256032" cy="146304"/>
          </a:xfrm>
          <a:prstGeom prst="rect">
            <a:avLst/>
          </a:prstGeom>
          <a:solidFill>
            <a:srgbClr val="0F1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202936" y="5385816"/>
            <a:ext cx="256032" cy="146304"/>
          </a:xfrm>
          <a:prstGeom prst="rect">
            <a:avLst/>
          </a:prstGeom>
          <a:solidFill>
            <a:srgbClr val="28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468112" y="5385816"/>
            <a:ext cx="256032" cy="146304"/>
          </a:xfrm>
          <a:prstGeom prst="rect">
            <a:avLst/>
          </a:prstGeom>
          <a:solidFill>
            <a:srgbClr val="5B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733288" y="5385816"/>
            <a:ext cx="256032" cy="146304"/>
          </a:xfrm>
          <a:prstGeom prst="rect">
            <a:avLst/>
          </a:prstGeom>
          <a:solidFill>
            <a:srgbClr val="06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8464" y="5385816"/>
            <a:ext cx="256032" cy="146304"/>
          </a:xfrm>
          <a:prstGeom prst="rect">
            <a:avLst/>
          </a:prstGeom>
          <a:solidFill>
            <a:srgbClr val="91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63640" y="5385816"/>
            <a:ext cx="256032" cy="146304"/>
          </a:xfrm>
          <a:prstGeom prst="rect">
            <a:avLst/>
          </a:prstGeom>
          <a:solidFill>
            <a:srgbClr val="172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8816" y="5385816"/>
            <a:ext cx="256032" cy="146304"/>
          </a:xfrm>
          <a:prstGeom prst="rect">
            <a:avLst/>
          </a:prstGeom>
          <a:solidFill>
            <a:srgbClr val="62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793992" y="5385816"/>
            <a:ext cx="256032" cy="146304"/>
          </a:xfrm>
          <a:prstGeom prst="rect">
            <a:avLst/>
          </a:prstGeom>
          <a:solidFill>
            <a:srgbClr val="23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059168" y="5385816"/>
            <a:ext cx="256032" cy="146304"/>
          </a:xfrm>
          <a:prstGeom prst="rect">
            <a:avLst/>
          </a:prstGeom>
          <a:solidFill>
            <a:srgbClr val="17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324344" y="5385816"/>
            <a:ext cx="256032" cy="146304"/>
          </a:xfrm>
          <a:prstGeom prst="rect">
            <a:avLst/>
          </a:prstGeom>
          <a:solidFill>
            <a:srgbClr val="64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453128" y="5541264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37760" y="5541264"/>
            <a:ext cx="256032" cy="146304"/>
          </a:xfrm>
          <a:prstGeom prst="rect">
            <a:avLst/>
          </a:prstGeom>
          <a:solidFill>
            <a:srgbClr val="0F1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202936" y="5541264"/>
            <a:ext cx="256032" cy="146304"/>
          </a:xfrm>
          <a:prstGeom prst="rect">
            <a:avLst/>
          </a:prstGeom>
          <a:solidFill>
            <a:srgbClr val="43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468112" y="5541264"/>
            <a:ext cx="256032" cy="146304"/>
          </a:xfrm>
          <a:prstGeom prst="rect">
            <a:avLst/>
          </a:prstGeom>
          <a:solidFill>
            <a:srgbClr val="4F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733288" y="5541264"/>
            <a:ext cx="256032" cy="146304"/>
          </a:xfrm>
          <a:prstGeom prst="rect">
            <a:avLst/>
          </a:prstGeom>
          <a:solidFill>
            <a:srgbClr val="59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998464" y="5541264"/>
            <a:ext cx="256032" cy="146304"/>
          </a:xfrm>
          <a:prstGeom prst="rect">
            <a:avLst/>
          </a:prstGeom>
          <a:solidFill>
            <a:srgbClr val="0E1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263640" y="5541264"/>
            <a:ext cx="256032" cy="146304"/>
          </a:xfrm>
          <a:prstGeom prst="rect">
            <a:avLst/>
          </a:prstGeom>
          <a:solidFill>
            <a:srgbClr val="6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528816" y="5541264"/>
            <a:ext cx="256032" cy="146304"/>
          </a:xfrm>
          <a:prstGeom prst="rect">
            <a:avLst/>
          </a:prstGeom>
          <a:solidFill>
            <a:srgbClr val="63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793992" y="5541264"/>
            <a:ext cx="256032" cy="146304"/>
          </a:xfrm>
          <a:prstGeom prst="rect">
            <a:avLst/>
          </a:prstGeom>
          <a:solidFill>
            <a:srgbClr val="2609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059168" y="5541264"/>
            <a:ext cx="256032" cy="146304"/>
          </a:xfrm>
          <a:prstGeom prst="rect">
            <a:avLst/>
          </a:prstGeom>
          <a:solidFill>
            <a:srgbClr val="35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24344" y="5541264"/>
            <a:ext cx="256032" cy="146304"/>
          </a:xfrm>
          <a:prstGeom prst="rect">
            <a:avLst/>
          </a:prstGeom>
          <a:solidFill>
            <a:srgbClr val="1E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453128" y="5696712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937760" y="5696712"/>
            <a:ext cx="256032" cy="146304"/>
          </a:xfrm>
          <a:prstGeom prst="rect">
            <a:avLst/>
          </a:prstGeom>
          <a:solidFill>
            <a:srgbClr val="070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202936" y="5696712"/>
            <a:ext cx="256032" cy="146304"/>
          </a:xfrm>
          <a:prstGeom prst="rect">
            <a:avLst/>
          </a:prstGeom>
          <a:solidFill>
            <a:srgbClr val="050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468112" y="5696712"/>
            <a:ext cx="256032" cy="146304"/>
          </a:xfrm>
          <a:prstGeom prst="rect">
            <a:avLst/>
          </a:prstGeom>
          <a:solidFill>
            <a:srgbClr val="22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733288" y="5696712"/>
            <a:ext cx="256032" cy="146304"/>
          </a:xfrm>
          <a:prstGeom prst="rect">
            <a:avLst/>
          </a:prstGeom>
          <a:solidFill>
            <a:srgbClr val="36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998464" y="5696712"/>
            <a:ext cx="256032" cy="146304"/>
          </a:xfrm>
          <a:prstGeom prst="rect">
            <a:avLst/>
          </a:prstGeom>
          <a:solidFill>
            <a:srgbClr val="1A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263640" y="5696712"/>
            <a:ext cx="256032" cy="146304"/>
          </a:xfrm>
          <a:prstGeom prst="rect">
            <a:avLst/>
          </a:prstGeom>
          <a:solidFill>
            <a:srgbClr val="34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528816" y="5696712"/>
            <a:ext cx="256032" cy="146304"/>
          </a:xfrm>
          <a:prstGeom prst="rect">
            <a:avLst/>
          </a:prstGeom>
          <a:solidFill>
            <a:srgbClr val="08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793992" y="5696712"/>
            <a:ext cx="256032" cy="146304"/>
          </a:xfrm>
          <a:prstGeom prst="rect">
            <a:avLst/>
          </a:prstGeom>
          <a:solidFill>
            <a:srgbClr val="06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059168" y="5696712"/>
            <a:ext cx="256032" cy="146304"/>
          </a:xfrm>
          <a:prstGeom prst="rect">
            <a:avLst/>
          </a:prstGeom>
          <a:solidFill>
            <a:srgbClr val="18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324344" y="5696712"/>
            <a:ext cx="256032" cy="146304"/>
          </a:xfrm>
          <a:prstGeom prst="rect">
            <a:avLst/>
          </a:prstGeom>
          <a:solidFill>
            <a:srgbClr val="00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453128" y="585216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937760" y="5852160"/>
            <a:ext cx="256032" cy="146304"/>
          </a:xfrm>
          <a:prstGeom prst="rect">
            <a:avLst/>
          </a:prstGeom>
          <a:solidFill>
            <a:srgbClr val="31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202936" y="5852160"/>
            <a:ext cx="256032" cy="146304"/>
          </a:xfrm>
          <a:prstGeom prst="rect">
            <a:avLst/>
          </a:prstGeom>
          <a:solidFill>
            <a:srgbClr val="2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8112" y="5852160"/>
            <a:ext cx="256032" cy="146304"/>
          </a:xfrm>
          <a:prstGeom prst="rect">
            <a:avLst/>
          </a:prstGeom>
          <a:solidFill>
            <a:srgbClr val="3A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733288" y="5852160"/>
            <a:ext cx="256032" cy="146304"/>
          </a:xfrm>
          <a:prstGeom prst="rect">
            <a:avLst/>
          </a:prstGeom>
          <a:solidFill>
            <a:srgbClr val="091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998464" y="5852160"/>
            <a:ext cx="256032" cy="146304"/>
          </a:xfrm>
          <a:prstGeom prst="rect">
            <a:avLst/>
          </a:prstGeom>
          <a:solidFill>
            <a:srgbClr val="0C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263640" y="5852160"/>
            <a:ext cx="256032" cy="146304"/>
          </a:xfrm>
          <a:prstGeom prst="rect">
            <a:avLst/>
          </a:prstGeom>
          <a:solidFill>
            <a:srgbClr val="22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528816" y="5852160"/>
            <a:ext cx="256032" cy="146304"/>
          </a:xfrm>
          <a:prstGeom prst="rect">
            <a:avLst/>
          </a:prstGeom>
          <a:solidFill>
            <a:srgbClr val="1D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793992" y="5852160"/>
            <a:ext cx="256032" cy="146304"/>
          </a:xfrm>
          <a:prstGeom prst="rect">
            <a:avLst/>
          </a:prstGeom>
          <a:solidFill>
            <a:srgbClr val="060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059168" y="5852160"/>
            <a:ext cx="256032" cy="146304"/>
          </a:xfrm>
          <a:prstGeom prst="rect">
            <a:avLst/>
          </a:prstGeom>
          <a:solidFill>
            <a:srgbClr val="2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24344" y="5852160"/>
            <a:ext cx="256032" cy="146304"/>
          </a:xfrm>
          <a:prstGeom prst="rect">
            <a:avLst/>
          </a:prstGeom>
          <a:solidFill>
            <a:srgbClr val="17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453128" y="6007608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937760" y="6007608"/>
            <a:ext cx="256032" cy="146304"/>
          </a:xfrm>
          <a:prstGeom prst="rect">
            <a:avLst/>
          </a:prstGeom>
          <a:solidFill>
            <a:srgbClr val="07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2936" y="6007608"/>
            <a:ext cx="256032" cy="146304"/>
          </a:xfrm>
          <a:prstGeom prst="rect">
            <a:avLst/>
          </a:prstGeom>
          <a:solidFill>
            <a:srgbClr val="1F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468112" y="6007608"/>
            <a:ext cx="256032" cy="146304"/>
          </a:xfrm>
          <a:prstGeom prst="rect">
            <a:avLst/>
          </a:prstGeom>
          <a:solidFill>
            <a:srgbClr val="0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733288" y="6007608"/>
            <a:ext cx="256032" cy="146304"/>
          </a:xfrm>
          <a:prstGeom prst="rect">
            <a:avLst/>
          </a:prstGeom>
          <a:solidFill>
            <a:srgbClr val="20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998464" y="6007608"/>
            <a:ext cx="256032" cy="146304"/>
          </a:xfrm>
          <a:prstGeom prst="rect">
            <a:avLst/>
          </a:prstGeom>
          <a:solidFill>
            <a:srgbClr val="05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263640" y="6007608"/>
            <a:ext cx="256032" cy="146304"/>
          </a:xfrm>
          <a:prstGeom prst="rect">
            <a:avLst/>
          </a:prstGeom>
          <a:solidFill>
            <a:srgbClr val="0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528816" y="6007608"/>
            <a:ext cx="256032" cy="146304"/>
          </a:xfrm>
          <a:prstGeom prst="rect">
            <a:avLst/>
          </a:prstGeom>
          <a:solidFill>
            <a:srgbClr val="0A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793992" y="6007608"/>
            <a:ext cx="256032" cy="146304"/>
          </a:xfrm>
          <a:prstGeom prst="rect">
            <a:avLst/>
          </a:prstGeom>
          <a:solidFill>
            <a:srgbClr val="020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059168" y="6007608"/>
            <a:ext cx="256032" cy="146304"/>
          </a:xfrm>
          <a:prstGeom prst="rect">
            <a:avLst/>
          </a:prstGeom>
          <a:solidFill>
            <a:srgbClr val="2C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324344" y="6007608"/>
            <a:ext cx="256032" cy="146304"/>
          </a:xfrm>
          <a:prstGeom prst="rect">
            <a:avLst/>
          </a:prstGeom>
          <a:solidFill>
            <a:srgbClr val="0F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453128" y="6163056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472B6"/>
                </a:solidFill>
                <a:latin typeface="Segoe UI"/>
              </a:defRPr>
            </a:pPr>
            <a:r>
              <a:t>D/L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937760" y="6163056"/>
            <a:ext cx="256032" cy="146304"/>
          </a:xfrm>
          <a:prstGeom prst="rect">
            <a:avLst/>
          </a:prstGeom>
          <a:solidFill>
            <a:srgbClr val="2F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202936" y="6163056"/>
            <a:ext cx="256032" cy="146304"/>
          </a:xfrm>
          <a:prstGeom prst="rect">
            <a:avLst/>
          </a:prstGeom>
          <a:solidFill>
            <a:srgbClr val="2E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468112" y="6163056"/>
            <a:ext cx="256032" cy="146304"/>
          </a:xfrm>
          <a:prstGeom prst="rect">
            <a:avLst/>
          </a:prstGeom>
          <a:solidFill>
            <a:srgbClr val="03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733288" y="6163056"/>
            <a:ext cx="256032" cy="146304"/>
          </a:xfrm>
          <a:prstGeom prst="rect">
            <a:avLst/>
          </a:prstGeom>
          <a:solidFill>
            <a:srgbClr val="13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98464" y="6163056"/>
            <a:ext cx="256032" cy="146304"/>
          </a:xfrm>
          <a:prstGeom prst="rect">
            <a:avLst/>
          </a:prstGeom>
          <a:solidFill>
            <a:srgbClr val="30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63640" y="6163056"/>
            <a:ext cx="256032" cy="146304"/>
          </a:xfrm>
          <a:prstGeom prst="rect">
            <a:avLst/>
          </a:prstGeom>
          <a:solidFill>
            <a:srgbClr val="040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28816" y="6163056"/>
            <a:ext cx="256032" cy="146304"/>
          </a:xfrm>
          <a:prstGeom prst="rect">
            <a:avLst/>
          </a:prstGeom>
          <a:solidFill>
            <a:srgbClr val="0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793992" y="6163056"/>
            <a:ext cx="256032" cy="146304"/>
          </a:xfrm>
          <a:prstGeom prst="rect">
            <a:avLst/>
          </a:prstGeom>
          <a:solidFill>
            <a:srgbClr val="3A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059168" y="6163056"/>
            <a:ext cx="256032" cy="146304"/>
          </a:xfrm>
          <a:prstGeom prst="rect">
            <a:avLst/>
          </a:prstGeom>
          <a:solidFill>
            <a:srgbClr val="38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324344" y="6163056"/>
            <a:ext cx="256032" cy="146304"/>
          </a:xfrm>
          <a:prstGeom prst="rect">
            <a:avLst/>
          </a:prstGeom>
          <a:solidFill>
            <a:srgbClr val="090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937760" y="6327648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Step 1  --&gt;  Step 21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321040" y="48920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KLR (Coupled)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293608" y="507492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778240" y="5074920"/>
            <a:ext cx="256032" cy="146304"/>
          </a:xfrm>
          <a:prstGeom prst="rect">
            <a:avLst/>
          </a:prstGeom>
          <a:solidFill>
            <a:srgbClr val="152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043416" y="5074920"/>
            <a:ext cx="256032" cy="146304"/>
          </a:xfrm>
          <a:prstGeom prst="rect">
            <a:avLst/>
          </a:prstGeom>
          <a:solidFill>
            <a:srgbClr val="8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308592" y="5074920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573768" y="5074920"/>
            <a:ext cx="256032" cy="146304"/>
          </a:xfrm>
          <a:prstGeom prst="rect">
            <a:avLst/>
          </a:prstGeom>
          <a:solidFill>
            <a:srgbClr val="88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838944" y="5074920"/>
            <a:ext cx="256032" cy="146304"/>
          </a:xfrm>
          <a:prstGeom prst="rect">
            <a:avLst/>
          </a:prstGeom>
          <a:solidFill>
            <a:srgbClr val="1F3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104120" y="5074920"/>
            <a:ext cx="256032" cy="146304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0369296" y="5074920"/>
            <a:ext cx="256032" cy="146304"/>
          </a:xfrm>
          <a:prstGeom prst="rect">
            <a:avLst/>
          </a:prstGeom>
          <a:solidFill>
            <a:srgbClr val="79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634472" y="5074920"/>
            <a:ext cx="256032" cy="146304"/>
          </a:xfrm>
          <a:prstGeom prst="rect">
            <a:avLst/>
          </a:prstGeom>
          <a:solidFill>
            <a:srgbClr val="D3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0899648" y="5074920"/>
            <a:ext cx="256032" cy="146304"/>
          </a:xfrm>
          <a:prstGeom prst="rect">
            <a:avLst/>
          </a:prstGeom>
          <a:solidFill>
            <a:srgbClr val="A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164824" y="5074920"/>
            <a:ext cx="256032" cy="146304"/>
          </a:xfrm>
          <a:prstGeom prst="rect">
            <a:avLst/>
          </a:prstGeom>
          <a:solidFill>
            <a:srgbClr val="243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293608" y="5230368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778240" y="5230368"/>
            <a:ext cx="256032" cy="146304"/>
          </a:xfrm>
          <a:prstGeom prst="rect">
            <a:avLst/>
          </a:prstGeom>
          <a:solidFill>
            <a:srgbClr val="BD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043416" y="5230368"/>
            <a:ext cx="256032" cy="146304"/>
          </a:xfrm>
          <a:prstGeom prst="rect">
            <a:avLst/>
          </a:prstGeom>
          <a:solidFill>
            <a:srgbClr val="DD3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308592" y="5230368"/>
            <a:ext cx="256032" cy="146304"/>
          </a:xfrm>
          <a:prstGeom prst="rect">
            <a:avLst/>
          </a:prstGeom>
          <a:solidFill>
            <a:srgbClr val="B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573768" y="5230368"/>
            <a:ext cx="256032" cy="146304"/>
          </a:xfrm>
          <a:prstGeom prst="rect">
            <a:avLst/>
          </a:prstGeom>
          <a:solidFill>
            <a:srgbClr val="182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838944" y="5230368"/>
            <a:ext cx="256032" cy="146304"/>
          </a:xfrm>
          <a:prstGeom prst="rect">
            <a:avLst/>
          </a:prstGeom>
          <a:solidFill>
            <a:srgbClr val="D5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0104120" y="5230368"/>
            <a:ext cx="256032" cy="146304"/>
          </a:xfrm>
          <a:prstGeom prst="rect">
            <a:avLst/>
          </a:prstGeom>
          <a:solidFill>
            <a:srgbClr val="7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369296" y="5230368"/>
            <a:ext cx="256032" cy="146304"/>
          </a:xfrm>
          <a:prstGeom prst="rect">
            <a:avLst/>
          </a:prstGeom>
          <a:solidFill>
            <a:srgbClr val="F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634472" y="5230368"/>
            <a:ext cx="256032" cy="146304"/>
          </a:xfrm>
          <a:prstGeom prst="rect">
            <a:avLst/>
          </a:prstGeom>
          <a:solidFill>
            <a:srgbClr val="305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899648" y="5230368"/>
            <a:ext cx="256032" cy="146304"/>
          </a:xfrm>
          <a:prstGeom prst="rect">
            <a:avLst/>
          </a:prstGeom>
          <a:solidFill>
            <a:srgbClr val="1D3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1164824" y="5230368"/>
            <a:ext cx="256032" cy="146304"/>
          </a:xfrm>
          <a:prstGeom prst="rect">
            <a:avLst/>
          </a:prstGeom>
          <a:solidFill>
            <a:srgbClr val="F5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293608" y="5385816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778240" y="5385816"/>
            <a:ext cx="256032" cy="146304"/>
          </a:xfrm>
          <a:prstGeom prst="rect">
            <a:avLst/>
          </a:prstGeom>
          <a:solidFill>
            <a:srgbClr val="132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043416" y="5385816"/>
            <a:ext cx="256032" cy="146304"/>
          </a:xfrm>
          <a:prstGeom prst="rect">
            <a:avLst/>
          </a:prstGeom>
          <a:solidFill>
            <a:srgbClr val="091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308592" y="5385816"/>
            <a:ext cx="256032" cy="146304"/>
          </a:xfrm>
          <a:prstGeom prst="rect">
            <a:avLst/>
          </a:prstGeom>
          <a:solidFill>
            <a:srgbClr val="142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73768" y="5385816"/>
            <a:ext cx="256032" cy="146304"/>
          </a:xfrm>
          <a:prstGeom prst="rect">
            <a:avLst/>
          </a:prstGeom>
          <a:solidFill>
            <a:srgbClr val="45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838944" y="5385816"/>
            <a:ext cx="256032" cy="146304"/>
          </a:xfrm>
          <a:prstGeom prst="rect">
            <a:avLst/>
          </a:prstGeom>
          <a:solidFill>
            <a:srgbClr val="06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104120" y="5385816"/>
            <a:ext cx="256032" cy="146304"/>
          </a:xfrm>
          <a:prstGeom prst="rect">
            <a:avLst/>
          </a:prstGeom>
          <a:solidFill>
            <a:srgbClr val="13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369296" y="5385816"/>
            <a:ext cx="256032" cy="146304"/>
          </a:xfrm>
          <a:prstGeom prst="rect">
            <a:avLst/>
          </a:prstGeom>
          <a:solidFill>
            <a:srgbClr val="58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634472" y="5385816"/>
            <a:ext cx="256032" cy="146304"/>
          </a:xfrm>
          <a:prstGeom prst="rect">
            <a:avLst/>
          </a:prstGeom>
          <a:solidFill>
            <a:srgbClr val="4D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899648" y="5385816"/>
            <a:ext cx="256032" cy="146304"/>
          </a:xfrm>
          <a:prstGeom prst="rect">
            <a:avLst/>
          </a:prstGeom>
          <a:solidFill>
            <a:srgbClr val="8C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1164824" y="5385816"/>
            <a:ext cx="256032" cy="146304"/>
          </a:xfrm>
          <a:prstGeom prst="rect">
            <a:avLst/>
          </a:prstGeom>
          <a:solidFill>
            <a:srgbClr val="0F1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293608" y="5541264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778240" y="5541264"/>
            <a:ext cx="256032" cy="146304"/>
          </a:xfrm>
          <a:prstGeom prst="rect">
            <a:avLst/>
          </a:prstGeom>
          <a:solidFill>
            <a:srgbClr val="72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043416" y="5541264"/>
            <a:ext cx="256032" cy="146304"/>
          </a:xfrm>
          <a:prstGeom prst="rect">
            <a:avLst/>
          </a:prstGeom>
          <a:solidFill>
            <a:srgbClr val="8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308592" y="5541264"/>
            <a:ext cx="256032" cy="146304"/>
          </a:xfrm>
          <a:prstGeom prst="rect">
            <a:avLst/>
          </a:prstGeom>
          <a:solidFill>
            <a:srgbClr val="0A1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573768" y="5541264"/>
            <a:ext cx="256032" cy="146304"/>
          </a:xfrm>
          <a:prstGeom prst="rect">
            <a:avLst/>
          </a:prstGeom>
          <a:solidFill>
            <a:srgbClr val="6F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838944" y="5541264"/>
            <a:ext cx="256032" cy="146304"/>
          </a:xfrm>
          <a:prstGeom prst="rect">
            <a:avLst/>
          </a:prstGeom>
          <a:solidFill>
            <a:srgbClr val="47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104120" y="5541264"/>
            <a:ext cx="256032" cy="146304"/>
          </a:xfrm>
          <a:prstGeom prst="rect">
            <a:avLst/>
          </a:prstGeom>
          <a:solidFill>
            <a:srgbClr val="47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369296" y="5541264"/>
            <a:ext cx="256032" cy="146304"/>
          </a:xfrm>
          <a:prstGeom prst="rect">
            <a:avLst/>
          </a:prstGeom>
          <a:solidFill>
            <a:srgbClr val="6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634472" y="5541264"/>
            <a:ext cx="256032" cy="146304"/>
          </a:xfrm>
          <a:prstGeom prst="rect">
            <a:avLst/>
          </a:prstGeom>
          <a:solidFill>
            <a:srgbClr val="68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899648" y="5541264"/>
            <a:ext cx="256032" cy="146304"/>
          </a:xfrm>
          <a:prstGeom prst="rect">
            <a:avLst/>
          </a:prstGeom>
          <a:solidFill>
            <a:srgbClr val="142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1164824" y="5541264"/>
            <a:ext cx="256032" cy="146304"/>
          </a:xfrm>
          <a:prstGeom prst="rect">
            <a:avLst/>
          </a:prstGeom>
          <a:solidFill>
            <a:srgbClr val="2C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293608" y="5696712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8778240" y="5696712"/>
            <a:ext cx="256032" cy="146304"/>
          </a:xfrm>
          <a:prstGeom prst="rect">
            <a:avLst/>
          </a:prstGeom>
          <a:solidFill>
            <a:srgbClr val="08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043416" y="5696712"/>
            <a:ext cx="256032" cy="146304"/>
          </a:xfrm>
          <a:prstGeom prst="rect">
            <a:avLst/>
          </a:prstGeom>
          <a:solidFill>
            <a:srgbClr val="2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308592" y="5696712"/>
            <a:ext cx="256032" cy="146304"/>
          </a:xfrm>
          <a:prstGeom prst="rect">
            <a:avLst/>
          </a:prstGeom>
          <a:solidFill>
            <a:srgbClr val="14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573768" y="5696712"/>
            <a:ext cx="256032" cy="146304"/>
          </a:xfrm>
          <a:prstGeom prst="rect">
            <a:avLst/>
          </a:prstGeom>
          <a:solidFill>
            <a:srgbClr val="3A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838944" y="5696712"/>
            <a:ext cx="256032" cy="146304"/>
          </a:xfrm>
          <a:prstGeom prst="rect">
            <a:avLst/>
          </a:prstGeom>
          <a:solidFill>
            <a:srgbClr val="38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104120" y="5696712"/>
            <a:ext cx="256032" cy="146304"/>
          </a:xfrm>
          <a:prstGeom prst="rect">
            <a:avLst/>
          </a:prstGeom>
          <a:solidFill>
            <a:srgbClr val="07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369296" y="5696712"/>
            <a:ext cx="256032" cy="146304"/>
          </a:xfrm>
          <a:prstGeom prst="rect">
            <a:avLst/>
          </a:prstGeom>
          <a:solidFill>
            <a:srgbClr val="37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634472" y="5696712"/>
            <a:ext cx="256032" cy="146304"/>
          </a:xfrm>
          <a:prstGeom prst="rect">
            <a:avLst/>
          </a:prstGeom>
          <a:solidFill>
            <a:srgbClr val="040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899648" y="5696712"/>
            <a:ext cx="256032" cy="146304"/>
          </a:xfrm>
          <a:prstGeom prst="rect">
            <a:avLst/>
          </a:prstGeom>
          <a:solidFill>
            <a:srgbClr val="32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164824" y="5696712"/>
            <a:ext cx="256032" cy="146304"/>
          </a:xfrm>
          <a:prstGeom prst="rect">
            <a:avLst/>
          </a:prstGeom>
          <a:solidFill>
            <a:srgbClr val="10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293608" y="585216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778240" y="5852160"/>
            <a:ext cx="256032" cy="146304"/>
          </a:xfrm>
          <a:prstGeom prst="rect">
            <a:avLst/>
          </a:prstGeom>
          <a:solidFill>
            <a:srgbClr val="17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043416" y="5852160"/>
            <a:ext cx="256032" cy="146304"/>
          </a:xfrm>
          <a:prstGeom prst="rect">
            <a:avLst/>
          </a:prstGeom>
          <a:solidFill>
            <a:srgbClr val="1A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308592" y="5852160"/>
            <a:ext cx="256032" cy="146304"/>
          </a:xfrm>
          <a:prstGeom prst="rect">
            <a:avLst/>
          </a:prstGeom>
          <a:solidFill>
            <a:srgbClr val="070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573768" y="5852160"/>
            <a:ext cx="256032" cy="146304"/>
          </a:xfrm>
          <a:prstGeom prst="rect">
            <a:avLst/>
          </a:prstGeom>
          <a:solidFill>
            <a:srgbClr val="200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38944" y="5852160"/>
            <a:ext cx="256032" cy="146304"/>
          </a:xfrm>
          <a:prstGeom prst="rect">
            <a:avLst/>
          </a:prstGeom>
          <a:solidFill>
            <a:srgbClr val="0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104120" y="5852160"/>
            <a:ext cx="256032" cy="146304"/>
          </a:xfrm>
          <a:prstGeom prst="rect">
            <a:avLst/>
          </a:prstGeom>
          <a:solidFill>
            <a:srgbClr val="0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369296" y="5852160"/>
            <a:ext cx="256032" cy="146304"/>
          </a:xfrm>
          <a:prstGeom prst="rect">
            <a:avLst/>
          </a:prstGeom>
          <a:solidFill>
            <a:srgbClr val="1D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634472" y="5852160"/>
            <a:ext cx="256032" cy="146304"/>
          </a:xfrm>
          <a:prstGeom prst="rect">
            <a:avLst/>
          </a:prstGeom>
          <a:solidFill>
            <a:srgbClr val="030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899648" y="5852160"/>
            <a:ext cx="256032" cy="146304"/>
          </a:xfrm>
          <a:prstGeom prst="rect">
            <a:avLst/>
          </a:prstGeom>
          <a:solidFill>
            <a:srgbClr val="0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164824" y="5852160"/>
            <a:ext cx="256032" cy="146304"/>
          </a:xfrm>
          <a:prstGeom prst="rect">
            <a:avLst/>
          </a:prstGeom>
          <a:solidFill>
            <a:srgbClr val="0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293608" y="6007608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8778240" y="6007608"/>
            <a:ext cx="256032" cy="146304"/>
          </a:xfrm>
          <a:prstGeom prst="rect">
            <a:avLst/>
          </a:prstGeom>
          <a:solidFill>
            <a:srgbClr val="0C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043416" y="6007608"/>
            <a:ext cx="256032" cy="146304"/>
          </a:xfrm>
          <a:prstGeom prst="rect">
            <a:avLst/>
          </a:prstGeom>
          <a:solidFill>
            <a:srgbClr val="1A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308592" y="6007608"/>
            <a:ext cx="256032" cy="146304"/>
          </a:xfrm>
          <a:prstGeom prst="rect">
            <a:avLst/>
          </a:prstGeom>
          <a:solidFill>
            <a:srgbClr val="12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573768" y="6007608"/>
            <a:ext cx="256032" cy="146304"/>
          </a:xfrm>
          <a:prstGeom prst="rect">
            <a:avLst/>
          </a:prstGeom>
          <a:solidFill>
            <a:srgbClr val="2C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38944" y="6007608"/>
            <a:ext cx="256032" cy="146304"/>
          </a:xfrm>
          <a:prstGeom prst="rect">
            <a:avLst/>
          </a:prstGeom>
          <a:solidFill>
            <a:srgbClr val="2509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0104120" y="6007608"/>
            <a:ext cx="256032" cy="146304"/>
          </a:xfrm>
          <a:prstGeom prst="rect">
            <a:avLst/>
          </a:prstGeom>
          <a:solidFill>
            <a:srgbClr val="30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369296" y="6007608"/>
            <a:ext cx="256032" cy="146304"/>
          </a:xfrm>
          <a:prstGeom prst="rect">
            <a:avLst/>
          </a:prstGeom>
          <a:solidFill>
            <a:srgbClr val="39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634472" y="6007608"/>
            <a:ext cx="256032" cy="146304"/>
          </a:xfrm>
          <a:prstGeom prst="rect">
            <a:avLst/>
          </a:prstGeom>
          <a:solidFill>
            <a:srgbClr val="0B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899648" y="6007608"/>
            <a:ext cx="256032" cy="146304"/>
          </a:xfrm>
          <a:prstGeom prst="rect">
            <a:avLst/>
          </a:prstGeom>
          <a:solidFill>
            <a:srgbClr val="2D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1164824" y="6007608"/>
            <a:ext cx="256032" cy="146304"/>
          </a:xfrm>
          <a:prstGeom prst="rect">
            <a:avLst/>
          </a:prstGeom>
          <a:solidFill>
            <a:srgbClr val="02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8293608" y="6163056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472B6"/>
                </a:solidFill>
                <a:latin typeface="Segoe UI"/>
              </a:defRPr>
            </a:pPr>
            <a:r>
              <a:t>D/L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8778240" y="6163056"/>
            <a:ext cx="256032" cy="146304"/>
          </a:xfrm>
          <a:prstGeom prst="rect">
            <a:avLst/>
          </a:prstGeom>
          <a:solidFill>
            <a:srgbClr val="32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9043416" y="6163056"/>
            <a:ext cx="256032" cy="146304"/>
          </a:xfrm>
          <a:prstGeom prst="rect">
            <a:avLst/>
          </a:prstGeom>
          <a:solidFill>
            <a:srgbClr val="1D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9308592" y="6163056"/>
            <a:ext cx="256032" cy="146304"/>
          </a:xfrm>
          <a:prstGeom prst="rect">
            <a:avLst/>
          </a:prstGeom>
          <a:solidFill>
            <a:srgbClr val="3A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573768" y="6163056"/>
            <a:ext cx="256032" cy="146304"/>
          </a:xfrm>
          <a:prstGeom prst="rect">
            <a:avLst/>
          </a:prstGeom>
          <a:solidFill>
            <a:srgbClr val="0B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838944" y="6163056"/>
            <a:ext cx="256032" cy="146304"/>
          </a:xfrm>
          <a:prstGeom prst="rect">
            <a:avLst/>
          </a:prstGeom>
          <a:solidFill>
            <a:srgbClr val="08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104120" y="6163056"/>
            <a:ext cx="256032" cy="146304"/>
          </a:xfrm>
          <a:prstGeom prst="rect">
            <a:avLst/>
          </a:prstGeom>
          <a:solidFill>
            <a:srgbClr val="2D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369296" y="6163056"/>
            <a:ext cx="256032" cy="146304"/>
          </a:xfrm>
          <a:prstGeom prst="rect">
            <a:avLst/>
          </a:prstGeom>
          <a:solidFill>
            <a:srgbClr val="0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634472" y="6163056"/>
            <a:ext cx="256032" cy="146304"/>
          </a:xfrm>
          <a:prstGeom prst="rect">
            <a:avLst/>
          </a:prstGeom>
          <a:solidFill>
            <a:srgbClr val="36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899648" y="6163056"/>
            <a:ext cx="256032" cy="146304"/>
          </a:xfrm>
          <a:prstGeom prst="rect">
            <a:avLst/>
          </a:prstGeom>
          <a:solidFill>
            <a:srgbClr val="36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164824" y="6163056"/>
            <a:ext cx="256032" cy="146304"/>
          </a:xfrm>
          <a:prstGeom prst="rect">
            <a:avLst/>
          </a:prstGeom>
          <a:solidFill>
            <a:srgbClr val="18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8778240" y="6327648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Step 1  --&gt;  Step 21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640080" y="6309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RED = positive influence (pushes stiffness up)      BLUE = negative influence (pushes stiffness down)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400800" y="63093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ACC15"/>
                </a:solidFill>
                <a:latin typeface="Segoe UI"/>
              </a:defRPr>
            </a:pPr>
            <a:r>
              <a:t>BRIGHTER = STRONGER influence on the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Summary: Three Perspectives on Model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Each method reveals a different aspect of how the model makes stiffness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371600"/>
            <a:ext cx="3474720" cy="45720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Cross-Attention</a:t>
            </a:r>
            <a:br/>
            <a:r>
              <a:t>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455" y="201168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203911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2128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Which slots are most</a:t>
            </a:r>
            <a:br/>
            <a:r>
              <a:t>active for this scenario?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3455" y="297180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607" y="299923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WHAT YOU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172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A bar chart showing the</a:t>
            </a:r>
            <a:br/>
            <a:r>
              <a:t>importance of each of the</a:t>
            </a:r>
            <a:br/>
            <a:r>
              <a:t>21 slots in reading the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455" y="402336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607" y="405079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CIVIL ENG.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2245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Identifies which degradation</a:t>
            </a:r>
            <a:br/>
            <a:r>
              <a:t>stages depend most directly</a:t>
            </a:r>
            <a:br/>
            <a:r>
              <a:t>on soil properties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95247" y="5074920"/>
            <a:ext cx="2011680" cy="36576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5247" y="5093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Speed: &lt; 1 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487" y="1371600"/>
            <a:ext cx="3474720" cy="45720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9927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Self-Attention</a:t>
            </a:r>
            <a:br/>
            <a:r>
              <a:t>Rollout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8215" y="201168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1367" y="203911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22128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How do degradation stages</a:t>
            </a:r>
            <a:br/>
            <a:r>
              <a:t>influence each other?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8215" y="297180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1367" y="299923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WHAT YOU SEE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1367" y="3172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A 21x21 grid (heatmap)</a:t>
            </a:r>
            <a:br/>
            <a:r>
              <a:t>showing information flow</a:t>
            </a:r>
            <a:br/>
            <a:r>
              <a:t>between all slot pairs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8215" y="402336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1367" y="405079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CIVIL ENG.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1367" y="42245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Reveals internal coupling:</a:t>
            </a:r>
            <a:br/>
            <a:r>
              <a:t>e.g. early loading stages</a:t>
            </a:r>
            <a:br/>
            <a:r>
              <a:t>affecting late-stage stiffness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90007" y="5074920"/>
            <a:ext cx="2011680" cy="3657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0007" y="5093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Speed: &lt; 1 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3247" y="1371600"/>
            <a:ext cx="3474720" cy="45720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4687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Feature</a:t>
            </a:r>
            <a:br/>
            <a:r>
              <a:t>Attribution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2975" y="201168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6127" y="203911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6127" y="22128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Which of the 8 soil/pile</a:t>
            </a:r>
            <a:br/>
            <a:r>
              <a:t>parameters drives each prediction?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2975" y="297180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6127" y="299923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WHAT YOU SEE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6127" y="3172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Ranked bar chart of feature</a:t>
            </a:r>
            <a:br/>
            <a:r>
              <a:t>importance + colour-coded</a:t>
            </a:r>
            <a:br/>
            <a:r>
              <a:t>heatmap across all steps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62975" y="4023360"/>
            <a:ext cx="3255264" cy="868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6127" y="405079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CIVIL ENG.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6127" y="42245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Directly answers: 'Is PI or</a:t>
            </a:r>
            <a:br/>
            <a:r>
              <a:t>Gmax more important for</a:t>
            </a:r>
            <a:br/>
            <a:r>
              <a:t>this specific pile scenario?'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4767" y="5074920"/>
            <a:ext cx="2011680" cy="36576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4767" y="5093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Speed: 50 ms / 2 sec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6126480"/>
            <a:ext cx="9418320" cy="548640"/>
          </a:xfrm>
          <a:prstGeom prst="roundRect">
            <a:avLst/>
          </a:prstGeom>
          <a:solidFill>
            <a:srgbClr val="181230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617220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84FC"/>
                </a:solidFill>
                <a:latin typeface="Segoe UI"/>
              </a:defRPr>
            </a:pPr>
            <a:r>
              <a:t>All three methods are available in the M10 Web Dashboard.  Select any test scenario and the XAI results are computed in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