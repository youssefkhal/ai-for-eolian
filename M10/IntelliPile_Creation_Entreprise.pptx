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D700"/>
                </a:solidFill>
                <a:latin typeface="Segoe UI"/>
              </a:defRPr>
            </a:pPr>
            <a:r>
              <a:t>INTELLIPILE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Jumeau Numérique Intelligent pour la Prédiction 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Dégradation de Rigidité des Pieux sous Charges Cycliques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Segoe UI"/>
              </a:defRPr>
            </a:pPr>
            <a:r>
              <a:t>IA Explicable (XAI) · Slot-Attention · SwiGLU · Physics-Informed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7589520" cy="10972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39319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Équipe Fondatrice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25196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Youssef Khallouqi  ·  Youssef Rissouli  ·  Mohamed Wael Addoul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7200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EMSI — École Marocaine des Sciences de l'Ingénieur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084FC"/>
                </a:solidFill>
                <a:latin typeface="Segoe UI"/>
              </a:defRPr>
            </a:pPr>
            <a:r>
              <a:t>Projet de Création d'Entreprise — Présentation Investisseurs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Avril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R² &gt; 0.989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19.7% Compression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3 Méthodes XAI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6126480"/>
            <a:ext cx="2103120" cy="502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&lt; 50ms Inférence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6B"/>
                </a:solidFill>
                <a:latin typeface="Segoe UI"/>
              </a:defRPr>
            </a:pPr>
            <a:r>
              <a:t>Le Problème : Pourquoi IntelliPile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Les fondations de pieux sous charges cycliques — un défi majeur du génie 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486400" cy="50292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Contexte Industriel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Les éoliennes offshore reposent sur des monopieux de 6-10m de diamètre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Les charges cycliques (tempêtes, vagues) dégradent la rigidité du sol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La rigidité latérale (KL), rotationnelle (KR) et couplée (KLR) diminue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Sans monitoring, risque d'effondrement structurel catastrophique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600" b="0">
                <a:solidFill>
                  <a:srgbClr val="DDDDDD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FFA500"/>
                </a:solidFill>
                <a:latin typeface="Segoe UI"/>
              </a:defRPr>
            </a:pPr>
            <a:r>
              <a:t>Le Coût du Problème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Inspections physiques : 50 000 - 200 000 € par pieu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Arrêt de production : 5 000 - 15 000 €/jour/éolienne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Remplacement de fondation : 2 - 5 M€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▸ Marché éolien offshore mondial : 56 Md$ en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50292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Segoe UI"/>
              </a:defRPr>
            </a:pPr>
            <a:r>
              <a:t>Limites des Solutions Actuelles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8483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✗ Méthodes Empiriques (p-y)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Imprécises pour charges cycliques complexes, pas de prédiction temporelle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10896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821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✗ Éléments Finis (FEM)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Très coûteux : 2-8h par simulation, nécessite expertise pointue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0624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79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✗ Monitoring Capteurs Seuls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Données brutes sans prédiction, réactif au lieu de prédictif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303520"/>
            <a:ext cx="521208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53766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84FC"/>
                </a:solidFill>
                <a:latin typeface="Segoe UI"/>
              </a:defRPr>
            </a:pPr>
            <a:r>
              <a:t>✗ IA Classique (MLP/LSTM)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Boîte noire, pas de garanties physiques, non explicable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Segoe UI"/>
              </a:defRPr>
            </a:pPr>
            <a:r>
              <a:t>Notre Solution : IntelliPile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Un jumeau numérique intelligent, explicable et conforme aux lois de la physique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13716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8"/>
                </a:solidFill>
                <a:latin typeface="Segoe UI"/>
              </a:defRPr>
            </a:pPr>
            <a:r>
              <a:t>IntelliPile : Prédiction en temps réel + Explicabilité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DDDDD"/>
                </a:solidFill>
                <a:latin typeface="Segoe UI"/>
              </a:defRPr>
            </a:pPr>
            <a:r>
              <a:t>8 paramètres sol/pieu → Modèle SwiGLU Ψ-NN → 21 étapes de dégradation KL, KR, KLR + Explications XAI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651760" cy="201168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⚡ Temps Réel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Prédiction &lt; 50ms</a:t>
            </a:r>
            <a:br/>
            <a:r>
              <a:t>vs 2-8h en FEM</a:t>
            </a:r>
            <a:br/>
            <a:r>
              <a:t>= 100 000x plus rapide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926080"/>
            <a:ext cx="2651760" cy="201168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🔬 Explicable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3 méthodes XAI</a:t>
            </a:r>
            <a:br/>
            <a:r>
              <a:t>identifient quels</a:t>
            </a:r>
            <a:br/>
            <a:r>
              <a:t>paramètres comptent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651760" cy="201168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⚙️ Physique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Contraintes monotones</a:t>
            </a:r>
            <a:br/>
            <a:r>
              <a:t>KL↓ KR↓ KLR↑</a:t>
            </a:r>
            <a:br/>
            <a:r>
              <a:t>garanties par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926080"/>
            <a:ext cx="2651760" cy="201168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📊 Précis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4290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R² &gt; 0.989</a:t>
            </a:r>
            <a:br/>
            <a:r>
              <a:t>MAPE &lt; 5%</a:t>
            </a:r>
            <a:br/>
            <a:r>
              <a:t>sur données réelles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212080"/>
            <a:ext cx="11430000" cy="137160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Avantage Concurrentiel Clé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Seule solution combinant : précision FEM + vitesse temps réel + explicabilité complète + garanties physiques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Architecture brevetable : SwiGLU Ψ-NN avec Slot-Attention et compression par prototypes (19.7% de réduction)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Conformité réglementaire : les méthodes XAI satisfont les exigences de l'EU AI Act pour les systèmes critiques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Architecture IA : SwiGLU Ψ-NN en Détail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Pipeline 3 étapes : Distillation → Découverte de Structure → Entraînement Ψ-Modèle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01168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ENTRÉES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59152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323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89504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419856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50208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480560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537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010912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8406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541264"/>
            <a:ext cx="1737360" cy="4114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61441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Segoe UI"/>
              </a:defRPr>
            </a:pPr>
            <a:r>
              <a:t>Dp/Lp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377440" y="3657600"/>
            <a:ext cx="365760" cy="274320"/>
          </a:xfrm>
          <a:prstGeom prst="rightArrow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26080" y="1371600"/>
            <a:ext cx="502920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SwiGLU Ψ-NN (45 502 params)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08960" y="182880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18653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18653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Linear(8→64) + LayerNorm + GELU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394960" y="233172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8960" y="246888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5054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21 Slots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5054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1 initial + 20 drops (5 prototypes)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5394960" y="297180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08960" y="310896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6120" y="314553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Cross-Attention ×3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14553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← Input (4 têtes, d=64)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394960" y="361188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08960" y="374904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37856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Self-Attention ×3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378561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Slots ↔ Slots (interactions)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5394960" y="425196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08960" y="438912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44256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SwiGLU MLP ×3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4256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SiLU(W_gate·x) ⊙ W_val·x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394960" y="489204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108960" y="502920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46120" y="50657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Têtes de Prédiction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50657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Slot → KL, KR, KLR</a:t>
            </a:r>
          </a:p>
        </p:txBody>
      </p:sp>
      <p:sp>
        <p:nvSpPr>
          <p:cNvPr id="49" name="Down Arrow 48"/>
          <p:cNvSpPr/>
          <p:nvPr/>
        </p:nvSpPr>
        <p:spPr>
          <a:xfrm>
            <a:off x="5394960" y="5532120"/>
            <a:ext cx="137160" cy="137160"/>
          </a:xfrm>
          <a:prstGeom prst="downArrow">
            <a:avLst/>
          </a:prstGeom>
          <a:solidFill>
            <a:srgbClr val="44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108960" y="5669280"/>
            <a:ext cx="4663440" cy="530352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57058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Segoe UI"/>
              </a:defRPr>
            </a:pPr>
            <a:r>
              <a:t>Contraintes Physiques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57058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cumsum + monotonie KL↓ KR↓ KLR↑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092440" y="3657600"/>
            <a:ext cx="365760" cy="274320"/>
          </a:xfrm>
          <a:prstGeom prst="rightArrow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595360" y="1371600"/>
            <a:ext cx="329184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SORTIES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0" y="192024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2011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KL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Latérale</a:t>
            </a:r>
            <a:br/>
            <a:r>
              <a:t>21 valeurs décroissantes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78240" y="338328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KR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Rotationnelle</a:t>
            </a:r>
            <a:br/>
            <a:r>
              <a:t>21 valeurs décroissantes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78240" y="4846320"/>
            <a:ext cx="2926080" cy="12801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69680" y="4937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KLR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Rigidité Couplée</a:t>
            </a:r>
            <a:br/>
            <a:r>
              <a:t>21 valeurs croissantes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Pipeline d'Entraînement en 3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De M6 Teacher (56 646 params) à Ψ-Model compressé (45 502 params) — réduction de 19.7%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ÉTAPE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Distillation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Le modèle étudiant (SwiGLU)</a:t>
            </a:r>
            <a:br/>
            <a:r>
              <a:t>apprend du professeur M6</a:t>
            </a:r>
            <a:br/>
            <a:r>
              <a:t>avec régularisation L1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Professeur M6 (gelé)</a:t>
            </a:r>
            <a:br/>
            <a:r>
              <a:t>→ Étudiant SwiGLU</a:t>
            </a:r>
            <a:br/>
            <a:r>
              <a:t>Loss = L_distill + 0.5·L_data + μ·L1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3657600"/>
            <a:ext cx="22860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ÉTAPE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Découverte de 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Clustering K-Means des</a:t>
            </a:r>
            <a:br/>
            <a:r>
              <a:t>20 slots de dégradation</a:t>
            </a:r>
            <a:br/>
            <a:r>
              <a:t>→ k*=5 prototypes optimaux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Silhouette Score = 0.673</a:t>
            </a:r>
            <a:br/>
            <a:r>
              <a:t>20 slots → 5 prototypes</a:t>
            </a:r>
            <a:br/>
            <a:r>
              <a:t>Matrice R apprise (20×5)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09560" y="3657600"/>
            <a:ext cx="228600" cy="22860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ÉTAPE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783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Entraînement Ψ-Model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286000"/>
            <a:ext cx="3291840" cy="164592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377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Modèle structuré avec</a:t>
            </a:r>
            <a:br/>
            <a:r>
              <a:t>prototypes + SwiGLU MLP</a:t>
            </a:r>
            <a:br/>
            <a:r>
              <a:t>+ contraintes physiques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114800"/>
            <a:ext cx="3291840" cy="20116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1605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Détails Techniques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34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onsolas"/>
              </a:defRPr>
            </a:pPr>
            <a:r>
              <a:t>L = L_distill + L_seq + 5·L_init</a:t>
            </a:r>
            <a:br/>
            <a:r>
              <a:t>+ L_shape + 0.02·L_entropy</a:t>
            </a:r>
            <a:br/>
            <a:r>
              <a:t>+ 0.2·L_physics_mono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A500"/>
                </a:solidFill>
                <a:latin typeface="Segoe UI"/>
              </a:defRPr>
            </a:pPr>
            <a:r>
              <a:t>Explicabilité (XAI) : 3 Méthodes Complémentaires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Transparence totale : du slot au paramètre d'entrée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Attention Rollout</a:t>
            </a:r>
            <a:br/>
            <a:r>
              <a:t>(Cross + Self)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Quels slots sont actifs ?</a:t>
            </a:r>
            <a:br/>
            <a:r>
              <a:t>Comment les slots communiquent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Cross: moyenne sur 3 itérations</a:t>
            </a:r>
            <a:br/>
            <a:r>
              <a:t>→ importance par slot [21]</a:t>
            </a:r>
            <a:br/>
            <a:br/>
            <a:r>
              <a:t>Self: produit matriciel avec</a:t>
            </a:r>
            <a:br/>
            <a:r>
              <a:t>mixage résiduel (50%)</a:t>
            </a:r>
            <a:br/>
            <a:r>
              <a:t>→ matrice de flux [21×21]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Gradient × Input</a:t>
            </a:r>
            <a:br/>
            <a:r>
              <a:t>(LRP)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Quels paramètres sol/pieu</a:t>
            </a:r>
            <a:br/>
            <a:r>
              <a:t>influencent la prédiction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attr_j = x_j × ∂output/∂x_j</a:t>
            </a:r>
            <a:br/>
            <a:br/>
            <a:r>
              <a:t>Satisfait l'axiome de</a:t>
            </a:r>
            <a:br/>
            <a:r>
              <a:t>complétude du 1er ordre</a:t>
            </a:r>
            <a:br/>
            <a:br/>
            <a:r>
              <a:t>Temps: ~50ms par scénario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Gradients Intégrés</a:t>
            </a:r>
            <a:br/>
            <a:r>
              <a:t>(Gold Standard)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103120"/>
            <a:ext cx="329184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103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QUESTION: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Attribution exacte vers</a:t>
            </a:r>
            <a:br/>
            <a:r>
              <a:t>les 8 paramètres d'entrée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888899"/>
                </a:solidFill>
                <a:latin typeface="Segoe UI"/>
              </a:defRPr>
            </a:pPr>
            <a:r>
              <a:t>MÉTHODE: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Consolas"/>
              </a:defRPr>
            </a:pPr>
            <a:r>
              <a:t>∫₀¹ ∂f/∂x (baseline + α·Δx) dα</a:t>
            </a:r>
            <a:br/>
            <a:br/>
            <a:r>
              <a:t>Satisfait exactement:</a:t>
            </a:r>
            <a:br/>
            <a:r>
              <a:t>f(x) - f(0) = Σ attribution_j</a:t>
            </a:r>
            <a:br/>
            <a:br/>
            <a:r>
              <a:t>Temps: ~2s (30 pas intégration)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Performances du Modèle : Résultats Validés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Comparaison M6 Teacher vs Ψ-Model SwiGLU sur données réelles de pieux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548640"/>
          </a:xfrm>
          <a:prstGeom prst="roundRect">
            <a:avLst/>
          </a:prstGeom>
          <a:solidFill>
            <a:srgbClr val="1A2A3D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Modèle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R² KLR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Compression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1247120" cy="4572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M6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56 646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0.9768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0.9634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0.9690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14600"/>
            <a:ext cx="11247120" cy="4572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Stage-A 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46 342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0.9786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0.9827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587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17520"/>
            <a:ext cx="11247120" cy="457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Ψ-Model SwiGLU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45 502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0.9905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0.9796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0.9860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0906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19.7%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Points Clés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Le Ψ-Model surpasse le Teacher avec 19.7% moins de paramètres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R² &gt; 0.98 sur toutes les variables — précision grade production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SwiGLU MLP (6 272 params) vs MLP classique (6 256 params)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5 prototypes découverts (silhouette = 0.673) → compression efficace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Inférence &lt; 50ms vs 2-8h pour FEM → monitoring temps réel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Validation Scientifique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Données réelles : pieux en condition de service réel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Métriques courbe par courbe (MAPE, NRMSE, R²)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Contraintes physiques respectées : monotonie garantie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Cross-validation 80/20 sur scénarios indépendants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Reproductible : code open-source Python/PyTorch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Marché Cible : Une Opportunité de 56 Milliards $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L'éolien offshore et les infrastructures maritimes — un marché en croissance exponentielle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Éolien Offshore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56 Md$ (2025)</a:t>
            </a:r>
            <a:br/>
            <a:r>
              <a:t>→ 120 Md$ (2030)</a:t>
            </a:r>
            <a:br/>
            <a:r>
              <a:t>+15%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30 000+ monopieux installés</a:t>
            </a:r>
            <a:br/>
            <a:r>
              <a:t>en Europe, Chine, USA</a:t>
            </a:r>
            <a:br/>
            <a:r>
              <a:t>Chacun nécessite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Ponts &amp; 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4.2 Md$ (monitoring)</a:t>
            </a:r>
            <a:br/>
            <a:r>
              <a:t>→ 8 Md$ (2030)</a:t>
            </a:r>
            <a:br/>
            <a:r>
              <a:t>Marché fondations pieux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1.5M+ ponts aux USA seuls</a:t>
            </a:r>
            <a:br/>
            <a:r>
              <a:t>45% ont &gt; 50 ans</a:t>
            </a:r>
            <a:br/>
            <a:r>
              <a:t>Maintenance prédictive critique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432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Oil &amp; Gas Offshore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28 Md$ (2025)</a:t>
            </a:r>
            <a:br/>
            <a:r>
              <a:t>Platformes sur pieux</a:t>
            </a:r>
            <a:br/>
            <a:r>
              <a:t>Conditions extrêmes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7 000+ plateformes</a:t>
            </a:r>
            <a:br/>
            <a:r>
              <a:t>Dégradation cyclique majeure</a:t>
            </a:r>
            <a:br/>
            <a:r>
              <a:t>Normes sécurité strictes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71600"/>
            <a:ext cx="274320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63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Construction</a:t>
            </a:r>
            <a:br/>
            <a:r>
              <a:t>Parasismique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011680"/>
            <a:ext cx="2468880" cy="13716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1031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15 Md$ (2025)</a:t>
            </a:r>
            <a:br/>
            <a:r>
              <a:t>Fondations profondes</a:t>
            </a:r>
            <a:br/>
            <a:r>
              <a:t>Zones sismiques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6576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Japon, Californie, Turquie</a:t>
            </a:r>
            <a:br/>
            <a:r>
              <a:t>Charges cycliques sismiques</a:t>
            </a:r>
            <a:br/>
            <a:r>
              <a:t>Identique à notre modèle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Modèle Économique : Comment Monétiser IntelliPile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4 sources de revenus complémentaires — SaaS + Consulting + Licence +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78892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SaaS Platform</a:t>
            </a:r>
            <a:br/>
            <a:r>
              <a:t>(Récurrent)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Abonnement mensuel par pieu/structure</a:t>
            </a:r>
            <a:br/>
            <a:br/>
            <a:r>
              <a:t>• Starter : 500€/mois (10 pieux)</a:t>
            </a:r>
            <a:br/>
            <a:r>
              <a:t>• Pro : 2 000€/mois (100 pieux)</a:t>
            </a:r>
            <a:br/>
            <a:r>
              <a:t>• Enterprise : 10 000€/mois (illimité)</a:t>
            </a:r>
            <a:br/>
            <a:br/>
            <a:r>
              <a:t>Dashboard XAI + alertes temps réel</a:t>
            </a:r>
            <a:br/>
            <a:r>
              <a:t>Marge brute : 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60%</a:t>
            </a:r>
            <a:br/>
            <a:r>
              <a:t>du 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71600"/>
            <a:ext cx="278892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Consulting</a:t>
            </a:r>
            <a:br/>
            <a:r>
              <a:t>Ingénierie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Études personnalisées par projet</a:t>
            </a:r>
            <a:br/>
            <a:br/>
            <a:r>
              <a:t>• Audit initial : 15 000 - 50 000€</a:t>
            </a:r>
            <a:br/>
            <a:r>
              <a:t>• Calibration modèle : 25 000€</a:t>
            </a:r>
            <a:br/>
            <a:r>
              <a:t>• Formation équipe : 5 000€/jour</a:t>
            </a:r>
            <a:br/>
            <a:br/>
            <a:r>
              <a:t>Expertise géotechnique + IA</a:t>
            </a:r>
            <a:br/>
            <a:r>
              <a:t>Marge : 65%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20%</a:t>
            </a:r>
            <a:br/>
            <a:r>
              <a:t>du 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8892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Licences</a:t>
            </a:r>
            <a:br/>
            <a:r>
              <a:t>Technologie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Licence de la technologie Ψ-NN</a:t>
            </a:r>
            <a:br/>
            <a:br/>
            <a:r>
              <a:t>• SDK développeur : 50 000€/an</a:t>
            </a:r>
            <a:br/>
            <a:r>
              <a:t>• Intégration SCADA : 100 000€</a:t>
            </a:r>
            <a:br/>
            <a:r>
              <a:t>• OEM pour fabricants : royalties 3-5%</a:t>
            </a:r>
            <a:br/>
            <a:br/>
            <a:r>
              <a:t>Propriété intellectuelle forte</a:t>
            </a:r>
            <a:br/>
            <a:r>
              <a:t>Marge : 90%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15%</a:t>
            </a:r>
            <a:br/>
            <a:r>
              <a:t>du 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371600"/>
            <a:ext cx="2788920" cy="5029200"/>
          </a:xfrm>
          <a:prstGeom prst="roundRect">
            <a:avLst/>
          </a:prstGeom>
          <a:solidFill>
            <a:srgbClr val="3B1D6E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463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Data &amp;</a:t>
            </a:r>
            <a:br/>
            <a:r>
              <a:t>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01168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DDDDD"/>
                </a:solidFill>
                <a:latin typeface="Segoe UI"/>
              </a:defRPr>
            </a:pPr>
            <a:r>
              <a:t>Données agrégées anonymisées</a:t>
            </a:r>
            <a:br/>
            <a:br/>
            <a:r>
              <a:t>• Benchmark industriel : 20 000€/an</a:t>
            </a:r>
            <a:br/>
            <a:r>
              <a:t>• Rapports sectoriels : 5 000€</a:t>
            </a:r>
            <a:br/>
            <a:r>
              <a:t>• API données historiques</a:t>
            </a:r>
            <a:br/>
            <a:br/>
            <a:r>
              <a:t>Effet réseau : plus de clients</a:t>
            </a:r>
            <a:br/>
            <a:r>
              <a:t>= meilleures prédictions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5577840"/>
            <a:ext cx="1691640" cy="6400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56235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5%</a:t>
            </a:r>
            <a:br/>
            <a:r>
              <a:t>du 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FF88"/>
                </a:solidFill>
                <a:latin typeface="Segoe UI"/>
              </a:defRPr>
            </a:pPr>
            <a:r>
              <a:t>Impact Économique : Réduction des Coûts pour les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ROI démontrable : économies de 70-90% sur l'inspection et la maintenance prédictive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430000" cy="73152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88"/>
                </a:solidFill>
                <a:latin typeface="Segoe UI"/>
              </a:defRPr>
            </a:pPr>
            <a:r>
              <a:t>Économie moyenne par parc éolien (50 turbines) : 2.5 - 8 M€ /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Segoe UI"/>
              </a:defRPr>
            </a:pPr>
            <a:r>
              <a:t>ROI client : investissement récupéré en 3-6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Poste de Coût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Coût Actuel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Avec IntelliPile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Économie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Inspection physique</a:t>
            </a:r>
            <a:br/>
            <a:r>
              <a:t>par pieu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74320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50 000 -</a:t>
            </a:r>
            <a:br/>
            <a:r>
              <a:t>200 000 €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74320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2 000 -</a:t>
            </a:r>
            <a:br/>
            <a:r>
              <a:t>5 000 €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74320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96%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Temps d'arrêt</a:t>
            </a:r>
            <a:br/>
            <a:r>
              <a:t>par incident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70332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75 000 -</a:t>
            </a:r>
            <a:br/>
            <a:r>
              <a:t>225 000 €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70332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5 000 -</a:t>
            </a:r>
            <a:br/>
            <a:r>
              <a:t>15 000 €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70332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0" y="38404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93%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Simulation FEM</a:t>
            </a:r>
            <a:br/>
            <a:r>
              <a:t>par scénario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466344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10 000 -</a:t>
            </a:r>
            <a:br/>
            <a:r>
              <a:t>30 000 €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66344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~0 €</a:t>
            </a:r>
            <a:br/>
            <a:r>
              <a:t>(temps réel)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66344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4800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~100%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62356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Expertise humaine</a:t>
            </a:r>
            <a:br/>
            <a:r>
              <a:t>par rapport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5623560"/>
            <a:ext cx="2560320" cy="822960"/>
          </a:xfrm>
          <a:prstGeom prst="roundRect">
            <a:avLst/>
          </a:prstGeom>
          <a:solidFill>
            <a:srgbClr val="501515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Segoe UI"/>
              </a:defRPr>
            </a:pPr>
            <a:r>
              <a:t>5 000 -</a:t>
            </a:r>
            <a:br/>
            <a:r>
              <a:t>15 000 €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5623560"/>
            <a:ext cx="2560320" cy="82296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500 -</a:t>
            </a:r>
            <a:br/>
            <a:r>
              <a:t>1 500 €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5623560"/>
            <a:ext cx="2560320" cy="82296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90%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2FF"/>
                </a:solidFill>
                <a:latin typeface="Segoe UI"/>
              </a:defRPr>
            </a:pPr>
            <a:r>
              <a:t>Cas d'Usage Réels et Références Industrielles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Applications concrètes dans l'éolien offshore, les ponts et l'Oil &amp; 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576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Parc Éolien Hornsea (UK)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383280" cy="27432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174 turbines offshore sur monopieux</a:t>
            </a:r>
            <a:br/>
            <a:r>
              <a:t>Mer du Nord — conditions extrêmes</a:t>
            </a:r>
            <a:br/>
            <a:br/>
            <a:r>
              <a:t>▸ Problème : dégradation sous tempêtes</a:t>
            </a:r>
            <a:br/>
            <a:r>
              <a:t>  nécessite monitoring continu</a:t>
            </a:r>
            <a:br/>
            <a:r>
              <a:t>▸ Solution IntelliPile : prédiction en</a:t>
            </a:r>
            <a:br/>
            <a:r>
              <a:t>  temps réel de KL/KR/KLR</a:t>
            </a:r>
            <a:br/>
            <a:r>
              <a:t>▸ Impact : -80% coûts inspection</a:t>
            </a:r>
            <a:br/>
            <a:r>
              <a:t>  Détection précoce de dégradation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6576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Pont Donghai (Chine)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383280" cy="27432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32.5 km — plus long pont maritime</a:t>
            </a:r>
            <a:br/>
            <a:r>
              <a:t>4 000+ pieux de fondation</a:t>
            </a:r>
            <a:br/>
            <a:br/>
            <a:r>
              <a:t>▸ Problème : charges cycliques des</a:t>
            </a:r>
            <a:br/>
            <a:r>
              <a:t>  vagues + séismes potentiels</a:t>
            </a:r>
            <a:br/>
            <a:r>
              <a:t>▸ Solution IntelliPile : jumeau numérique</a:t>
            </a:r>
            <a:br/>
            <a:r>
              <a:t>  de chaque groupe de pieux</a:t>
            </a:r>
            <a:br/>
            <a:r>
              <a:t>▸ Impact : planification maintenance</a:t>
            </a:r>
            <a:br/>
            <a:r>
              <a:t>  optimisée, durée de vie +20%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63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TotalEnergies Offshore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828800"/>
            <a:ext cx="3383280" cy="2743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DDD"/>
                </a:solidFill>
                <a:latin typeface="Segoe UI"/>
              </a:defRPr>
            </a:pPr>
            <a:r>
              <a:t>Plateformes pétrolières Golfe de Guinée</a:t>
            </a:r>
            <a:br/>
            <a:r>
              <a:t>Fondations profondes en argile</a:t>
            </a:r>
            <a:br/>
            <a:br/>
            <a:r>
              <a:t>▸ Problème : PI élevé = dégradation</a:t>
            </a:r>
            <a:br/>
            <a:r>
              <a:t>  rapide sous charges cycliques</a:t>
            </a:r>
            <a:br/>
            <a:r>
              <a:t>▸ Solution IntelliPile : XAI identifie</a:t>
            </a:r>
            <a:br/>
            <a:r>
              <a:t>  PI comme facteur dominant</a:t>
            </a:r>
            <a:br/>
            <a:r>
              <a:t>▸ Impact : maintenance ciblée</a:t>
            </a:r>
            <a:br/>
            <a:r>
              <a:t>  réduction risque effondrement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700"/>
                </a:solidFill>
                <a:latin typeface="Segoe UI"/>
              </a:defRPr>
            </a:pPr>
            <a:r>
              <a:t>Projections Financières : Plan à 5 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Objectif : 5M€ ARR en année 5 avec marge nette &gt; 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Métrique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Segoe UI"/>
              </a:defRPr>
            </a:pPr>
            <a:r>
              <a:t>Année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82880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Segoe UI"/>
              </a:defRPr>
            </a:pPr>
            <a:r>
              <a:t>Clients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82880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938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246888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5786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ARR (K€)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480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1 400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3 200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46888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5 500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310896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3218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Segoe UI"/>
              </a:defRPr>
            </a:pPr>
            <a:r>
              <a:t>Coûts (K€)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350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420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650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1 100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310896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32186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1 800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" y="374904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3858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EBITDA (K€)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0896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5468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-230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750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2 100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058400" y="374904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04120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3 700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88720" y="4389120"/>
            <a:ext cx="173736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3444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  <a:latin typeface="Segoe UI"/>
              </a:defRPr>
            </a:pPr>
            <a:r>
              <a:t>Marge (%)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0896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5468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Segoe UI"/>
              </a:defRPr>
            </a:pPr>
            <a:r>
              <a:t>-192%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9204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12%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2940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54%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2104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676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66%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58400" y="4389120"/>
            <a:ext cx="1645920" cy="54864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04120" y="44988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5303520"/>
            <a:ext cx="5486400" cy="12801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5394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Investissement Recherché : 500 000 €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R&amp;D et produit : 250 000€ (50%)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Commercial et marketing : 150 000€ (30%)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Opérations et infrastructure : 100 000€ (20%)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5303520"/>
            <a:ext cx="5486400" cy="1280160"/>
          </a:xfrm>
          <a:prstGeom prst="roundRect">
            <a:avLst/>
          </a:prstGeom>
          <a:solidFill>
            <a:srgbClr val="1A1B2E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5394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Segoe UI"/>
              </a:defRPr>
            </a:pPr>
            <a:r>
              <a:t>Utilisation des Fonds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Embauche 3 ingénieurs IA + 1 commercial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Pilote avec 2-3 clients industriels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Certification et brevets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Infrastructure cloud (GPU + dashboard)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084FC"/>
                </a:solidFill>
                <a:latin typeface="Segoe UI"/>
              </a:defRPr>
            </a:pPr>
            <a:r>
              <a:t>Feuille de Route : Du Prototype au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Segoe UI"/>
              </a:defRPr>
            </a:pPr>
            <a:r>
              <a:t>Phase actuelle : TRL 4 (validation en laboratoire) → Objectif TRL 7 en 18 mois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5029200"/>
          </a:xfrm>
          <a:prstGeom prst="roundRect">
            <a:avLst/>
          </a:prstGeom>
          <a:solidFill>
            <a:srgbClr val="0A3D50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T1-T2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MVP &amp; Pilote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2468880" cy="27432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Finaliser plateforme SaaS</a:t>
            </a:r>
            <a:br/>
            <a:r>
              <a:t>▸ 2 pilotes avec parcs éoliens</a:t>
            </a:r>
            <a:br/>
            <a:r>
              <a:t>▸ Certification modèle</a:t>
            </a:r>
            <a:br/>
            <a:r>
              <a:t>▸ Dépôt brevet Ψ-NN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43200" cy="5029200"/>
          </a:xfrm>
          <a:prstGeom prst="roundRect">
            <a:avLst/>
          </a:prstGeom>
          <a:solidFill>
            <a:srgbClr val="50300A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T3-T4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0"/>
                </a:solidFill>
                <a:latin typeface="Segoe UI"/>
              </a:defRPr>
            </a:pPr>
            <a:r>
              <a:t>Premiers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240280"/>
            <a:ext cx="2468880" cy="27432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3-5 clients payants</a:t>
            </a:r>
            <a:br/>
            <a:r>
              <a:t>▸ Intégration SCADA</a:t>
            </a:r>
            <a:br/>
            <a:r>
              <a:t>▸ SDK développeur</a:t>
            </a:r>
            <a:br/>
            <a:r>
              <a:t>▸ Recrutement équipe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743200" cy="5029200"/>
          </a:xfrm>
          <a:prstGeom prst="roundRect">
            <a:avLst/>
          </a:prstGeom>
          <a:solidFill>
            <a:srgbClr val="0A402A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88"/>
                </a:solidFill>
                <a:latin typeface="Segoe UI"/>
              </a:defRPr>
            </a:pPr>
            <a:r>
              <a:t>Scale-up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240280"/>
            <a:ext cx="2468880" cy="27432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30+ clients</a:t>
            </a:r>
            <a:br/>
            <a:r>
              <a:t>▸ Expansion ponts/ports</a:t>
            </a:r>
            <a:br/>
            <a:r>
              <a:t>▸ Partenariat constructeurs</a:t>
            </a:r>
            <a:br/>
            <a:r>
              <a:t>▸ Série A visée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06840" y="365760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1371600"/>
            <a:ext cx="2743200" cy="5029200"/>
          </a:xfrm>
          <a:prstGeom prst="roundRect">
            <a:avLst/>
          </a:prstGeom>
          <a:solidFill>
            <a:srgbClr val="40350A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2028-2030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240280"/>
            <a:ext cx="246888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4231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▸ 150+ clients globaux</a:t>
            </a:r>
            <a:br/>
            <a:r>
              <a:t>▸ Standard industriel</a:t>
            </a:r>
            <a:br/>
            <a:r>
              <a:t>▸ Entrée Oil &amp; Gas</a:t>
            </a:r>
            <a:br/>
            <a:r>
              <a:t>▸ Expansion Asie-Pacifique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Segoe UI"/>
              </a:defRPr>
            </a:pPr>
            <a:r>
              <a:t>IntelliPile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L'Intelligence Artificielle au Service de l'Infrastructure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10312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176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Segoe UI"/>
              </a:defRPr>
            </a:pPr>
            <a:r>
              <a:t>🧠 Technologie Unique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7627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SwiGLU Ψ-NN avec Slot-Attention</a:t>
            </a:r>
            <a:br/>
            <a:r>
              <a:t>45 502 params · R² &gt; 0.989 · &lt; 50ms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5468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227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🔍 Explicabilité Totale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2783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3 méthodes XAI · Conforme EU AI Act</a:t>
            </a:r>
            <a:br/>
            <a:r>
              <a:t>Transparence pour ingénieurs et régulateurs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💰 ROI Démontré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27939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Économie 70-90% sur maintenance</a:t>
            </a:r>
            <a:br/>
            <a:r>
              <a:t>ROI client en 3-6 mois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257800"/>
            <a:ext cx="8503920" cy="91440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00D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330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📈 Marché Massif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3095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Segoe UI"/>
              </a:defRPr>
            </a:pPr>
            <a:r>
              <a:t>56 Md$ éolien offshore + ponts + O&amp;G</a:t>
            </a:r>
            <a:br/>
            <a:r>
              <a:t>+15% croissance annuelle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486400"/>
            <a:ext cx="7589520" cy="1097280"/>
          </a:xfrm>
          <a:prstGeom prst="roundRect">
            <a:avLst/>
          </a:prstGeom>
          <a:solidFill>
            <a:srgbClr val="141428"/>
          </a:solidFill>
          <a:ln w="1905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57784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Rejoignez l'Aventure IntelliPile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89788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Youssef Khallouqi  ·  Youssef Rissouli  ·  Mohamed Wael Addoul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6217920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EMSI — contact@intellipile.ai — Investissement recherché : 500 000 €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