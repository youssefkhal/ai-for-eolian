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params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M6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56646</c:v>
                </c:pt>
                <c:pt idx="1">
                  <c:v>55770</c:v>
                </c:pt>
                <c:pt idx="2">
                  <c:v>45486</c:v>
                </c:pt>
                <c:pt idx="3">
                  <c:v>45502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M7</c:v>
                </c:pt>
                <c:pt idx="1">
                  <c:v>M8</c:v>
                </c:pt>
                <c:pt idx="2">
                  <c:v>M9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0.9896615217064817</c:v>
                </c:pt>
                <c:pt idx="1">
                  <c:v>0.9882202552109665</c:v>
                </c:pt>
                <c:pt idx="2">
                  <c:v>0.9890846564951397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RMSE (B)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M7</c:v>
                </c:pt>
                <c:pt idx="1">
                  <c:v>M8</c:v>
                </c:pt>
                <c:pt idx="2">
                  <c:v>M9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21.600351516072195</c:v>
                </c:pt>
                <c:pt idx="1">
                  <c:v>23.056875226145145</c:v>
                </c:pt>
                <c:pt idx="2">
                  <c:v>22.194798797181736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MAE (B)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M7</c:v>
                </c:pt>
                <c:pt idx="1">
                  <c:v>M8</c:v>
                </c:pt>
                <c:pt idx="2">
                  <c:v>M9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3.175757116086302</c:v>
                </c:pt>
                <c:pt idx="1">
                  <c:v>3.314234949649077</c:v>
                </c:pt>
                <c:pt idx="2">
                  <c:v>3.328600299398692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MAPE 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S56</c:v>
                </c:pt>
                <c:pt idx="1">
                  <c:v>S141</c:v>
                </c:pt>
                <c:pt idx="2">
                  <c:v>S73</c:v>
                </c:pt>
                <c:pt idx="3">
                  <c:v>S84</c:v>
                </c:pt>
                <c:pt idx="4">
                  <c:v>S60</c:v>
                </c:pt>
                <c:pt idx="5">
                  <c:v>S137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34.35</c:v>
                </c:pt>
                <c:pt idx="1">
                  <c:v>25.313</c:v>
                </c:pt>
                <c:pt idx="2">
                  <c:v>22.412</c:v>
                </c:pt>
                <c:pt idx="3">
                  <c:v>13.263</c:v>
                </c:pt>
                <c:pt idx="4">
                  <c:v>13.104</c:v>
                </c:pt>
                <c:pt idx="5">
                  <c:v>12.34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M7 vs M8 vs M9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B9C4D2"/>
                </a:solidFill>
              </a:rPr>
              <a:t>Master Technical Analysis with Full Architecture Drawings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3383280" cy="1965960"/>
          </a:xfrm>
          <a:prstGeom prst="roundRect">
            <a:avLst/>
          </a:prstGeom>
          <a:solidFill>
            <a:srgbClr val="2D6ED2"/>
          </a:solidFill>
          <a:ln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176272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M7 Baseline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Parameters: 55,770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R2: 0.9897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2057400"/>
            <a:ext cx="3383280" cy="1965960"/>
          </a:xfrm>
          <a:prstGeom prst="roundRect">
            <a:avLst/>
          </a:prstGeom>
          <a:solidFill>
            <a:srgbClr val="E37850"/>
          </a:solidFill>
          <a:ln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1728" y="2176272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M8 Efficient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Parameters: 45,486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R2: 0.9882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057400"/>
            <a:ext cx="3383280" cy="1965960"/>
          </a:xfrm>
          <a:prstGeom prst="roundRect">
            <a:avLst/>
          </a:prstGeom>
          <a:solidFill>
            <a:srgbClr val="2C9D8B"/>
          </a:solidFill>
          <a:ln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5048" y="2176272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M9 SwiGLU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Parameters: 45,502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R2: 0.9891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0DBE7"/>
                </a:solidFill>
              </a:rPr>
              <a:t>This deck explains model evolution, why M9 architecture matters, and how each design choice impacts accuracy, compression, and robustness.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Executive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What changed from M7 to M8 to M9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3749039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472184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6ED2"/>
                </a:solidFill>
              </a:rPr>
              <a:t>M7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828800"/>
            <a:ext cx="3493007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Wide slot MLP: 64 -&gt; 128 -&gt; 64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Fixed relation matrix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k*=6 prototypes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R2=0.9897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Params=55,770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417320"/>
            <a:ext cx="3749039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61688" y="1472184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37850"/>
                </a:solidFill>
              </a:rPr>
              <a:t>M8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1828800"/>
            <a:ext cx="3493007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Bottleneck MLP: 64 -&gt; 48 -&gt; 64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Learnable relation matrix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Physics monotonic loss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k*=5 prototypes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R2=0.9882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Params=45,486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417320"/>
            <a:ext cx="365760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7" y="147218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9D8B"/>
                </a:solidFill>
              </a:rPr>
              <a:t>M9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1828800"/>
            <a:ext cx="3401568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SwiGLU gated MLP (hidden=32)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Learnable relation matrix (same principle as M8)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Full A/B/C retraining in latest run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k*=5 prototypes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R2=0.9891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Params=45,502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Problem and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Predict pile stiffness degradation across 21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383280" cy="4480560"/>
          </a:xfrm>
          <a:prstGeom prst="roundRect">
            <a:avLst/>
          </a:prstGeom>
          <a:solidFill>
            <a:srgbClr val="E7F2FF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664208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ED2"/>
                </a:solidFill>
              </a:rPr>
              <a:t>Input Features (8)</a:t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>PI, Gmax, v, Dp, Tp, Lp, Ip, Dp/Lp</a:t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/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>Model sees one scenario and predicts full time response.</a:t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/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>Data:</a:t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>- 1019 scenarios</a:t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>- Train 815</a:t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>- Test 204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69080" y="3611880"/>
            <a:ext cx="731520" cy="228600"/>
          </a:xfrm>
          <a:prstGeom prst="rightArrow">
            <a:avLst/>
          </a:prstGeom>
          <a:solidFill>
            <a:srgbClr val="F0A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92040" y="1554480"/>
            <a:ext cx="2468880" cy="4480560"/>
          </a:xfrm>
          <a:prstGeom prst="roundRect">
            <a:avLst/>
          </a:prstGeom>
          <a:solidFill>
            <a:srgbClr val="FFF7EC"/>
          </a:solidFill>
          <a:ln w="1905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56632" y="1664208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7222D"/>
                </a:solidFill>
              </a:rPr>
              <a:t>Psi-NN Core</a:t>
            </a:r>
          </a:p>
          <a:p>
            <a:pPr algn="ctr"/>
            <a:r>
              <a:rPr sz="1300">
                <a:solidFill>
                  <a:srgbClr val="17222D"/>
                </a:solidFill>
              </a:rPr>
              <a:t>Slot attention</a:t>
            </a:r>
          </a:p>
          <a:p>
            <a:pPr algn="ctr"/>
            <a:r>
              <a:rPr sz="1300">
                <a:solidFill>
                  <a:srgbClr val="17222D"/>
                </a:solidFill>
              </a:rPr>
              <a:t>Per-slot MLP</a:t>
            </a:r>
          </a:p>
          <a:p>
            <a:pPr algn="ctr"/>
            <a:r>
              <a:rPr sz="1300">
                <a:solidFill>
                  <a:srgbClr val="17222D"/>
                </a:solidFill>
              </a:rPr>
              <a:t>Relation matrix R</a:t>
            </a:r>
          </a:p>
          <a:p>
            <a:pPr algn="ctr"/>
            <a:r>
              <a:rPr sz="1300">
                <a:solidFill>
                  <a:srgbClr val="17222D"/>
                </a:solidFill>
              </a:rPr>
              <a:t>Output head</a:t>
            </a:r>
          </a:p>
          <a:p>
            <a:pPr algn="ctr"/>
            <a:r>
              <a:rPr sz="1300">
                <a:solidFill>
                  <a:srgbClr val="17222D"/>
                </a:solidFill>
              </a:rPr>
              <a:t/>
            </a:r>
          </a:p>
          <a:p>
            <a:pPr algn="ctr"/>
            <a:r>
              <a:rPr sz="1300">
                <a:solidFill>
                  <a:srgbClr val="17222D"/>
                </a:solidFill>
              </a:rPr>
              <a:t>Differences between M7/M8/M9 happen here.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52360" y="3611880"/>
            <a:ext cx="731520" cy="228600"/>
          </a:xfrm>
          <a:prstGeom prst="rightArrow">
            <a:avLst/>
          </a:prstGeom>
          <a:solidFill>
            <a:srgbClr val="F0A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75320" y="1554480"/>
            <a:ext cx="3383280" cy="4480560"/>
          </a:xfrm>
          <a:prstGeom prst="roundRect">
            <a:avLst/>
          </a:prstGeom>
          <a:solidFill>
            <a:srgbClr val="E7F9F2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9056" y="1664208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8B"/>
                </a:solidFill>
              </a:rPr>
              <a:t>Outputs (3 x 21)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KL: lateral stiffness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KR: rocking stiffness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KLR: coupling stiffness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/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Targets: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- High R2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- Low RMSE / MAE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- Physically consistent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M7 Architecture (Drawn)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Baseline structured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0220" y="13075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D6ED2"/>
                </a:solidFill>
              </a:rPr>
              <a:t>M7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60220" y="1691640"/>
            <a:ext cx="2331720" cy="484632"/>
          </a:xfrm>
          <a:prstGeom prst="roundRect">
            <a:avLst/>
          </a:prstGeom>
          <a:solidFill>
            <a:srgbClr val="C6DDFB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7652" y="171907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Input (8)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6796" y="192024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Soil + pile features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25496" y="2176272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60220" y="2359152"/>
            <a:ext cx="2331720" cy="484632"/>
          </a:xfrm>
          <a:prstGeom prst="roundRect">
            <a:avLst/>
          </a:prstGeom>
          <a:solidFill>
            <a:srgbClr val="B1CDF5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7652" y="2386584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Embedding 8-&gt;64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6796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Feature lift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825496" y="2843784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60220" y="3026664"/>
            <a:ext cx="2331720" cy="484632"/>
          </a:xfrm>
          <a:prstGeom prst="roundRect">
            <a:avLst/>
          </a:prstGeom>
          <a:solidFill>
            <a:srgbClr val="9DBEEE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7652" y="3054096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6796" y="3255264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1 initial + 6 prototype slots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825496" y="3511296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60220" y="3694176"/>
            <a:ext cx="2331720" cy="484632"/>
          </a:xfrm>
          <a:prstGeom prst="roundRect">
            <a:avLst/>
          </a:prstGeom>
          <a:solidFill>
            <a:srgbClr val="7CAAE6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7652" y="3721608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MLP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6796" y="3922776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64-&gt;128-&gt;64 (GELU)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825496" y="4178808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60220" y="4361688"/>
            <a:ext cx="2331720" cy="484632"/>
          </a:xfrm>
          <a:prstGeom prst="roundRect">
            <a:avLst/>
          </a:prstGeom>
          <a:solidFill>
            <a:srgbClr val="92B8ED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7652" y="4389120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Fixed Relation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6796" y="4590288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20x6, frozen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825496" y="4846320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760220" y="5029200"/>
            <a:ext cx="2331720" cy="484632"/>
          </a:xfrm>
          <a:prstGeom prst="roundRect">
            <a:avLst/>
          </a:prstGeom>
          <a:solidFill>
            <a:srgbClr val="ABC7F2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87652" y="505663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Output 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96796" y="525780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64-&gt;3 then cumsum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0220" y="5550408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D6ED2"/>
                </a:solidFill>
              </a:rPr>
              <a:t>Total 55,770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1463040"/>
            <a:ext cx="62179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96128" y="1517904"/>
            <a:ext cx="5989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6ED2"/>
                </a:solidFill>
              </a:rPr>
              <a:t>M7 Notes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4416" y="1874520"/>
            <a:ext cx="596188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7222D"/>
                </a:solidFill>
              </a:rPr>
              <a:t>- Strong baseline accuracy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High MLP parameter cost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Relation matrix cannot adapt after initialization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Best in this snapshot by pure R2 but weak compression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M8 Architecture (Drawn)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Efficiency upgrades + learnable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0220" y="13075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37850"/>
                </a:solidFill>
              </a:rPr>
              <a:t>M8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60220" y="1691640"/>
            <a:ext cx="2331720" cy="484632"/>
          </a:xfrm>
          <a:prstGeom prst="roundRect">
            <a:avLst/>
          </a:prstGeom>
          <a:solidFill>
            <a:srgbClr val="FCDED0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7652" y="171907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Input (8)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6796" y="192024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Same data interface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25496" y="2176272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60220" y="2359152"/>
            <a:ext cx="2331720" cy="484632"/>
          </a:xfrm>
          <a:prstGeom prst="roundRect">
            <a:avLst/>
          </a:prstGeom>
          <a:solidFill>
            <a:srgbClr val="F7CCB7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7652" y="2386584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Embedding 8-&gt;64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6796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Same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825496" y="2843784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60220" y="3026664"/>
            <a:ext cx="2331720" cy="484632"/>
          </a:xfrm>
          <a:prstGeom prst="roundRect">
            <a:avLst/>
          </a:prstGeom>
          <a:solidFill>
            <a:srgbClr val="F4BCA3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7652" y="3054096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6796" y="3255264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1 initial + 5 prototypes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825496" y="3511296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60220" y="3694176"/>
            <a:ext cx="2331720" cy="484632"/>
          </a:xfrm>
          <a:prstGeom prst="roundRect">
            <a:avLst/>
          </a:prstGeom>
          <a:solidFill>
            <a:srgbClr val="E78D68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7652" y="3721608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MLP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6796" y="3922776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64-&gt;48-&gt;64 bottleneck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825496" y="4178808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60220" y="4361688"/>
            <a:ext cx="2331720" cy="484632"/>
          </a:xfrm>
          <a:prstGeom prst="roundRect">
            <a:avLst/>
          </a:prstGeom>
          <a:solidFill>
            <a:srgbClr val="F2B094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7652" y="4389120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Learnable 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6796" y="4590288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20x5 logits-&gt;softmax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825496" y="4846320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760220" y="5029200"/>
            <a:ext cx="2331720" cy="484632"/>
          </a:xfrm>
          <a:prstGeom prst="roundRect">
            <a:avLst/>
          </a:prstGeom>
          <a:solidFill>
            <a:srgbClr val="F7C5AF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87652" y="505663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Output + Physics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96796" y="525780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KL/KR down, KLR 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0220" y="5550408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37850"/>
                </a:solidFill>
              </a:rPr>
              <a:t>Total 45,486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1463040"/>
            <a:ext cx="62179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96128" y="1517904"/>
            <a:ext cx="5989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37850"/>
                </a:solidFill>
              </a:rPr>
              <a:t>M8 Upgrades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4416" y="1874520"/>
            <a:ext cx="596188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7222D"/>
                </a:solidFill>
              </a:rPr>
              <a:t>- MLP parameter drop by about 62% versus M7 MLP block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Learnable relation matrix allows end-to-end adaptation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Physics-aware loss improves physical plausibility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Compression jumps to 19.7% vs M6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M9 Architecture (Drawn)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SwiGLU gating replaces plain MLP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0220" y="13075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9D8B"/>
                </a:solidFill>
              </a:rPr>
              <a:t>M9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60220" y="1691640"/>
            <a:ext cx="2331720" cy="484632"/>
          </a:xfrm>
          <a:prstGeom prst="roundRect">
            <a:avLst/>
          </a:prstGeom>
          <a:solidFill>
            <a:srgbClr val="CEF1E9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7652" y="171907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Input (8)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6796" y="192024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Same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25496" y="2176272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60220" y="2359152"/>
            <a:ext cx="2331720" cy="484632"/>
          </a:xfrm>
          <a:prstGeom prst="roundRect">
            <a:avLst/>
          </a:prstGeom>
          <a:solidFill>
            <a:srgbClr val="B7E8DC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7652" y="2386584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Embedding 8-&gt;64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6796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Same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825496" y="2843784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60220" y="3026664"/>
            <a:ext cx="2331720" cy="484632"/>
          </a:xfrm>
          <a:prstGeom prst="roundRect">
            <a:avLst/>
          </a:prstGeom>
          <a:solidFill>
            <a:srgbClr val="A4E0D2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7652" y="3054096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6796" y="3255264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1 initial + 5 prototypes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825496" y="3511296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60220" y="3694176"/>
            <a:ext cx="2331720" cy="484632"/>
          </a:xfrm>
          <a:prstGeom prst="roundRect">
            <a:avLst/>
          </a:prstGeom>
          <a:solidFill>
            <a:srgbClr val="4ABAA5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7652" y="3721608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SwiGLU MLP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6796" y="3922776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gate/value branches, hidden=32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825496" y="4178808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60220" y="4361688"/>
            <a:ext cx="2331720" cy="484632"/>
          </a:xfrm>
          <a:prstGeom prst="roundRect">
            <a:avLst/>
          </a:prstGeom>
          <a:solidFill>
            <a:srgbClr val="87D6C4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7652" y="4389120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Learnable 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6796" y="4590288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20x5 logits-&gt;softmax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825496" y="4846320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760220" y="5029200"/>
            <a:ext cx="2331720" cy="484632"/>
          </a:xfrm>
          <a:prstGeom prst="roundRect">
            <a:avLst/>
          </a:prstGeom>
          <a:solidFill>
            <a:srgbClr val="A8E2D4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87652" y="505663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Output + Physics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96796" y="525780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same constraints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0220" y="5550408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9D8B"/>
                </a:solidFill>
              </a:rPr>
              <a:t>Total 45,502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1463040"/>
            <a:ext cx="62179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96128" y="1517904"/>
            <a:ext cx="5989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9D8B"/>
                </a:solidFill>
              </a:rPr>
              <a:t>M9 Intent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4416" y="1874520"/>
            <a:ext cx="596188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7222D"/>
                </a:solidFill>
              </a:rPr>
              <a:t>- Keep M8 compactness while increasing representational power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SwiGLU gating selects informative channels per slot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Maintains learnable relation matrix and physics constraints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Strong KL and KLR improvements in latest full retrain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Side-by-Side Architecture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Pipeline is shared, key differences highlighted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820" y="13075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D6ED2"/>
                </a:solidFill>
              </a:rPr>
              <a:t>M7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5820" y="1691640"/>
            <a:ext cx="2331720" cy="484632"/>
          </a:xfrm>
          <a:prstGeom prst="roundRect">
            <a:avLst/>
          </a:prstGeom>
          <a:solidFill>
            <a:srgbClr val="7CAAE6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" y="171907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MLP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" y="192024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64-&gt;128-&gt;64</a:t>
            </a:r>
          </a:p>
        </p:txBody>
      </p:sp>
      <p:sp>
        <p:nvSpPr>
          <p:cNvPr id="8" name="Down Arrow 7"/>
          <p:cNvSpPr/>
          <p:nvPr/>
        </p:nvSpPr>
        <p:spPr>
          <a:xfrm>
            <a:off x="1911096" y="2176272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" y="2359152"/>
            <a:ext cx="2331720" cy="484632"/>
          </a:xfrm>
          <a:prstGeom prst="roundRect">
            <a:avLst/>
          </a:prstGeom>
          <a:solidFill>
            <a:srgbClr val="92B8ED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" y="2386584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R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fixed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911096" y="2843784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5820" y="3026664"/>
            <a:ext cx="2331720" cy="484632"/>
          </a:xfrm>
          <a:prstGeom prst="roundRect">
            <a:avLst/>
          </a:prstGeom>
          <a:solidFill>
            <a:srgbClr val="ABC7F2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" y="3054096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k*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" y="3255264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6 prototypes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" y="354787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D6ED2"/>
                </a:solidFill>
              </a:rPr>
              <a:t>R2 0.9897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0620" y="13075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37850"/>
                </a:solidFill>
              </a:rPr>
              <a:t>M8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60620" y="1691640"/>
            <a:ext cx="2331720" cy="484632"/>
          </a:xfrm>
          <a:prstGeom prst="roundRect">
            <a:avLst/>
          </a:prstGeom>
          <a:solidFill>
            <a:srgbClr val="E78D68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8052" y="171907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MLP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7196" y="192024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64-&gt;48-&gt;64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6025896" y="2176272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960620" y="2359152"/>
            <a:ext cx="2331720" cy="484632"/>
          </a:xfrm>
          <a:prstGeom prst="roundRect">
            <a:avLst/>
          </a:prstGeom>
          <a:solidFill>
            <a:srgbClr val="F2B094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8052" y="2386584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R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7196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learnable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6025896" y="2843784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60620" y="3026664"/>
            <a:ext cx="2331720" cy="484632"/>
          </a:xfrm>
          <a:prstGeom prst="roundRect">
            <a:avLst/>
          </a:prstGeom>
          <a:solidFill>
            <a:srgbClr val="F7C5AF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8052" y="3054096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k*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7196" y="3255264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5 prototypes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0620" y="354787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37850"/>
                </a:solidFill>
              </a:rPr>
              <a:t>R2 0.9882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83980" y="13075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9D8B"/>
                </a:solidFill>
              </a:rPr>
              <a:t>M9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3980" y="1691640"/>
            <a:ext cx="2331720" cy="484632"/>
          </a:xfrm>
          <a:prstGeom prst="roundRect">
            <a:avLst/>
          </a:prstGeom>
          <a:solidFill>
            <a:srgbClr val="4ABAA5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1411" y="171907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MLP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0555" y="192024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SwiGLU hidden=32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10049256" y="2176272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83980" y="2359152"/>
            <a:ext cx="2331720" cy="484632"/>
          </a:xfrm>
          <a:prstGeom prst="roundRect">
            <a:avLst/>
          </a:prstGeom>
          <a:solidFill>
            <a:srgbClr val="87D6C4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1411" y="2386584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R matrix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0555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learnable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10049256" y="2843784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983980" y="3026664"/>
            <a:ext cx="2331720" cy="484632"/>
          </a:xfrm>
          <a:prstGeom prst="roundRect">
            <a:avLst/>
          </a:prstGeom>
          <a:solidFill>
            <a:srgbClr val="A8E2D4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11411" y="3054096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k*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20555" y="3255264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5 prototypes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83980" y="354787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9D8B"/>
                </a:solidFill>
              </a:rPr>
              <a:t>R2 0.9891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Learnable Relation Matrix (logits -&gt; softmax)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From fixed mixing to trainable prototype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530352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Definition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R_logits is a trainable tensor with shape (20, k*).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Each row corresponds to one reconstructed drop slot.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/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Conversion to valid weights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R_soft = softmax(R_logits, dim=1)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This ensures each row sums to 1.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/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Reconstruction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drop_slots = R_soft @ prototype_slots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/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Why this matters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Gradients update routing weights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Matrix can adapt to data and loss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Better than frozen heuristic weights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508760"/>
            <a:ext cx="5715000" cy="2148840"/>
          </a:xfrm>
          <a:prstGeom prst="roundRect">
            <a:avLst/>
          </a:prstGeom>
          <a:solidFill>
            <a:srgbClr val="FFF6EC"/>
          </a:solidFill>
          <a:ln w="2540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0488" y="1673352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Visual pipeline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prototype slots (k* vectors) -&gt; R logits -&gt; row softmax -&gt; weighted sum -&gt; 20 drop slots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/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In M7: R is fixed. In M8/M9: R is learned.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3794760"/>
            <a:ext cx="571500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0488" y="3959352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Observed in M9 full retrain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k* = 5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Learned R max-per-row average = 1.000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Sparsity (&lt;0.05 entries): 80/100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/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Interpretation: routing becomes highly selective.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SwiGLU Gated MLP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How M9 increases expressiveness without large parameter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557784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SwiGLU equation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gate = SiLU(W_gate x)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value = W_val x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out = W_out (gate * value)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/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Mechanism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gate branch controls importance per dimension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value branch carries content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element-wise multiplication acts as dynamic filter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/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Result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More expressive than plain GELU MLP at similar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1554480" cy="457200"/>
          </a:xfrm>
          <a:prstGeom prst="roundRect">
            <a:avLst/>
          </a:prstGeom>
          <a:solidFill>
            <a:srgbClr val="CEF1E9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647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7222D"/>
                </a:solidFill>
              </a:rPr>
              <a:t>x (64)</a:t>
            </a:r>
          </a:p>
        </p:txBody>
      </p:sp>
      <p:sp>
        <p:nvSpPr>
          <p:cNvPr id="8" name="Down Arrow 7"/>
          <p:cNvSpPr/>
          <p:nvPr/>
        </p:nvSpPr>
        <p:spPr>
          <a:xfrm>
            <a:off x="7059168" y="2103120"/>
            <a:ext cx="201168" cy="182880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2331720"/>
            <a:ext cx="2148840" cy="530352"/>
          </a:xfrm>
          <a:prstGeom prst="roundRect">
            <a:avLst/>
          </a:prstGeom>
          <a:solidFill>
            <a:srgbClr val="95DECF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4871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7222D"/>
                </a:solidFill>
              </a:rPr>
              <a:t>Gate path: SiLU(W_gate 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331720"/>
            <a:ext cx="2148840" cy="530352"/>
          </a:xfrm>
          <a:prstGeom prst="roundRect">
            <a:avLst/>
          </a:prstGeom>
          <a:solidFill>
            <a:srgbClr val="B5E8DD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24871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7222D"/>
                </a:solidFill>
              </a:rPr>
              <a:t>Value path: W_val x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29600" y="2560320"/>
            <a:ext cx="411480" cy="228600"/>
          </a:xfrm>
          <a:prstGeom prst="rightArrow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35240" y="3154680"/>
            <a:ext cx="1920240" cy="502920"/>
          </a:xfrm>
          <a:prstGeom prst="roundRect">
            <a:avLst/>
          </a:prstGeom>
          <a:solidFill>
            <a:srgbClr val="51BDA9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319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</a:rPr>
              <a:t>Element-wise gate * value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503920" y="3657600"/>
            <a:ext cx="201168" cy="182880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52360" y="3977639"/>
            <a:ext cx="2331720" cy="548640"/>
          </a:xfrm>
          <a:prstGeom prst="roundRect">
            <a:avLst/>
          </a:prstGeom>
          <a:solidFill>
            <a:srgbClr val="8CD6C6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41605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7222D"/>
                </a:solidFill>
              </a:rPr>
              <a:t>W_out -&gt; output (64)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709160"/>
            <a:ext cx="475488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8463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7222D"/>
                </a:solidFill>
              </a:rPr>
              <a:t>Parameter comparison of slot MLP block</a:t>
            </a:r>
          </a:p>
          <a:p>
            <a:pPr algn="l"/>
            <a:r>
              <a:rPr sz="1100">
                <a:solidFill>
                  <a:srgbClr val="17222D"/>
                </a:solidFill>
              </a:rPr>
              <a:t>M7 wide: 16,512</a:t>
            </a:r>
          </a:p>
          <a:p>
            <a:pPr algn="l"/>
            <a:r>
              <a:rPr sz="1100">
                <a:solidFill>
                  <a:srgbClr val="17222D"/>
                </a:solidFill>
              </a:rPr>
              <a:t>M8 bottleneck: 6,256</a:t>
            </a:r>
          </a:p>
          <a:p>
            <a:pPr algn="l"/>
            <a:r>
              <a:rPr sz="1100">
                <a:solidFill>
                  <a:srgbClr val="17222D"/>
                </a:solidFill>
              </a:rPr>
              <a:t>M9 SwiGLU: 6,272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Parameter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Compression vs representation trade-off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00200"/>
          <a:ext cx="576072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46520" y="1600200"/>
          <a:ext cx="5257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/>
                <a:gridCol w="1314450"/>
                <a:gridCol w="1314450"/>
                <a:gridCol w="131445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Compression vs M6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MLP core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M7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55,770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1.5%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Wide MLP 64-&gt;128-&gt;64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M8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45,486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19.7%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Bottleneck MLP 64-&gt;48-&gt;64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M9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45,502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19.7%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SwiGLU gated MLP (hidden=32)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457200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Interpretation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M8/M9 remove about 10.3k parameters versus M7.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M9 keeps M8-size efficiency while adding gating expressiveness.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Accuracy and Error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R2 higher is better, RMSE/MAE lower is better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45920"/>
          <a:ext cx="3749039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343400" y="1645920"/>
          <a:ext cx="3749039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0" y="1645920"/>
          <a:ext cx="3474720" cy="3291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5074920"/>
          <a:ext cx="1124712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R2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Error rate (1-R2)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M7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0.9897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2.160e+10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3.176e+09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0.0103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M8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0.9882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2.306e+10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3.314e+09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0.0118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M9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0.9891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2.219e+10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3.329e+09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0.0109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Per-Variable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KL, KR, KLR detailed 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67437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KL R2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KR R2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KLR R2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KL RMSE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KR RMSE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KLR RMSE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M7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0.9910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0.9807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0.9860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6.106e+07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3.739e+10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1.292e+09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M8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0.9888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0.9780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0.9845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6.811e+07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3.991e+10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1.360e+09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M9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0.9905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0.9796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0.9860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6.259e+07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3.842e+10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1.290e+09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526280"/>
            <a:ext cx="557784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581144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9D8B"/>
                </a:solidFill>
              </a:rPr>
              <a:t>Key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4937760"/>
            <a:ext cx="53218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M9 has the best KL and KLR R2 among M7/M8/M9 in this run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KR remains the hardest target and dominates RMSE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526280"/>
            <a:ext cx="557784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4581144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A55B"/>
                </a:solidFill>
              </a:rPr>
              <a:t>Error-rate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4937760"/>
            <a:ext cx="53218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Absolute R2 differences are small between M7 and M9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M9 advantage is efficiency + architectural scalability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M9 full retraining: Stage A -&gt; Stage B -&gt; Stage 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20440" cy="2011680"/>
          </a:xfrm>
          <a:prstGeom prst="roundRect">
            <a:avLst/>
          </a:prstGeom>
          <a:solidFill>
            <a:srgbClr val="E9F2FF"/>
          </a:solidFill>
          <a:ln w="2540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10512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Stage A: Distillation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Train SwiGLU student from teacher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Early stopped at epoch 1118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Student R2: 0.9885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87952" y="2514600"/>
            <a:ext cx="548640" cy="228600"/>
          </a:xfrm>
          <a:prstGeom prst="rightArrow">
            <a:avLst/>
          </a:prstGeom>
          <a:solidFill>
            <a:srgbClr val="F0A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92040" y="1645920"/>
            <a:ext cx="2560320" cy="2011680"/>
          </a:xfrm>
          <a:prstGeom prst="roundRect">
            <a:avLst/>
          </a:prstGeom>
          <a:solidFill>
            <a:srgbClr val="FFF2E8"/>
          </a:solidFill>
          <a:ln w="2540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810512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22D"/>
                </a:solidFill>
              </a:rPr>
              <a:t>Stage B</a:t>
            </a:r>
          </a:p>
          <a:p>
            <a:pPr algn="ctr"/>
            <a:r>
              <a:rPr sz="1200">
                <a:solidFill>
                  <a:srgbClr val="17222D"/>
                </a:solidFill>
              </a:rPr>
              <a:t>Cluster slots</a:t>
            </a:r>
          </a:p>
          <a:p>
            <a:pPr algn="ctr"/>
            <a:r>
              <a:rPr sz="1200">
                <a:solidFill>
                  <a:srgbClr val="17222D"/>
                </a:solidFill>
              </a:rPr>
              <a:t>k*=5</a:t>
            </a:r>
          </a:p>
          <a:p>
            <a:pPr algn="ctr"/>
            <a:r>
              <a:rPr sz="1200">
                <a:solidFill>
                  <a:srgbClr val="17222D"/>
                </a:solidFill>
              </a:rPr>
              <a:t>Silhouette=0.673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571231" y="2514600"/>
            <a:ext cx="548640" cy="228600"/>
          </a:xfrm>
          <a:prstGeom prst="rightArrow">
            <a:avLst/>
          </a:prstGeom>
          <a:solidFill>
            <a:srgbClr val="F0A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75320" y="1645920"/>
            <a:ext cx="3520440" cy="2011680"/>
          </a:xfrm>
          <a:prstGeom prst="roundRect">
            <a:avLst/>
          </a:prstGeom>
          <a:solidFill>
            <a:srgbClr val="E5F5E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810512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Stage C: Structured M9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Train final Psi model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Early stopped at epoch 572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Final R2: 0.9891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977639"/>
          <a:ext cx="111556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M7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M8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M9 (latest)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A/B/C pipeline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k* discovered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Relation matrix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Fixed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Learnable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Learnable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MLP type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Wide GELU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Bottleneck GELU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SwiGLU gated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M9 Cross-Attention Adapter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Base architecture frozen, only new decoder-style adapter trained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5486400" cy="2148840"/>
          </a:xfrm>
          <a:prstGeom prst="roundRect">
            <a:avLst/>
          </a:prstGeom>
          <a:solidFill>
            <a:srgbClr val="E5F5E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82496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Frozen Base M9 (unchanged)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Input -&gt; Embedding -&gt; Slot Attention -&gt; SwiGLU block -&gt; learnable R -&gt; outputs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All original M9 parameters are frozen during adapter 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08760"/>
            <a:ext cx="5440680" cy="2148840"/>
          </a:xfrm>
          <a:prstGeom prst="roundRect">
            <a:avLst/>
          </a:prstGeom>
          <a:solidFill>
            <a:srgbClr val="FFF6EC"/>
          </a:solidFill>
          <a:ln w="2540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82496"/>
            <a:ext cx="5074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Added Decoder-Style Cross-Attention Adapter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Query: learned decoder queries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Key/Value: frozen M9 slot representations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Fusion: gated residual + LayerNorm, then prediction 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977639"/>
            <a:ext cx="2286000" cy="640080"/>
          </a:xfrm>
          <a:prstGeom prst="roundRect">
            <a:avLst/>
          </a:prstGeom>
          <a:solidFill>
            <a:srgbClr val="CEF1E9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9663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7222D"/>
                </a:solidFill>
              </a:rPr>
              <a:t>Frozen slot states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429000" y="4178808"/>
            <a:ext cx="594360" cy="228600"/>
          </a:xfrm>
          <a:prstGeom prst="right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60520" y="3977639"/>
            <a:ext cx="2834640" cy="640080"/>
          </a:xfrm>
          <a:prstGeom prst="roundRect">
            <a:avLst/>
          </a:prstGeom>
          <a:solidFill>
            <a:srgbClr val="FFEDDC"/>
          </a:solidFill>
          <a:ln w="1905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4169663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7222D"/>
                </a:solidFill>
              </a:rPr>
              <a:t>Cross-attn adapter (trainable)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32320" y="4178808"/>
            <a:ext cx="594360" cy="228600"/>
          </a:xfrm>
          <a:prstGeom prst="rightArrow">
            <a:avLst/>
          </a:prstGeom>
          <a:solidFill>
            <a:srgbClr val="F0A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18120" y="3977639"/>
            <a:ext cx="2788920" cy="640080"/>
          </a:xfrm>
          <a:prstGeom prst="roundRect">
            <a:avLst/>
          </a:prstGeom>
          <a:solidFill>
            <a:srgbClr val="E3F5EF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169663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7222D"/>
                </a:solidFill>
              </a:rPr>
              <a:t>Corrected predictions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4892040"/>
          <a:ext cx="112014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R2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Trainable Params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Base M9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0.9891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2.219e+10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3.329e+09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 (frozen experiment branch)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M9 + Cross-Attn Adapter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0.9881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2.313e+10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3.541e+09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18,241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M9 Robustness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Scenario-level diagnostics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539496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563624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9D8B"/>
                </a:solidFill>
              </a:rPr>
              <a:t>Global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20240"/>
            <a:ext cx="5138928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Avg curve MAPE: 2.372%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Median MAPE: 1.359%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Avg curve R2: 0.98292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P95 MAPE: 6.281%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Test scenarios: 204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08760"/>
            <a:ext cx="548640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563624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C3731"/>
                </a:solidFill>
              </a:rPr>
              <a:t>Worst-case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216" y="1920240"/>
            <a:ext cx="5230368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Worst scenario id: 56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Worst avg MAPE: 34.35%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Worst avg R2: 0.1195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Use uncertainty flag for extreme edge cases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02920" y="4069080"/>
          <a:ext cx="566928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55080" y="4069080"/>
            <a:ext cx="5212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Interpretation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Most scenarios are very accurate.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A small tail of hard scenarios drives peak error.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This pattern is common in compact physics-informed models.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Recommendation and Best-Model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Decision using accuracy, compression, and architecture maturity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00200"/>
          <a:ext cx="7132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M7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M8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M9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Overall R2</a:t>
                      </a:r>
                    </a:p>
                  </a:txBody>
                  <a:tcPr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0.9897</a:t>
                      </a:r>
                    </a:p>
                  </a:txBody>
                  <a:tcPr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0.9882</a:t>
                      </a:r>
                    </a:p>
                  </a:txBody>
                  <a:tcPr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0.9891</a:t>
                      </a:r>
                    </a:p>
                  </a:txBody>
                  <a:tcPr>
                    <a:solidFill>
                      <a:srgbClr val="E9EF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Compression vs M6</a:t>
                      </a:r>
                    </a:p>
                  </a:txBody>
                  <a:tcPr>
                    <a:solidFill>
                      <a:srgbClr val="FB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1.5%</a:t>
                      </a:r>
                    </a:p>
                  </a:txBody>
                  <a:tcPr>
                    <a:solidFill>
                      <a:srgbClr val="FB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19.7%</a:t>
                      </a:r>
                    </a:p>
                  </a:txBody>
                  <a:tcPr>
                    <a:solidFill>
                      <a:srgbClr val="FB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19.7%</a:t>
                      </a:r>
                    </a:p>
                  </a:txBody>
                  <a:tcPr>
                    <a:solidFill>
                      <a:srgbClr val="FBED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Learnable relation matrix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No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Gated MLP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Scalability for future tuning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Medium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High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Highest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63840" y="1600200"/>
            <a:ext cx="3840480" cy="2743200"/>
          </a:xfrm>
          <a:prstGeom prst="roundRect">
            <a:avLst/>
          </a:prstGeom>
          <a:solidFill>
            <a:srgbClr val="2C9D8B"/>
          </a:solidFill>
          <a:ln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783080"/>
            <a:ext cx="34747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Best practical choice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M9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Why: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- near-top accuracy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- major compression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- learnable routing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- SwiGLU expressiveness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- strongest foundation for next tuning 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617720"/>
            <a:ext cx="1120140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4672583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A55B"/>
                </a:solidFill>
              </a:rPr>
              <a:t>Next tuning to beat current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5029200"/>
            <a:ext cx="10945368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Increase Stage C patience and lower LR for finer convergence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Run 3-5 seeds and keep best checkpoint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Augment hard scenarios from the top error 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Closing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B9C4D2"/>
                </a:solidFill>
              </a:rPr>
              <a:t>M9 architecture value in one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CE7F2"/>
                </a:solidFill>
              </a:rPr>
              <a:t>M7 -&gt; M8 -&gt; M9 evolution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/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M7 established the baseline structured Psi-NN.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M8 introduced compactness and learnable relation routing.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M9 adds SwiGLU gated slot MLP on top of that structure.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/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Learnable relation matrix (logits -&gt; softmax)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lets the model learn prototype-to-time-step assignment end-to-end.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/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SwiGLU gated MLP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improves expressive filtering at almost identical parameter budget.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/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Current full-retrain M9: R2=0.9891, params=45,502.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This is a strong compact model and a solid base for final hyperparameter 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