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84FC"/>
                </a:solidFill>
                <a:latin typeface="Segoe UI"/>
              </a:defRPr>
            </a:pPr>
            <a:r>
              <a:t>M9 → M10 : Explainable AI (XAI)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From Black-Box SwiGLU Ψ-NN to Interpretable Stiffness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011680"/>
            <a:ext cx="7589520" cy="2926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21945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Segoe UI"/>
              </a:defRPr>
            </a:pPr>
            <a:r>
              <a:t>Three New XAI Capabilities in M10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743200"/>
            <a:ext cx="6675120" cy="68580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27614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▸  Layer-wise Relevance Propagation (LRP)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30632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Gradient × Input attribution → 8 raw input features × 21 steps × 3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520440"/>
            <a:ext cx="6675120" cy="68580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5387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▸  Attention Rollout — Cross &amp; Self separated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8404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Cross: input→slot information flow  |  Self: slot→slot flow with residual mixing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297680"/>
            <a:ext cx="6675120" cy="68580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43159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▸  Integrated Gradients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6177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Path-based attribution satisfying the completeness axiom f(x)−f(0) = Σⱼ attrⱼ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Same base model weights  •  No retraining required  •  XAI computed on demand per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C3AED"/>
                </a:solidFill>
                <a:latin typeface="Segoe UI"/>
              </a:defRPr>
            </a:pPr>
            <a:r>
              <a:t>Physics-Informed Digital Twin  —  SwiGLU Slot-Attention ΨNN  —  Pile Stiffness Degradation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M9 Baseline Architecture (Unchanged in M10)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SwiGLU Ψ-NN  •  3-Stage Pipeline  •  56,646 → ~30,000 params via distillation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3200400"/>
          </a:xfrm>
          <a:prstGeom prst="roundRect">
            <a:avLst/>
          </a:prstGeom>
          <a:solidFill>
            <a:srgbClr val="2D2D5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Stage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Distillation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M6 Teacher (56,646 params, frozen)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Student mimics teacher +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12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SwiGLU MLP replaces GELU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552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L1 regularisation on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Loss: L_distill + 0.5·L_data + μ·L1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566160" cy="3200400"/>
          </a:xfrm>
          <a:prstGeom prst="roundRect">
            <a:avLst/>
          </a:prstGeom>
          <a:solidFill>
            <a:srgbClr val="2D3D5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Stage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Structure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Extract student slot vectors [20, 64]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KMeans clustering (k=2..10)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712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Silhouette score → k*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552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Compute relation matrix R [20 × k*]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Centroids initialise Ψ-model prototypes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566160" cy="3200400"/>
          </a:xfrm>
          <a:prstGeom prst="roundRect">
            <a:avLst/>
          </a:prstGeom>
          <a:solidFill>
            <a:srgbClr val="2D5A4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Stage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SwiGLU Ψ-Model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k* prototype slots + learnable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drop_slots = softmax(R) × prototypes ×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712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Same attention core as M6/M9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552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Multi-objective: distill + seq + 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• + physics monotonicity + relation entropy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Core Iterative Block (×3 iterations)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20640"/>
            <a:ext cx="265176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Cross-Attention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" y="5440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Q=slots[21,64]</a:t>
            </a:r>
            <a:br/>
            <a:r>
              <a:t>K,V=x_embed[1,64]</a:t>
            </a:r>
            <a:br/>
            <a:r>
              <a:t>4 heads, batch_first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120640"/>
            <a:ext cx="265176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Self-Attention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440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Q,K,V=slots[21,64]</a:t>
            </a:r>
            <a:br/>
            <a:r>
              <a:t>4 heads</a:t>
            </a:r>
            <a:br/>
            <a:r>
              <a:t>slot↔slot mixing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120640"/>
            <a:ext cx="265176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SwiGLU MLP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40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gate = SiLU(W_gate·x)</a:t>
            </a:r>
            <a:br/>
            <a:r>
              <a:t>val = W_val·x</a:t>
            </a:r>
            <a:br/>
            <a:r>
              <a:t>out = W_out(gate⊙val)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5120640"/>
            <a:ext cx="265176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Prediction Heads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440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initial_proj: 64→32→3</a:t>
            </a:r>
            <a:br/>
            <a:r>
              <a:t>drop_proj: 64→32→3</a:t>
            </a:r>
            <a:br/>
            <a:r>
              <a:t>cumsum for curves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M10: What Changed?  (Architecture Diff)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303520" cy="50292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✓  UNCHANGED (M9 → M10)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SlotAttentionPsiModel class — identical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562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SwiGLUSlotMLP(d=64, hidden=32) — same gating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9514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3-stage pipeline: distill → cluster → Ψ-train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340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Multi-head attention: 4 heads, d_model=64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3 refinement iterations per 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Physics constraints: KL↓, KR↓, KLR↑ monotonicity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5079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Relation matrix R with softmax normalisation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970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k*=5 prototype slots from silhouette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2861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Prediction: initial + cumsum(constrained drops)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675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  Model weights: pile_model.pth (no retraining)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914400"/>
            <a:ext cx="5669280" cy="502920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★  NEW in 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xai_engine.py (280 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36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New module — 3 XAI methods +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476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forward_with_attention()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67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Modified forward pass returning attention matrices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7802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Gradient × Input LRP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attribution[3, 21, 8] → 8 raw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083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Integrated Gradients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27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Path integral for exact completeness axiom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387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Cross-Attention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58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Per-iteration [B,21,1] → averaged &amp; normalised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69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Self-Attention Rollout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88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Residual mixing: (1−w)·I + w·A, then multiplicative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99431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Curve-based R² / MAPE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18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Per-scenario per-variable → averaged (not flattened)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29783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/xai dashboard + /api/xai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Full interactive web page with heatmaps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66013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▸  R² consistency 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79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Override comparison &amp; analysis with live-computed values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6126480"/>
            <a:ext cx="2286000" cy="640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6144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MODEL PARAMS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Same ≈30K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6126480"/>
            <a:ext cx="2286000" cy="640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6144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NEW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+280 lines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6126480"/>
            <a:ext cx="2286000" cy="640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6144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RETRAINING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6126480"/>
            <a:ext cx="2286000" cy="640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6144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NEW 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/xai +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XAI Method 1: Layer-wise Relevance Propagation (LRP)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Gradient × Input — propagates relevance back to 8 raw input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Algorithm (compute_gradient_x_input)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For each variable v ∈ {KL, KR, KLR}: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For each step s ∈ {1, ..., 21}: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x_input ← x.clone().requires_grad_(True)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output = model(x_input, seq_len=21)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4261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target = output[0, s, v]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target.backward()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1810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    grad = x_input.grad  →  shape [8]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5584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    attribution[v, s] = grad × x  →  [8]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9359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5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Result: attribution[3, 21, 8]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= 3 variables × 21 steps × 8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486400" cy="128016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Mathematical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Consolas"/>
              </a:defRPr>
            </a:pPr>
            <a:r>
              <a:t>Completeness (1st-order Taylor):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4708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Consolas"/>
              </a:defRPr>
            </a:pPr>
            <a:r>
              <a:t>  f(x) ≈ f(0) + Σⱼ xⱼ · ∂f/∂xⱼ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4825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92240" y="224942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Consolas"/>
              </a:defRPr>
            </a:pPr>
            <a:r>
              <a:t>Attribution for feature j: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5059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ACC15"/>
                </a:solidFill>
                <a:latin typeface="Consolas"/>
              </a:defRPr>
            </a:pPr>
            <a:r>
              <a:t>  Rⱼ  =  xⱼ  ×  ∂ŷ(v,s) / ∂xⱼ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606040"/>
            <a:ext cx="5486400" cy="13258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8 Raw Input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175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PI  —  Plasticity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186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Gmax  —  Max Shear Modulus (Pa)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1985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 ν  —  Poisson's 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2102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Dp  —  Pile Diameter (m)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30175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Tp  —  Pile Wall Thickness (m)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32186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Lp  —  Pile Length (m)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341985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Ip  —  Moment of Inertia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362102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Dp/Lp  —  Slenderness Ratio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14800"/>
            <a:ext cx="11247120" cy="24688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Output: Feature Attribution Heatmap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720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2E8F0"/>
                </a:solidFill>
                <a:latin typeface="Consolas"/>
              </a:defRPr>
            </a:pPr>
            <a:r>
              <a:t>attribution[v, s, f]  =  relevance of feature f at step s for variable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2FF"/>
                </a:solidFill>
                <a:latin typeface="Consolas"/>
              </a:defRPr>
            </a:pPr>
            <a:r>
              <a:t>             S1    S2    S3    ...   S21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257800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  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413248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Gmax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68696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   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24144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  Dp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79592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 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035040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  Lp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190488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   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345936"/>
            <a:ext cx="1371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Consolas"/>
              </a:defRPr>
            </a:pPr>
            <a:r>
              <a:t>   Dp/Lp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Interpretation: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3492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Red cells: feature pushes prediction 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550407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Blue cells: feature pushes prediction DOWN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7515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Intensity ∝ |attribution| (abs relevance)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952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Rows sum → feature importance ranking: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615391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  <a:r>
              <a:t>    imp(f) = Σₛ |attribution[v,s,f]| / total × 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635507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Segoe U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6492240" y="655624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Segoe UI"/>
              </a:defRPr>
            </a:pPr>
            <a:r>
              <a:t>▸ KL variable: Dp/Lp dominates at ~73%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675741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Segoe UI"/>
              </a:defRPr>
            </a:pPr>
            <a:r>
              <a:t>▸ Gmax is 2nd most influential (~14%)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XAI Method 2: Attention Rollout (Cross + Self, Separately)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Traces information flow through the 3-iteration slot attention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577840" cy="32004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Cross-Attention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How much does each slot pull from the input?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For iteration l ∈ {1, 2, 3}: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cross_attn(Q=slots, K=x_embed, V=x_embed)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054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→ weights_l  [B, 21, 1]  (21 queries, 1 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5234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Squeeze → per_iter_l  [B, 21]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Rollout = mean(per_iter_1, per_iter_2, per_iter_3)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Normalise: rollout /= rollout.sum()  → [B, 21]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77240" y="39867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Output: one scalar per slot (0..1)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336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= fraction of input info flowing to that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Slot 1 (initial) vs Slots 2-21 (drops)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34440"/>
            <a:ext cx="5486400" cy="32004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Self-Attention Rollout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How do slots exchange information with each other?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For iteration l ∈ {1, 2, 3}: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585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self_attn(Q=slots, K=slots, V=slots)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054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→ weights_l  [B, 21, 21]  (full slot×slot)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5234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2999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Residual mixing (w = 0.5):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A'_l = (1−w)·I + w·A_l      ← 50% 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930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Re-normalise rows to sum to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398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92240" y="39867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Multiplicative rollout: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336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  R = A'_3 × A'_2 × A'_1      ← matrix multiply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→ [B, 21, 21]  aggregated slot-to-slot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17720"/>
            <a:ext cx="11247120" cy="20116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Why Separate Cross and Self Attention?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0749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Cross-attention answers: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0749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Which input features does each slot care about?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2760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input → slot flow — one source token (the 8-feature embedding), 21 query slots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692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Self-attention answers: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6692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Which degradation steps influence each other?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8704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slot → slot flow — 21×21 attention matrix per iteration, captures temporal dependencies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2636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Combined insight: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2636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Cross = feature sensitivity per slot  +  Self = temporal coupling between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464807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AAAAA"/>
                </a:solidFill>
                <a:latin typeface="Segoe UI"/>
              </a:defRPr>
            </a:pPr>
            <a:r>
              <a:t>Together they explain WHY the model predicts a particular degradation trajectory shape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XAI Method 3: Integrated Gradients (Gold Standard)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Path-based attribution — exact completeness axiom (Sundararajan et al., ICML 2017)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Mathematical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Completeness Axiom: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f(x) − f(baseline) = Σⱼ  attributionⱼ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Attribution for feature j: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946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  IGⱼ = (xⱼ − baseⱼ) × ∫₀¹ ∂f/∂xⱼ(base + α(x−base)) dα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0083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Numerical approximation (M = 30 steps):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onsolas"/>
              </a:defRPr>
            </a:pPr>
            <a:r>
              <a:t>  IGⱼ ≈ (xⱼ − 0) × (1/M) Σₘ ∂f/∂xⱼ(αₘ · 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472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 where αₘ = (m + 0.5) /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Algorithm (compute_integrated_gradients)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baseline = zeros_like(x)  ← zero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9280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92240" y="209397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For each variable v, step 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9514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total_grad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For m = 0..29:  (30 integration steps)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α = (m + 0.5) /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9864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x_interp = α · 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998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output = model(x_interp)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0098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target = output[0, s, v]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021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target.backward()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033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total_grad += x_interp.grad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04487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0FF88"/>
                </a:solidFill>
                <a:latin typeface="Consolas"/>
              </a:defRPr>
            </a:pPr>
            <a:r>
              <a:t>  attr[v,s] = x × total_grad / 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11247120" cy="2926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3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Comparison: Gradient×Input vs Integrated Gradients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Property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114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Gradient × Input (Method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114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Integrated Gradients (Method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Segoe UI"/>
              </a:defRPr>
            </a:pPr>
            <a:r>
              <a:t>Completeness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≈ 1st order Taylor approx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Exact  (sum = f(x) − f(0))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091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7091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~50 ms per scenario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47091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~2 s per scenario (30× slower)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834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Segoe UI"/>
              </a:defRPr>
            </a:pPr>
            <a:r>
              <a:t>Gradient calls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98347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3 × 21 = 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98347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3 × 21 × 30 = 1,890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Sensitivity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257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High (local gradient)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257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High (path-averaged)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532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Segoe UI"/>
              </a:defRPr>
            </a:pPr>
            <a:r>
              <a:t>Saturation robust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532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No (can miss saturated features)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532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Yes (integrates full path)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80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806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compute_gradient_x_input()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5806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compute_integrated_gradients()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0807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Segoe UI"/>
              </a:defRPr>
            </a:pPr>
            <a:r>
              <a:t>Default usage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60807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✓ Used in /api/xai (fast)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60807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Available via method='ig'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M10 XAI Data Flow: From Input to Explanation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645920" cy="1097280"/>
          </a:xfrm>
          <a:prstGeom prst="roundRect">
            <a:avLst/>
          </a:prstGeom>
          <a:solidFill>
            <a:srgbClr val="28285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331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x ∈ ℝ⁸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286000"/>
            <a:ext cx="1828800" cy="109728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331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Input 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56032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Linear(8→64)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74320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LayerNorm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26079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GELU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371600"/>
            <a:ext cx="2286000" cy="91440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Cross-Attn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Q=slots K,V=embed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→ weights [21,1]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468880"/>
            <a:ext cx="2286000" cy="91440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Self-Attn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432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Q,K,V = 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260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→ weights [21,21]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566160"/>
            <a:ext cx="2286000" cy="91440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611879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SwiGLU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404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SiLU(W_g·x)⊙W_v·x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233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→ residual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286000"/>
            <a:ext cx="1828800" cy="109728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6032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initial + cumsum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74320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→ [21, 3]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286000"/>
            <a:ext cx="2103120" cy="1097280"/>
          </a:xfrm>
          <a:prstGeom prst="roundRect">
            <a:avLst/>
          </a:prstGeom>
          <a:solidFill>
            <a:srgbClr val="28285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331720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560320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KL, KR, KLR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743200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Segoe UI"/>
              </a:defRPr>
            </a:pPr>
            <a:r>
              <a:t>21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  <a:latin typeface="Segoe UI"/>
              </a:defRPr>
            </a:pPr>
            <a:r>
              <a:t>× 3 iterations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1A103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XAI Extraction Layer (M10 NEW)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12080"/>
            <a:ext cx="201168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578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Cross-Attn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Segoe UI"/>
              </a:defRPr>
            </a:pPr>
            <a:r>
              <a:t>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1500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avg 3 iters → [21]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978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normalise sum=1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5212080"/>
            <a:ext cx="201168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39" y="52578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500"/>
                </a:solidFill>
                <a:latin typeface="Segoe UI"/>
              </a:defRPr>
            </a:pPr>
            <a:r>
              <a:t>Self-Attn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39" y="5440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A500"/>
                </a:solidFill>
                <a:latin typeface="Segoe UI"/>
              </a:defRPr>
            </a:pPr>
            <a:r>
              <a:t>Rollout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39" y="571500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(1−w)I + wA per iter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39" y="58978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multiply → [21×21]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5212080"/>
            <a:ext cx="201168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52578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F88"/>
                </a:solidFill>
                <a:latin typeface="Segoe UI"/>
              </a:defRPr>
            </a:pPr>
            <a:r>
              <a:t>Gradient × 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5440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FF88"/>
                </a:solidFill>
                <a:latin typeface="Segoe UI"/>
              </a:defRPr>
            </a:pPr>
            <a:r>
              <a:t>(LRP)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571500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∂ŷ/∂x × 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58978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→ [3, 21, 8]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5212080"/>
            <a:ext cx="201168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52578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ACC15"/>
                </a:solidFill>
                <a:latin typeface="Segoe UI"/>
              </a:defRPr>
            </a:pPr>
            <a:r>
              <a:t>Integrated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5440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ACC15"/>
                </a:solidFill>
                <a:latin typeface="Segoe UI"/>
              </a:defRPr>
            </a:pPr>
            <a:r>
              <a:t>Gradients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571500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∫₀¹ ∂f/∂x dα × 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58978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→ [3, 21, 8]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5212080"/>
            <a:ext cx="2011680" cy="1188720"/>
          </a:xfrm>
          <a:prstGeom prst="roundRect">
            <a:avLst/>
          </a:prstGeom>
          <a:solidFill>
            <a:srgbClr val="1E1F42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52578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84FC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5440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84FC"/>
                </a:solidFill>
                <a:latin typeface="Segoe UI"/>
              </a:defRPr>
            </a:pPr>
            <a:r>
              <a:t>Importance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571500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Σₛ|attr[v,s,f]|/total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58978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AAAAAA"/>
                </a:solidFill>
                <a:latin typeface="Consolas"/>
              </a:defRPr>
            </a:pPr>
            <a:r>
              <a:t>→ % per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Segoe UI"/>
              </a:defRPr>
            </a:pPr>
            <a:r>
              <a:t>M10 Fix: Curve-Based Error Metrics (R² Consistency)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303520" cy="2926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757"/>
                </a:solidFill>
                <a:latin typeface="Segoe UI"/>
              </a:defRPr>
            </a:pPr>
            <a:r>
              <a:t>✗  M9 Problem: R² Discrepancy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757"/>
                </a:solidFill>
                <a:latin typeface="Consolas"/>
              </a:defRPr>
            </a:pPr>
            <a:r>
              <a:t>Main page banner: R² = 0.9847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5506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757"/>
                </a:solidFill>
                <a:latin typeface="Consolas"/>
              </a:defRPr>
            </a:pPr>
            <a:r>
              <a:t>Diagnosis page:   R² = 0.9829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9280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Difference: 0.0018 (not just rounding!)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77240" y="236829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Root causes: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1. JS re-averaged already-rounded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4378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→ scenarios.reduce(avg_r2) → double 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2. Different data sources: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927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Main: computed at runtime from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5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Diag: read from scenario_analysis.json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onsolas"/>
              </a:defRPr>
            </a:pPr>
            <a:r>
              <a:t>    (pre-computed, possibly stale)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914400"/>
            <a:ext cx="5669280" cy="2926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✓  M10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417320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All errors computed on cumulative curves: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27632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355080" y="1837944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For each scenario i, variable v: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48256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R²(i,v) = 1 − SS_res/SS_tot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MAPE(i,v) = mean(|t−p|/|t|) ×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2679192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FF88"/>
                </a:solidFill>
                <a:latin typeface="Consolas"/>
              </a:defRPr>
            </a:pPr>
            <a:r>
              <a:t>  Curve R² = mean over all (i, 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89504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355080" y="3099816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0FF88"/>
                </a:solidFill>
                <a:latin typeface="Consolas"/>
              </a:defRPr>
            </a:pPr>
            <a:r>
              <a:t>  Single source of truth (Python-computed):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10128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metrics_cache['overall']['curve_r2']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0440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55080" y="3730752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Overrides applied at load time: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941064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comparison_data → uses curve R²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51376"/>
            <a:ext cx="5212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  scenario_analysis → uses curve R²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23360"/>
            <a:ext cx="11247120" cy="9144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757"/>
                </a:solidFill>
                <a:latin typeface="Segoe UI"/>
              </a:defRPr>
            </a:pPr>
            <a:r>
              <a:t>Before (M9):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757"/>
                </a:solidFill>
                <a:latin typeface="Consolas"/>
              </a:defRPr>
            </a:pPr>
            <a:r>
              <a:t>Main R²=0.9847 ≠ Diagnosis R²=0.9829  (two different computations)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After (M10):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  <a:latin typeface="Consolas"/>
              </a:defRPr>
            </a:pPr>
            <a:r>
              <a:t>Main R²=0.9847 = Diagnosis R²=0.9847  (same Python value, overridden)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20640"/>
            <a:ext cx="11247120" cy="15544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2120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M10 Metric Definitions (Standardised)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778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Curve MAPE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57784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Segoe UI"/>
              </a:defRPr>
            </a:pPr>
            <a:r>
              <a:t>Mean Abs % Error computed on the 21-step KL/KR/KLR curves, per scenario, then averaged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253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Curve R²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925312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Segoe UI"/>
              </a:defRPr>
            </a:pPr>
            <a:r>
              <a:t>Per-scenario per-variable R², then averaged across all scenarios and variables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272783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Curve NRMSE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6272783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Segoe UI"/>
              </a:defRPr>
            </a:pPr>
            <a:r>
              <a:t>RMSE / range(target) × 100%, per variable per scenario, then averaged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M10 Interactive XAI Dashboard (/xai)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Full interactive web page — per-scenario explainability computed on demand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301752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Feature Attribution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8 features × 21 steps colour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Red = positive, Blue = negative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Tab-switchable: KL / KR / KLR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79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Feature importance bar chart (sorted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Hover tooltip: exact attribution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566160" cy="301752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Cross-Attention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3 bar charts (one per iteration)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8483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Rollout chart (averaged + normalised)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32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Shows input→slot information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79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21 bars = one per degradation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27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Height ∝ how much slot queries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566160" cy="301752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Self-Attention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3 iteration heatmaps (21 × 21 each)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8483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Rollout heatmap (multiplicative)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32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50% residual mixing per iteration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79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Row = query, Column =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27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▸ Purple intensity ∝ attention weight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11247120" cy="13716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API Endpoint: /api/xai/&lt;scenario_idx&gt;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Request: GET /api/xai/0  (scenario index 0-203)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0176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Computation: XAIAnalyzer(model, feature_names).analyze(x_scaled[idx])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0293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ACC15"/>
                </a:solidFill>
                <a:latin typeface="Consolas"/>
              </a:defRPr>
            </a:pPr>
            <a:r>
              <a:t>Response JSON keys: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0410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cross_attention_rollout: [21]  •  cross_attention_per_iter: [3][21]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0527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self_attention_rollout: [21][21]  •  self_attention_per_iter: [3][21][21]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lrp_attribution: {KL: [21][8], KR: [21][8], KLR: [21][8]}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0760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E2E8F0"/>
                </a:solidFill>
                <a:latin typeface="Consolas"/>
              </a:defRPr>
            </a:pPr>
            <a:r>
              <a:t>  feature_importance: {KL: [8], KR: [8], KLR: [8], combined: [8]}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Tech stack: Flask + Chart.js 4.4.7  •  CSS Grid heatmaps (no Canvas for perf)  •  Zero new dependencies  •  ~50ms per gradient call  •  200ms total XAI (incl. 3×21 backward passes)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M10 File Structure &amp;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486400" cy="45720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M10/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xai_engine.py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173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0FF88"/>
                </a:solidFill>
                <a:latin typeface="Segoe UI"/>
              </a:defRPr>
            </a:pPr>
            <a:r>
              <a:t>[NEW]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280 lines — 3 XAI methods + XAIAnalyzer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01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A500"/>
                </a:solidFill>
                <a:latin typeface="Segoe UI"/>
              </a:defRPr>
            </a:pPr>
            <a:r>
              <a:t>[MODIFIED]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Curve-based metrics added, M10 headers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854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webapp.py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8541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A500"/>
                </a:solidFill>
                <a:latin typeface="Segoe UI"/>
              </a:defRPr>
            </a:pPr>
            <a:r>
              <a:t>[MODIFIED]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85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XAI dashboard, R² fix, /xai route, /api/xai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94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run_app.bat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694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A500"/>
                </a:solidFill>
                <a:latin typeface="Segoe UI"/>
              </a:defRPr>
            </a:pPr>
            <a:r>
              <a:t>[MODIFIED]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69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Updated banner + XAI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535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pile_model.pth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535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AAAAAA"/>
                </a:solidFill>
                <a:latin typeface="Segoe UI"/>
              </a:defRPr>
            </a:pPr>
            <a:r>
              <a:t>[UNCHANGED]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53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SwiGLU Ψ-model weights (from M9 training)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37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psi_config.pkl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3375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AAAAAA"/>
                </a:solidFill>
                <a:latin typeface="Segoe UI"/>
              </a:defRPr>
            </a:pPr>
            <a:r>
              <a:t>[UNCHANGED]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k*, relation matrix, scalers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216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psi_discovery.json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7216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AAAAAA"/>
                </a:solidFill>
                <a:latin typeface="Segoe UI"/>
              </a:defRPr>
            </a:pPr>
            <a:r>
              <a:t>[UNCHANGED]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Clustering results, silhouettes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056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comparison.json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1056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A500"/>
                </a:solidFill>
                <a:latin typeface="Segoe UI"/>
              </a:defRPr>
            </a:pPr>
            <a:r>
              <a:t>[MODIFIED]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105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R² now uses curve-based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897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scenario_analysis.json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AAAAAA"/>
                </a:solidFill>
                <a:latin typeface="Segoe UI"/>
              </a:defRPr>
            </a:pPr>
            <a:r>
              <a:t>[UNCHANGED]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4897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Pre-computed (overridden at runtime)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737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analyze_scenarios.py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8737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AAAAAA"/>
                </a:solidFill>
                <a:latin typeface="Segoe UI"/>
              </a:defRPr>
            </a:pPr>
            <a:r>
              <a:t>[UNCHANGED]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873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Segoe UI"/>
              </a:defRPr>
            </a:pPr>
            <a:r>
              <a:t>GBR feature importance (M9)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914400"/>
            <a:ext cx="5486400" cy="45720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005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M9 vs M10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4173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Base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SwiGLU Ψ-NN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1417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SwiGLU Ψ-NN (same)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7465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7465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~30,000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17465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~30,000 (unchanged)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0756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0756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3-stage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0756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No retraining needed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404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XAI 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4048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None (black-box)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24048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LRP + Attn Rollout + IG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3405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Feature Attrib.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7340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GBR only (external)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27340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Gradient-based (internal)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063239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Attn. Visibility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06323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306323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Cross + Self separately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39242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3924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Main + Diagnosis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3924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Main + Diagnosis + XAI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7216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R² Metric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7216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Flattened (inconsistent)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37216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Curve-based (consistent)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405079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R² Source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05079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JS recomputed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05079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Python single source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43799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43799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/ , /diagnosis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3799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/ , /diagnosis , /xai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4709159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New Code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70915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470915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+280 lines (xai_engine)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50383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Dependencies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0383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torch, flask, sklearn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50383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Same (zero new deps)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1234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757"/>
                </a:solidFill>
                <a:latin typeface="Segoe UI"/>
              </a:defRPr>
            </a:pPr>
            <a:r>
              <a:t>M9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0" y="1234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FF88"/>
                </a:solidFill>
                <a:latin typeface="Segoe UI"/>
              </a:defRPr>
            </a:pPr>
            <a:r>
              <a:t>M10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A1B3A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5760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Key takeaway: M10 adds a complete Explainable AI layer to the existing M9 model without modifying model weights, without retraining, and without adding any external dependencies. The XAI engine runs on-demand per scenario, providing per-input-feature attribution across all 21 degradation steps and 3 stiffness variables.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