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4059936" cy="73152"/>
          </a:xfrm>
          <a:prstGeom prst="round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59936" y="0"/>
            <a:ext cx="4059936" cy="73152"/>
          </a:xfrm>
          <a:prstGeom prst="round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19872" y="0"/>
            <a:ext cx="4069080" cy="73152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Presentation du Stage de Recherche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00D2FF"/>
                </a:solidFill>
                <a:latin typeface="Calibri"/>
              </a:defRPr>
            </a:pPr>
            <a:r>
              <a:rPr lang="en-US" dirty="0"/>
              <a:t>PINNs </a:t>
            </a:r>
            <a:r>
              <a:rPr dirty="0"/>
              <a:t>pour la Prediction de la Degradation de Rigidite</a:t>
            </a:r>
            <a:br>
              <a:rPr dirty="0"/>
            </a:br>
            <a:r>
              <a:rPr dirty="0"/>
              <a:t>des </a:t>
            </a:r>
            <a:r>
              <a:rPr dirty="0" err="1"/>
              <a:t>Fondations</a:t>
            </a:r>
            <a:r>
              <a:rPr dirty="0"/>
              <a:t> sur </a:t>
            </a:r>
            <a:r>
              <a:rPr dirty="0" err="1"/>
              <a:t>Pieux</a:t>
            </a:r>
            <a:r>
              <a:rPr dirty="0"/>
              <a:t> des Eoliennes Offshore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AA33"/>
                </a:solidFill>
                <a:latin typeface="Calibri"/>
              </a:defRPr>
            </a:pPr>
            <a:r>
              <a:rPr dirty="0"/>
              <a:t>Stage a Shenzhen University (</a:t>
            </a:r>
            <a:r>
              <a:rPr dirty="0" err="1"/>
              <a:t>深圳大学</a:t>
            </a:r>
            <a:r>
              <a:rPr dirty="0"/>
              <a:t>), Shenzhen, Chine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572000"/>
            <a:ext cx="6675120" cy="576957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46634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Youssef KHALLOUQI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675120"/>
            <a:ext cx="12191695" cy="54864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868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280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Universite d'accueil &amp; Acceptation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40"/>
            <a:ext cx="5486400" cy="868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8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78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31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Programme doctoral &amp; Cadre de collaboration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5486400" cy="868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337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832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Sujet de recherche : Enjeux et importance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51960"/>
            <a:ext cx="5486400" cy="868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389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A33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434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Probleme d'ingenierie : Degradation des pieux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03520"/>
            <a:ext cx="5486400" cy="868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5440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486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Approche IA : Jumeau Numerique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097280"/>
            <a:ext cx="5486400" cy="868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1280160"/>
            <a:ext cx="4389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dirty="0"/>
              <a:t>Architecture &amp; Evolution du </a:t>
            </a:r>
            <a:r>
              <a:rPr dirty="0" err="1"/>
              <a:t>modele</a:t>
            </a:r>
            <a:r>
              <a:rPr dirty="0"/>
              <a:t> (M</a:t>
            </a:r>
            <a:r>
              <a:rPr lang="en-US" dirty="0"/>
              <a:t>1</a:t>
            </a:r>
            <a:r>
              <a:rPr dirty="0"/>
              <a:t> a M9)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148840"/>
            <a:ext cx="5486400" cy="868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2331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dirty="0"/>
              <a:t>Innovation </a:t>
            </a:r>
            <a:r>
              <a:rPr dirty="0" err="1"/>
              <a:t>cle</a:t>
            </a:r>
            <a:r>
              <a:rPr dirty="0"/>
              <a:t> : Pipeline </a:t>
            </a:r>
            <a:r>
              <a:rPr dirty="0" err="1"/>
              <a:t>SwiGLU</a:t>
            </a:r>
            <a:r>
              <a:rPr dirty="0"/>
              <a:t> Psi-NN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200400"/>
            <a:ext cx="5486400" cy="868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3337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A33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3832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Resultats, Validation &amp; Application web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251960"/>
            <a:ext cx="5486400" cy="868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8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4389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78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434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Contributions scientifiques &amp; Chronologie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5303520"/>
            <a:ext cx="5486400" cy="868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5440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5486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Conclusion &amp; Prochaines etapes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2/22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Universite d'accueil -- Shenzhen University (深圳大学)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2120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A propos de Shenzhen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</a:t>
            </a:r>
            <a:r>
              <a:rPr dirty="0" err="1"/>
              <a:t>Fondee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1983 a Shenzhen, province du Guangdong, Chine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Shenzhen : </a:t>
            </a:r>
            <a:r>
              <a:rPr dirty="0" err="1"/>
              <a:t>capitale</a:t>
            </a:r>
            <a:r>
              <a:rPr dirty="0"/>
              <a:t> </a:t>
            </a:r>
            <a:r>
              <a:rPr dirty="0" err="1"/>
              <a:t>technologique</a:t>
            </a:r>
            <a:r>
              <a:rPr dirty="0"/>
              <a:t> de la Chine (siege de Huawei,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Tencent, BYD, DJI, ZTE...)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Universite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croissance</a:t>
            </a:r>
            <a:r>
              <a:rPr dirty="0"/>
              <a:t> </a:t>
            </a:r>
            <a:r>
              <a:rPr dirty="0" err="1"/>
              <a:t>rapide</a:t>
            </a:r>
            <a:r>
              <a:rPr dirty="0"/>
              <a:t>, </a:t>
            </a:r>
            <a:r>
              <a:rPr dirty="0" err="1"/>
              <a:t>classee</a:t>
            </a:r>
            <a:r>
              <a:rPr dirty="0"/>
              <a:t> </a:t>
            </a:r>
            <a:r>
              <a:rPr dirty="0" err="1"/>
              <a:t>parmi</a:t>
            </a:r>
            <a:r>
              <a:rPr dirty="0"/>
              <a:t> les </a:t>
            </a:r>
            <a:r>
              <a:rPr dirty="0" err="1"/>
              <a:t>meilleures</a:t>
            </a:r>
            <a:endParaRPr dirty="0"/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universites</a:t>
            </a:r>
            <a:r>
              <a:rPr dirty="0"/>
              <a:t> chinoises (Double First-Class discipline list)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Plus de 40 000 </a:t>
            </a:r>
            <a:r>
              <a:rPr dirty="0" err="1"/>
              <a:t>etudiants</a:t>
            </a:r>
            <a:r>
              <a:rPr dirty="0"/>
              <a:t>, 2 800+ </a:t>
            </a:r>
            <a:r>
              <a:rPr dirty="0" err="1"/>
              <a:t>enseignants-chercheurs</a:t>
            </a:r>
            <a:endParaRPr dirty="0"/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Points forts : </a:t>
            </a:r>
            <a:r>
              <a:rPr dirty="0" err="1"/>
              <a:t>Ingenierie</a:t>
            </a:r>
            <a:r>
              <a:rPr dirty="0"/>
              <a:t>, Informatique, Science des </a:t>
            </a:r>
            <a:r>
              <a:rPr dirty="0" err="1"/>
              <a:t>materiaux</a:t>
            </a:r>
            <a:endParaRPr dirty="0"/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Forte orientation vers </a:t>
            </a:r>
            <a:r>
              <a:rPr dirty="0" err="1"/>
              <a:t>l'innovation</a:t>
            </a:r>
            <a:r>
              <a:rPr dirty="0"/>
              <a:t> et </a:t>
            </a:r>
            <a:r>
              <a:rPr dirty="0" err="1"/>
              <a:t>l'industrie</a:t>
            </a:r>
            <a:endParaRPr dirty="0"/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Collaborations </a:t>
            </a:r>
            <a:r>
              <a:rPr dirty="0" err="1"/>
              <a:t>internationales</a:t>
            </a:r>
            <a:r>
              <a:rPr dirty="0"/>
              <a:t> avec plus de 200 </a:t>
            </a:r>
            <a:r>
              <a:rPr dirty="0" err="1"/>
              <a:t>universites</a:t>
            </a:r>
            <a:endParaRPr dirty="0"/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Environnement ideal : Shenzhen est un hub </a:t>
            </a:r>
            <a:r>
              <a:rPr dirty="0" err="1"/>
              <a:t>technologique</a:t>
            </a:r>
            <a:r>
              <a:rPr dirty="0"/>
              <a:t> </a:t>
            </a:r>
            <a:r>
              <a:rPr dirty="0" err="1"/>
              <a:t>mondial</a:t>
            </a:r>
            <a:endParaRPr dirty="0"/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avec un </a:t>
            </a:r>
            <a:r>
              <a:rPr dirty="0" err="1"/>
              <a:t>ecosysteme</a:t>
            </a:r>
            <a:r>
              <a:rPr dirty="0"/>
              <a:t> de recherche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dynamique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486400" cy="52120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Calibri"/>
              </a:defRPr>
            </a:pPr>
            <a:r>
              <a:t>Laboratoire de recherche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93776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</a:t>
            </a:r>
            <a:r>
              <a:rPr dirty="0" err="1"/>
              <a:t>Departement</a:t>
            </a:r>
            <a:r>
              <a:rPr dirty="0"/>
              <a:t> : Genie Civil / Architecture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Axes de recherche 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-- </a:t>
            </a:r>
            <a:r>
              <a:rPr dirty="0" err="1"/>
              <a:t>Fondations</a:t>
            </a:r>
            <a:r>
              <a:rPr dirty="0"/>
              <a:t> </a:t>
            </a:r>
            <a:r>
              <a:rPr dirty="0" err="1"/>
              <a:t>d'eoliennes</a:t>
            </a:r>
            <a:r>
              <a:rPr dirty="0"/>
              <a:t> offshore (OWT)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-- Interaction sol-structure sous </a:t>
            </a:r>
            <a:r>
              <a:rPr dirty="0" err="1"/>
              <a:t>chargement</a:t>
            </a:r>
            <a:r>
              <a:rPr dirty="0"/>
              <a:t> </a:t>
            </a:r>
            <a:r>
              <a:rPr dirty="0" err="1"/>
              <a:t>cyclique</a:t>
            </a:r>
            <a:endParaRPr dirty="0"/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-- IA / Machine Learning pour le </a:t>
            </a:r>
            <a:r>
              <a:rPr dirty="0" err="1"/>
              <a:t>suivi</a:t>
            </a:r>
            <a:r>
              <a:rPr dirty="0"/>
              <a:t> </a:t>
            </a:r>
            <a:r>
              <a:rPr dirty="0" err="1"/>
              <a:t>structurel</a:t>
            </a:r>
            <a:endParaRPr dirty="0"/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-- Reseaux de </a:t>
            </a:r>
            <a:r>
              <a:rPr dirty="0" err="1"/>
              <a:t>neurones</a:t>
            </a:r>
            <a:r>
              <a:rPr dirty="0"/>
              <a:t> </a:t>
            </a:r>
            <a:r>
              <a:rPr dirty="0" err="1"/>
              <a:t>informes</a:t>
            </a:r>
            <a:r>
              <a:rPr dirty="0"/>
              <a:t> par la physique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-- Technologie de Jumeau </a:t>
            </a:r>
            <a:r>
              <a:rPr dirty="0" err="1"/>
              <a:t>Numerique</a:t>
            </a:r>
            <a:r>
              <a:rPr dirty="0"/>
              <a:t> (Digital Twin)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</a:t>
            </a:r>
            <a:r>
              <a:rPr dirty="0" err="1"/>
              <a:t>Equipements</a:t>
            </a:r>
            <a:r>
              <a:rPr dirty="0"/>
              <a:t> 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-- </a:t>
            </a:r>
            <a:r>
              <a:rPr dirty="0" err="1"/>
              <a:t>Laboratoire</a:t>
            </a:r>
            <a:r>
              <a:rPr dirty="0"/>
              <a:t> de tests </a:t>
            </a:r>
            <a:r>
              <a:rPr dirty="0" err="1"/>
              <a:t>geotechniques</a:t>
            </a:r>
            <a:endParaRPr dirty="0"/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-- Cluster de </a:t>
            </a:r>
            <a:r>
              <a:rPr dirty="0" err="1"/>
              <a:t>calcul</a:t>
            </a:r>
            <a:r>
              <a:rPr dirty="0"/>
              <a:t> haute performance pour </a:t>
            </a:r>
            <a:r>
              <a:rPr dirty="0" err="1"/>
              <a:t>l'IA</a:t>
            </a:r>
            <a:endParaRPr dirty="0"/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3/22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AA33"/>
                </a:solidFill>
                <a:latin typeface="Calibri"/>
              </a:defRPr>
            </a:pPr>
            <a:r>
              <a:t>Lettre d'acceptation (邀请函) &amp; Admission doctorale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2120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A33"/>
                </a:solidFill>
                <a:latin typeface="Calibri"/>
              </a:defRPr>
            </a:pPr>
            <a:r>
              <a:t>Lettre d'invitation / Acceptation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937760" cy="2636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</a:t>
            </a:r>
            <a:r>
              <a:rPr dirty="0" err="1"/>
              <a:t>Lettre</a:t>
            </a:r>
            <a:r>
              <a:rPr dirty="0"/>
              <a:t> </a:t>
            </a:r>
            <a:r>
              <a:rPr dirty="0" err="1"/>
              <a:t>officielle</a:t>
            </a:r>
            <a:r>
              <a:rPr dirty="0"/>
              <a:t> </a:t>
            </a:r>
            <a:r>
              <a:rPr dirty="0" err="1"/>
              <a:t>d'invitation</a:t>
            </a:r>
            <a:r>
              <a:rPr dirty="0"/>
              <a:t> (</a:t>
            </a:r>
            <a:r>
              <a:rPr dirty="0" err="1"/>
              <a:t>邀请函</a:t>
            </a:r>
            <a:r>
              <a:rPr dirty="0"/>
              <a:t>) recue de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Shenzhen University, </a:t>
            </a:r>
            <a:r>
              <a:rPr dirty="0" err="1"/>
              <a:t>Departement</a:t>
            </a:r>
            <a:r>
              <a:rPr dirty="0"/>
              <a:t> de Genie Civil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La </a:t>
            </a:r>
            <a:r>
              <a:rPr dirty="0" err="1"/>
              <a:t>lettre</a:t>
            </a:r>
            <a:r>
              <a:rPr dirty="0"/>
              <a:t> </a:t>
            </a:r>
            <a:r>
              <a:rPr dirty="0" err="1"/>
              <a:t>confirme</a:t>
            </a:r>
            <a:r>
              <a:rPr dirty="0"/>
              <a:t> 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Acceptation </a:t>
            </a:r>
            <a:r>
              <a:rPr dirty="0" err="1"/>
              <a:t>en</a:t>
            </a:r>
            <a:r>
              <a:rPr dirty="0"/>
              <a:t> tant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chercheur</a:t>
            </a:r>
            <a:r>
              <a:rPr dirty="0"/>
              <a:t> </a:t>
            </a:r>
            <a:r>
              <a:rPr dirty="0" err="1"/>
              <a:t>visiteur</a:t>
            </a:r>
            <a:r>
              <a:rPr lang="fr-MA" dirty="0"/>
              <a:t> / doctorant</a:t>
            </a:r>
            <a:endParaRPr dirty="0"/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Acces</a:t>
            </a:r>
            <a:r>
              <a:rPr dirty="0"/>
              <a:t> aux installations et </a:t>
            </a:r>
            <a:r>
              <a:rPr dirty="0" err="1"/>
              <a:t>ressources</a:t>
            </a:r>
            <a:r>
              <a:rPr dirty="0"/>
              <a:t> </a:t>
            </a:r>
            <a:r>
              <a:rPr dirty="0" err="1"/>
              <a:t>informatiques</a:t>
            </a:r>
            <a:endParaRPr dirty="0"/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Encadrement</a:t>
            </a:r>
            <a:r>
              <a:rPr dirty="0"/>
              <a:t> par le </a:t>
            </a:r>
            <a:r>
              <a:rPr dirty="0" err="1"/>
              <a:t>groupe</a:t>
            </a:r>
            <a:r>
              <a:rPr dirty="0"/>
              <a:t> de recherche offshore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</a:t>
            </a:r>
            <a:r>
              <a:rPr dirty="0" err="1"/>
              <a:t>Sujet</a:t>
            </a:r>
            <a:r>
              <a:rPr dirty="0"/>
              <a:t> : Prediction par IA de la degradation de </a:t>
            </a:r>
            <a:r>
              <a:rPr dirty="0" err="1"/>
              <a:t>rigidite</a:t>
            </a:r>
            <a:endParaRPr dirty="0"/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     des </a:t>
            </a:r>
            <a:r>
              <a:rPr dirty="0" err="1"/>
              <a:t>fondations</a:t>
            </a:r>
            <a:r>
              <a:rPr dirty="0"/>
              <a:t> sur </a:t>
            </a:r>
            <a:r>
              <a:rPr dirty="0" err="1"/>
              <a:t>pieux</a:t>
            </a:r>
            <a:r>
              <a:rPr dirty="0"/>
              <a:t> sous conditions de typhon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Duree : </a:t>
            </a:r>
            <a:r>
              <a:rPr lang="en-US" dirty="0"/>
              <a:t>6 </a:t>
            </a:r>
            <a:r>
              <a:rPr lang="en-US" dirty="0" err="1"/>
              <a:t>mois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486400" cy="52120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Doctorat -- HITSZ (Rentree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93776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</a:t>
            </a:r>
            <a:r>
              <a:rPr dirty="0" err="1"/>
              <a:t>Accepte</a:t>
            </a:r>
            <a:r>
              <a:rPr dirty="0"/>
              <a:t> au Harbin Institute of Technology, Shenzhen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(HITSZ -- </a:t>
            </a:r>
            <a:r>
              <a:rPr dirty="0" err="1"/>
              <a:t>哈尔滨工业大学深圳</a:t>
            </a:r>
            <a:r>
              <a:rPr dirty="0"/>
              <a:t>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endParaRPr sz="1200" dirty="0">
              <a:solidFill>
                <a:srgbClr val="CCCCDD"/>
              </a:solidFill>
              <a:latin typeface="Calibri"/>
            </a:endParaRPr>
          </a:p>
          <a:p>
            <a:pPr algn="l">
              <a:spcAft>
                <a:spcPts val="300"/>
              </a:spcAft>
              <a:defRPr sz="1200" b="0">
                <a:solidFill>
                  <a:srgbClr val="FFD700"/>
                </a:solidFill>
                <a:latin typeface="Calibri"/>
              </a:defRPr>
            </a:pPr>
            <a:r>
              <a:rPr sz="1200" dirty="0">
                <a:solidFill>
                  <a:srgbClr val="CCCCDD"/>
                </a:solidFill>
                <a:latin typeface="Calibri"/>
              </a:rPr>
              <a:t>   #3 MONDIAL </a:t>
            </a:r>
            <a:r>
              <a:rPr sz="1200" dirty="0" err="1">
                <a:solidFill>
                  <a:srgbClr val="CCCCDD"/>
                </a:solidFill>
                <a:latin typeface="Calibri"/>
              </a:rPr>
              <a:t>en</a:t>
            </a:r>
            <a:r>
              <a:rPr sz="1200" dirty="0">
                <a:solidFill>
                  <a:srgbClr val="CCCCDD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CCCCDD"/>
                </a:solidFill>
                <a:latin typeface="Calibri"/>
              </a:rPr>
              <a:t>Ingenierie</a:t>
            </a:r>
            <a:r>
              <a:rPr sz="1200" dirty="0">
                <a:solidFill>
                  <a:srgbClr val="CCCCDD"/>
                </a:solidFill>
                <a:latin typeface="Calibri"/>
              </a:rPr>
              <a:t> (US News 2025-2026)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College : College of Artificial Intelligence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</a:t>
            </a:r>
            <a:r>
              <a:rPr dirty="0" err="1"/>
              <a:t>Specialite</a:t>
            </a:r>
            <a:r>
              <a:rPr dirty="0"/>
              <a:t> : Control Science and Engineering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</a:t>
            </a:r>
            <a:r>
              <a:rPr dirty="0" err="1"/>
              <a:t>Programme</a:t>
            </a:r>
            <a:r>
              <a:rPr dirty="0"/>
              <a:t> : Ph.D. (</a:t>
            </a:r>
            <a:r>
              <a:rPr dirty="0" err="1"/>
              <a:t>doctorat</a:t>
            </a:r>
            <a:r>
              <a:rPr dirty="0"/>
              <a:t> </a:t>
            </a:r>
            <a:r>
              <a:rPr dirty="0" err="1"/>
              <a:t>complet</a:t>
            </a:r>
            <a:r>
              <a:rPr dirty="0"/>
              <a:t>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Langue : Anglais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</a:t>
            </a:r>
            <a:r>
              <a:rPr sz="1200" dirty="0">
                <a:solidFill>
                  <a:srgbClr val="CCCCDD"/>
                </a:solidFill>
                <a:latin typeface="Calibri"/>
              </a:rPr>
              <a:t>Inscription : 27-28 </a:t>
            </a:r>
            <a:r>
              <a:rPr sz="1200" dirty="0" err="1">
                <a:solidFill>
                  <a:srgbClr val="CCCCDD"/>
                </a:solidFill>
                <a:latin typeface="Calibri"/>
              </a:rPr>
              <a:t>aout</a:t>
            </a:r>
            <a:r>
              <a:rPr sz="1200" dirty="0">
                <a:solidFill>
                  <a:srgbClr val="CCCCDD"/>
                </a:solidFill>
                <a:latin typeface="Calibri"/>
              </a:rPr>
              <a:t> 2026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lang="en-US" sz="1200" dirty="0">
                <a:solidFill>
                  <a:srgbClr val="CCCCDD"/>
                </a:solidFill>
                <a:latin typeface="Calibri"/>
              </a:rPr>
              <a:t>	</a:t>
            </a:r>
            <a:r>
              <a:rPr sz="1200" dirty="0" err="1">
                <a:solidFill>
                  <a:srgbClr val="CCCCDD"/>
                </a:solidFill>
                <a:latin typeface="Calibri"/>
              </a:rPr>
              <a:t>Soutenance</a:t>
            </a:r>
            <a:r>
              <a:rPr sz="1200" dirty="0">
                <a:solidFill>
                  <a:srgbClr val="CCCCDD"/>
                </a:solidFill>
                <a:latin typeface="Calibri"/>
              </a:rPr>
              <a:t> de stage </a:t>
            </a:r>
            <a:r>
              <a:rPr sz="1200" dirty="0" err="1">
                <a:solidFill>
                  <a:srgbClr val="CCCCDD"/>
                </a:solidFill>
                <a:latin typeface="Calibri"/>
              </a:rPr>
              <a:t>requise</a:t>
            </a:r>
            <a:endParaRPr sz="1200" dirty="0">
              <a:solidFill>
                <a:srgbClr val="CCCCDD"/>
              </a:solidFill>
              <a:latin typeface="Calibri"/>
            </a:endParaRPr>
          </a:p>
          <a:p>
            <a:pPr algn="l">
              <a:spcAft>
                <a:spcPts val="300"/>
              </a:spcAft>
              <a:defRPr sz="1200" b="0">
                <a:solidFill>
                  <a:srgbClr val="FF6B6B"/>
                </a:solidFill>
                <a:latin typeface="Calibri"/>
              </a:defRPr>
            </a:pPr>
            <a:r>
              <a:rPr sz="1200" dirty="0">
                <a:solidFill>
                  <a:srgbClr val="CCCCDD"/>
                </a:solidFill>
                <a:latin typeface="Calibri"/>
              </a:rPr>
              <a:t>   debut </a:t>
            </a:r>
            <a:r>
              <a:rPr sz="1200" dirty="0" err="1">
                <a:solidFill>
                  <a:srgbClr val="CCCCDD"/>
                </a:solidFill>
                <a:latin typeface="Calibri"/>
              </a:rPr>
              <a:t>septembre</a:t>
            </a:r>
            <a:r>
              <a:rPr sz="1200" dirty="0">
                <a:solidFill>
                  <a:srgbClr val="CCCCDD"/>
                </a:solidFill>
                <a:latin typeface="Calibri"/>
              </a:rPr>
              <a:t> pour </a:t>
            </a:r>
            <a:r>
              <a:rPr sz="1200" dirty="0" err="1">
                <a:solidFill>
                  <a:srgbClr val="CCCCDD"/>
                </a:solidFill>
                <a:latin typeface="Calibri"/>
              </a:rPr>
              <a:t>finaliser</a:t>
            </a:r>
            <a:r>
              <a:rPr sz="1200" dirty="0">
                <a:solidFill>
                  <a:srgbClr val="CCCCDD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CCCCDD"/>
                </a:solidFill>
                <a:latin typeface="Calibri"/>
              </a:rPr>
              <a:t>l'inscription</a:t>
            </a:r>
            <a:endParaRPr sz="1200" dirty="0">
              <a:solidFill>
                <a:srgbClr val="CCCCDD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4/22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6B"/>
                </a:solidFill>
                <a:latin typeface="Calibri"/>
              </a:defRPr>
            </a:pPr>
            <a:r>
              <a:t>Sujet de recherche -- Pourquoi c'est important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rPr dirty="0"/>
              <a:t>Prediction de la degradation de </a:t>
            </a:r>
            <a:r>
              <a:rPr dirty="0" err="1"/>
              <a:t>rigidite</a:t>
            </a:r>
            <a:r>
              <a:rPr dirty="0"/>
              <a:t> des </a:t>
            </a:r>
            <a:r>
              <a:rPr dirty="0" err="1"/>
              <a:t>fondations</a:t>
            </a:r>
            <a:r>
              <a:rPr dirty="0"/>
              <a:t> sur </a:t>
            </a:r>
            <a:r>
              <a:rPr dirty="0" err="1"/>
              <a:t>pieux</a:t>
            </a:r>
            <a:r>
              <a:rPr dirty="0"/>
              <a:t> sous </a:t>
            </a:r>
            <a:r>
              <a:rPr dirty="0" err="1"/>
              <a:t>chargement</a:t>
            </a:r>
            <a:r>
              <a:rPr dirty="0"/>
              <a:t> </a:t>
            </a:r>
            <a:r>
              <a:rPr dirty="0" err="1"/>
              <a:t>cyclique</a:t>
            </a:r>
            <a:r>
              <a:rPr dirty="0"/>
              <a:t> </a:t>
            </a:r>
            <a:r>
              <a:rPr dirty="0" err="1"/>
              <a:t>induit</a:t>
            </a:r>
            <a:r>
              <a:rPr dirty="0"/>
              <a:t> par les typhons, a </a:t>
            </a:r>
            <a:r>
              <a:rPr dirty="0" err="1"/>
              <a:t>l'aide</a:t>
            </a:r>
            <a:r>
              <a:rPr dirty="0"/>
              <a:t> de </a:t>
            </a:r>
            <a:r>
              <a:rPr dirty="0" err="1"/>
              <a:t>l'IA</a:t>
            </a:r>
            <a:r>
              <a:rPr dirty="0"/>
              <a:t> </a:t>
            </a:r>
            <a:r>
              <a:rPr dirty="0" err="1"/>
              <a:t>informee</a:t>
            </a:r>
            <a:r>
              <a:rPr dirty="0"/>
              <a:t> par la physique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657600" cy="48463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A33"/>
                </a:solidFill>
                <a:latin typeface="Calibri"/>
              </a:defRPr>
            </a:pPr>
            <a:r>
              <a:t>Contexte mondial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L'eolien offshore est en pleine expansion mondiale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La Chine prevoit 100+ GW d'eolien offshore d'ici 2030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Le Maroc developpe son propre potentiel eolien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La plupart des turbines utilisent des monopieux (5m dia.)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Les typhons creent un chargement cyclique extreme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L'integrite des fondations est cruciale pour la securite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63040"/>
            <a:ext cx="3657600" cy="48463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Calibri"/>
              </a:defRPr>
            </a:pPr>
            <a:r>
              <a:t>Le defi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Lors des typhons, le sol </a:t>
            </a:r>
            <a:r>
              <a:rPr dirty="0" err="1"/>
              <a:t>autour</a:t>
            </a:r>
            <a:r>
              <a:rPr dirty="0"/>
              <a:t> du </a:t>
            </a:r>
            <a:r>
              <a:rPr dirty="0" err="1"/>
              <a:t>pieu</a:t>
            </a:r>
            <a:r>
              <a:rPr dirty="0"/>
              <a:t> se degrade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La </a:t>
            </a:r>
            <a:r>
              <a:rPr dirty="0" err="1"/>
              <a:t>rigidite</a:t>
            </a:r>
            <a:r>
              <a:rPr dirty="0"/>
              <a:t> (resistance au </a:t>
            </a:r>
            <a:r>
              <a:rPr dirty="0" err="1"/>
              <a:t>deplacement</a:t>
            </a:r>
            <a:r>
              <a:rPr dirty="0"/>
              <a:t>) </a:t>
            </a:r>
            <a:r>
              <a:rPr dirty="0" err="1"/>
              <a:t>diminue</a:t>
            </a:r>
            <a:endParaRPr dirty="0"/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Si la </a:t>
            </a:r>
            <a:r>
              <a:rPr dirty="0" err="1"/>
              <a:t>rigidite</a:t>
            </a:r>
            <a:r>
              <a:rPr dirty="0"/>
              <a:t> </a:t>
            </a:r>
            <a:r>
              <a:rPr dirty="0" err="1"/>
              <a:t>baisse</a:t>
            </a:r>
            <a:r>
              <a:rPr dirty="0"/>
              <a:t> trop : resonance </a:t>
            </a:r>
            <a:r>
              <a:rPr dirty="0" err="1"/>
              <a:t>puis</a:t>
            </a:r>
            <a:r>
              <a:rPr dirty="0"/>
              <a:t> rupture !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Methodes </a:t>
            </a:r>
            <a:r>
              <a:rPr dirty="0" err="1"/>
              <a:t>actuelles</a:t>
            </a:r>
            <a:r>
              <a:rPr dirty="0"/>
              <a:t> : tests physiques </a:t>
            </a:r>
            <a:r>
              <a:rPr dirty="0" err="1"/>
              <a:t>couteux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MEF lent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</a:t>
            </a:r>
            <a:r>
              <a:rPr dirty="0" err="1"/>
              <a:t>Aucun</a:t>
            </a:r>
            <a:r>
              <a:rPr dirty="0"/>
              <a:t> </a:t>
            </a:r>
            <a:r>
              <a:rPr dirty="0" err="1"/>
              <a:t>outil</a:t>
            </a:r>
            <a:r>
              <a:rPr dirty="0"/>
              <a:t> </a:t>
            </a:r>
            <a:r>
              <a:rPr dirty="0" err="1"/>
              <a:t>rapide</a:t>
            </a:r>
            <a:r>
              <a:rPr dirty="0"/>
              <a:t> et precis </a:t>
            </a:r>
            <a:r>
              <a:rPr dirty="0" err="1"/>
              <a:t>n'existe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temps reel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rPr dirty="0"/>
              <a:t>-- Les </a:t>
            </a:r>
            <a:r>
              <a:rPr dirty="0" err="1"/>
              <a:t>ingenieurs</a:t>
            </a:r>
            <a:r>
              <a:rPr dirty="0"/>
              <a:t> </a:t>
            </a:r>
            <a:r>
              <a:rPr dirty="0" err="1"/>
              <a:t>ont</a:t>
            </a:r>
            <a:r>
              <a:rPr dirty="0"/>
              <a:t> </a:t>
            </a:r>
            <a:r>
              <a:rPr dirty="0" err="1"/>
              <a:t>besoin</a:t>
            </a:r>
            <a:r>
              <a:rPr dirty="0"/>
              <a:t> d'un </a:t>
            </a:r>
            <a:r>
              <a:rPr dirty="0" err="1"/>
              <a:t>simulateur</a:t>
            </a:r>
            <a:r>
              <a:rPr dirty="0"/>
              <a:t> 'what-if'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657600" cy="48463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B0"/>
                </a:solidFill>
                <a:latin typeface="Calibri"/>
              </a:defRPr>
            </a:pPr>
            <a:r>
              <a:t>Notre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Construire un 'Jumeau Numerique' IA du systeme pieu-sol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L'IA apprend a partir de donnees experimentales reelles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Elle encode les lois physiques fondamentales dans le reseau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Predictions instantanees (millisecondes vs heures)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Les ingenieurs peuvent tester des milliers de scenarios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Le modele est explicable -- pas une boite noire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6/22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AA33"/>
                </a:solidFill>
                <a:latin typeface="Calibri"/>
              </a:defRPr>
            </a:pPr>
            <a:r>
              <a:t>Probleme d'ingenierie : Degradation de rigidite des pieux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19202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A33"/>
                </a:solidFill>
                <a:latin typeface="Calibri"/>
              </a:defRPr>
            </a:pPr>
            <a:r>
              <a:t>Que se passe-t-il lors d'un typhon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1. Le vent et les vagues creent des forces cycliques laterales sur l'eolienne offshore.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2. Ces forces se transmettent par la tour jusqu'au monopieu dans le fond marin.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3. Le sol environnant est charge et decharge de maniere repetee --&gt; il s'affaiblit progressivement.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4. Cet affaiblissement se mesure par 3 parametres de rigidite qui evoluent dans le temps 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3566160" cy="30175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291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Calibri"/>
              </a:defRPr>
            </a:pPr>
            <a:r>
              <a:t>KL -- Rigidite laterale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57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Resistance au deplacement lateral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023360"/>
            <a:ext cx="1645920" cy="29260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Diminue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480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KL baisse (le sol s'affaiblit lateralement)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2120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88"/>
                </a:solidFill>
                <a:latin typeface="Calibri"/>
              </a:defRPr>
            </a:pPr>
            <a:r>
              <a:t>Code dans le modele IA</a:t>
            </a:r>
            <a:br/>
            <a:r>
              <a:t>(impossible a violer)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200400"/>
            <a:ext cx="3566160" cy="30175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3291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KR -- Rigidite rotationnelle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657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Resistance au basculement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4023360"/>
            <a:ext cx="1645920" cy="292608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Diminue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480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KR baisse (le sol resiste moins au basculement)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52120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88"/>
                </a:solidFill>
                <a:latin typeface="Calibri"/>
              </a:defRPr>
            </a:pPr>
            <a:r>
              <a:t>Code dans le modele IA</a:t>
            </a:r>
            <a:br/>
            <a:r>
              <a:t>(impossible a violer)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200400"/>
            <a:ext cx="3566160" cy="30175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3291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Calibri"/>
              </a:defRPr>
            </a:pPr>
            <a:r>
              <a:t>KLR -- Couplage croise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657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Interaction laterale-rotationnelle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023360"/>
            <a:ext cx="1645920" cy="292608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Augmente (vers 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480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KLR est negatif, il augmente vers zero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52120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88"/>
                </a:solidFill>
                <a:latin typeface="Calibri"/>
              </a:defRPr>
            </a:pPr>
            <a:r>
              <a:t>Code dans le modele IA</a:t>
            </a:r>
            <a:br/>
            <a:r>
              <a:t>(impossible a violer)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7/22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Calibri"/>
              </a:defRPr>
            </a:pPr>
            <a:r>
              <a:t>Donnees &amp; parametres physiques d'entree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6858000" cy="53035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8 parametres d'entree (proprietes sol &amp; pieu)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6400800" cy="4572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Indice de plasticite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Classification du sol (argilosite)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30552"/>
            <a:ext cx="6400800" cy="457200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1762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Gmax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176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Module de cisaillement max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762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Rigidite initiale du sol (Pa)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60904"/>
            <a:ext cx="6400800" cy="4572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70662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7066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Coefficient de Poisson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7066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Rapport deformation lat./axiale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91256"/>
            <a:ext cx="6400800" cy="457200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23697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Dp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2369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Diametre du pieu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2369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Diametre du monopieu (m)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21608"/>
            <a:ext cx="6400800" cy="4572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7673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767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Epaisseur de la paroi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767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Epaisseur de la paroi du pieu (m)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251960"/>
            <a:ext cx="6400800" cy="457200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2976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Longueur encastree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Longueur du pieu dans le fond marin (m)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782312"/>
            <a:ext cx="6400800" cy="4572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82803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828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Moment d'inertie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828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Resistance de la section a la flexion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312664"/>
            <a:ext cx="6400800" cy="457200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35838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Dp/Lp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3583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Rapport diametre/longueur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53583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Rapport d'aspect du pieu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1005840"/>
            <a:ext cx="4114800" cy="53035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6384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Calibri"/>
              </a:defRPr>
            </a:pPr>
            <a:r>
              <a:t>Resume du jeu de donnees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1645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Scenarios totaux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1645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1 019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22402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Jeu d'entrainement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2240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EC9B0"/>
                </a:solidFill>
                <a:latin typeface="Calibri"/>
              </a:defRPr>
            </a:pPr>
            <a:r>
              <a:t>815 (80%)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2834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Jeu de test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204 (20%)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3429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Pas de temps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3429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AA33"/>
                </a:solidFill>
                <a:latin typeface="Calibri"/>
              </a:defRPr>
            </a:pPr>
            <a:r>
              <a:t>21 par scenario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4023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Variables de sortie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 (KL, KR, KLR)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4617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alibri"/>
              </a:defRPr>
            </a:pPr>
            <a:r>
              <a:t>Forme de sortie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4617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888899"/>
                </a:solidFill>
                <a:latin typeface="Calibri"/>
              </a:defRPr>
            </a:pPr>
            <a:r>
              <a:t>[B, 21, 3]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5303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Source : Donnees experimentales reelles</a:t>
            </a:r>
            <a:br/>
            <a:r>
              <a:t>de tests cycliques sur monopieux</a:t>
            </a:r>
            <a:br/>
            <a:r>
              <a:t>(REAL DATA.xlsx -- 44 cycles par scenario,</a:t>
            </a:r>
            <a:br/>
            <a:r>
              <a:t>sous-echantillonnes en 21 pas representatifs)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8/22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EC9B0"/>
                </a:solidFill>
                <a:latin typeface="Calibri"/>
              </a:defRPr>
            </a:pPr>
            <a:r>
              <a:t>Approche IA -- Jumeau Numerique Informe par la Physique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13716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B0"/>
                </a:solidFill>
                <a:latin typeface="Calibri"/>
              </a:defRPr>
            </a:pPr>
            <a:r>
              <a:t>Concept central : Combiner la puissance de l'IA avec les connaissances en ingenierie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Contrairement a l'IA 'boite noire', notre modele integre les lois physiques fondamentales directement dans l'architecture.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Le modele NE PEUT PAS violer ces lois -- ce sont des contraintes structurelles, pas de simples penalites.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651760"/>
            <a:ext cx="3657600" cy="36576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Slot Attention</a:t>
            </a:r>
            <a:br/>
            <a:r>
              <a:t>Transformer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8328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-- 21 'slots' memoire apprenables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Cross-attention vers les donnees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Self-attention entre les slots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Raffinement iteratif (3 tours)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Chaque slot se specialise sur un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pas de degradation temporel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651760"/>
            <a:ext cx="3657600" cy="36576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27432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A33"/>
                </a:solidFill>
                <a:latin typeface="Calibri"/>
              </a:defRPr>
            </a:pPr>
            <a:r>
              <a:t>Contraintes</a:t>
            </a:r>
            <a:br/>
            <a:r>
              <a:t>physiques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38328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Chutes de KL, KR forcees &lt;= 0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Chutes de KLR forcees &gt;= 0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Somme cumulative garantit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des trajectoires monotones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Echelle log-signee preserve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l'info de signe (KLR &lt; 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651760"/>
            <a:ext cx="3657600" cy="36576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8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80" y="27432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78FF"/>
                </a:solidFill>
                <a:latin typeface="Calibri"/>
              </a:defRPr>
            </a:pPr>
            <a:r>
              <a:t>Decouverte de</a:t>
            </a:r>
            <a:br/>
            <a:r>
              <a:t>structure Psi-NN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338328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-- 20 slots --&gt; k* prototypes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Clustering K-Means sur les slots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Matrice de relation R relie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les pas aux prototypes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Reduction de 19.7% des parametres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Meilleure interpretabilite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9/22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Calibri"/>
              </a:defRPr>
            </a:pPr>
            <a:r>
              <a:t>Architecture du modele -- Slot Attention Transformer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10972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Calibri"/>
              </a:defRPr>
            </a:pPr>
            <a:r>
              <a:t>ENTREE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8 parametres : PI, Gmax, v, Dp, Tp, Lp, Ip, Dp/Lp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51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[B, 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05840"/>
            <a:ext cx="5486400" cy="10972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8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051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8FF"/>
                </a:solidFill>
                <a:latin typeface="Calibri"/>
              </a:defRPr>
            </a:pPr>
            <a:r>
              <a:t>EMBEDDING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Linear(8-&gt;64) + LayerNorm + GELU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1051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[B, 1, 64]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77440"/>
            <a:ext cx="5486400" cy="10972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423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A33"/>
                </a:solidFill>
                <a:latin typeface="Calibri"/>
              </a:defRPr>
            </a:pPr>
            <a:r>
              <a:t>21 SLOTS APPRENABLES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Slot 1 (initial) + Slots 2-21 (degradation)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23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[B, 21, 64]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377440"/>
            <a:ext cx="5486400" cy="10972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423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Calibri"/>
              </a:defRPr>
            </a:pPr>
            <a:r>
              <a:t>RAFFINEMENT ITERATIF x3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Cross-Attn -&gt; Self-Attn -&gt; SwiGLU MLP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2423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[B, 21, 64]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49040"/>
            <a:ext cx="5486400" cy="10972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794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SEPARATION DES SLOTS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Slot 1 -&gt; Tete initiale | Slots 2-21 -&gt; Tete de chute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94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Split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749040"/>
            <a:ext cx="5486400" cy="10972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3794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Calibri"/>
              </a:defRPr>
            </a:pPr>
            <a:r>
              <a:t>CONTRAINTES PHYSIQUES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dKL,dKR = -|d|  |  dKLR = +|d|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3794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Codees en dur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120640"/>
            <a:ext cx="5486400" cy="10972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888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5166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99"/>
                </a:solidFill>
                <a:latin typeface="Calibri"/>
              </a:defRPr>
            </a:pPr>
            <a:r>
              <a:t>SOMME CUMULATIVE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486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K(t) = K0 + somme(chutes contraintes)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166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[B, 21, 3]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120640"/>
            <a:ext cx="5486400" cy="10972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5166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alibri"/>
              </a:defRPr>
            </a:pPr>
            <a:r>
              <a:t>SORTIE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486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KL(t), KR(t), KLR(t) pour t=1...21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5166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[B, 21, 3]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10/22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AA33"/>
                </a:solidFill>
                <a:latin typeface="Calibri"/>
              </a:defRPr>
            </a:pPr>
            <a:r>
              <a:t>Evolution du modele : M5 -&gt; M6 -&gt; M7 -&gt; M8 -&gt; M9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10058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078992"/>
            <a:ext cx="731520" cy="29260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M5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51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LSTM + Slot Attn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Base avec decodeur LSTM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097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157 958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417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99"/>
                </a:solidFill>
                <a:latin typeface="Calibri"/>
              </a:defRPr>
            </a:pPr>
            <a:r>
              <a:t>params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097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9B0"/>
                </a:solidFill>
                <a:latin typeface="Calibri"/>
              </a:defRPr>
            </a:pPr>
            <a:r>
              <a:t>R2=0.9913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1430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Calibri"/>
              </a:defRPr>
            </a:pPr>
            <a:r>
              <a:t>Decodeur LSTM | 2 iterations | KLR non contraint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21408"/>
            <a:ext cx="11247120" cy="10058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4360" y="2194560"/>
            <a:ext cx="731520" cy="292608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M6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1671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Enseignant simplifie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487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Suppression du LSTM, ajout contrainte KLR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2128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56 646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5328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99"/>
                </a:solidFill>
                <a:latin typeface="Calibri"/>
              </a:defRPr>
            </a:pPr>
            <a:r>
              <a:t>params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128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9B0"/>
                </a:solidFill>
                <a:latin typeface="Calibri"/>
              </a:defRPr>
            </a:pPr>
            <a:r>
              <a:t>R2=0.9804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25856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Calibri"/>
              </a:defRPr>
            </a:pPr>
            <a:r>
              <a:t>Sans LSTM (64% de params en -) | 3 iterations | 3 rigidites contraintes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36976"/>
            <a:ext cx="11247120" cy="10058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64B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94360" y="3310128"/>
            <a:ext cx="731520" cy="292608"/>
          </a:xfrm>
          <a:prstGeom prst="round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M7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2826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Psi-NN de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027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Premiere tentative de compression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3284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B5F6"/>
                </a:solidFill>
                <a:latin typeface="Calibri"/>
              </a:defRPr>
            </a:pPr>
            <a:r>
              <a:t>55 770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64845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99"/>
                </a:solidFill>
                <a:latin typeface="Calibri"/>
              </a:defRPr>
            </a:pPr>
            <a:r>
              <a:t>params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3284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9B0"/>
                </a:solidFill>
                <a:latin typeface="Calibri"/>
              </a:defRPr>
            </a:pPr>
            <a:r>
              <a:t>R2=0.9897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374136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Calibri"/>
              </a:defRPr>
            </a:pPr>
            <a:r>
              <a:t>Pipeline 3 etapes | Matrice R fixe | k*=6, MLP large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352544"/>
            <a:ext cx="11247120" cy="10058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94360" y="4425696"/>
            <a:ext cx="731520" cy="292608"/>
          </a:xfrm>
          <a:prstGeom prst="round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M8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3982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Psi-NN efficace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7183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MLP goulot + R apprenable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4439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B74D"/>
                </a:solidFill>
                <a:latin typeface="Calibri"/>
              </a:defRPr>
            </a:pPr>
            <a:r>
              <a:t>45 486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7640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99"/>
                </a:solidFill>
                <a:latin typeface="Calibri"/>
              </a:defRPr>
            </a:pPr>
            <a:r>
              <a:t>params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4439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9B0"/>
                </a:solidFill>
                <a:latin typeface="Calibri"/>
              </a:defRPr>
            </a:pPr>
            <a:r>
              <a:t>R2=0.9882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489704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Calibri"/>
              </a:defRPr>
            </a:pPr>
            <a:r>
              <a:t>MLP goulot (64-&gt;48-&gt;64) | R apprenable (softmax) | Perte physique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468112"/>
            <a:ext cx="11247120" cy="10058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94360" y="5541264"/>
            <a:ext cx="731520" cy="292608"/>
          </a:xfrm>
          <a:prstGeom prst="round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M9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5138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SwiGLU Psi-NN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5833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Meilleur : mecanisme de gating SwiGLU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55595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Calibri"/>
              </a:defRPr>
            </a:pPr>
            <a:r>
              <a:t>45 502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58795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99"/>
                </a:solidFill>
                <a:latin typeface="Calibri"/>
              </a:defRPr>
            </a:pPr>
            <a:r>
              <a:t>params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55595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Calibri"/>
              </a:defRPr>
            </a:pPr>
            <a:r>
              <a:t>R2=0.9891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60527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DD"/>
                </a:solidFill>
                <a:latin typeface="Calibri"/>
              </a:defRPr>
            </a:pPr>
            <a:r>
              <a:t>SwiGLU (gate x value) | Meme nb params que M8 | R2 superieur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11/22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A87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A878FF"/>
                </a:solidFill>
                <a:latin typeface="Calibri"/>
              </a:defRPr>
            </a:pPr>
            <a:r>
              <a:t>Pipeline d'entrainement Psi-NN en 3 etapes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657600" cy="52120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280160" cy="29260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ETAPE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Distillation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L'enseignant M6 (56 646 params) est gele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L'eleve apprend a imiter la sortie du prof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MLP SwiGLU dans l'eleve (upgrade M9)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Regularisation L1 -&gt; patterns de slots creux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Perte = Distill + 0.5*Data + mu*L1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-- 2 000 epoques, patience=150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097280"/>
            <a:ext cx="3657600" cy="52120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43400" y="1188720"/>
            <a:ext cx="1280160" cy="292608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ETAPE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Decouverte de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10312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Extraire les 20 vecteurs de slots d'abandon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Moyenne sur tous les scenarios d'entrainement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Clustering K-Means (k=2..10)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Score silhouette -&gt; k* optimal = 5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Construction de la matrice R (20x5)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R relie chaque pas aux prototypes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657600" cy="52120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83880" y="1188720"/>
            <a:ext cx="1280160" cy="292608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ETAPE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Entrainement Psi-Modele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10312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Construction du Psi-modele avec k*=5 prototypes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Initialisation depuis les centroides de l'etape B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R apprenable : softmax(logits)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Perte multi-objectif :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  Distill + Data + Initial*5 + Forme</a:t>
            </a:r>
          </a:p>
          <a:p>
            <a:pPr algn="l">
              <a:spcAft>
                <a:spcPts val="7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--   + 0.02*Entropie + 0.2*PhysiqueMono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878FF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878FF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13/22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6B"/>
                </a:solidFill>
                <a:latin typeface="Calibri"/>
              </a:defRPr>
            </a:pPr>
            <a:r>
              <a:t>Contraintes physiques integrees dans le modele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A33"/>
                </a:solidFill>
                <a:latin typeface="Calibri"/>
              </a:defRPr>
            </a:pPr>
            <a:r>
              <a:t>7 contraintes physiques codees en dur -- le modele NE PEUT PAS les violer structurellement.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658368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1. Application du signe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2984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dKL = -|d1| &lt;= 0, dKR = -|d2| &lt;= 0, dKLR = +|d3| &gt;=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00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Via -abs() et +abs() -- impossible de produire le mauvais signe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444752"/>
            <a:ext cx="1463040" cy="29260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Architectural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29968"/>
            <a:ext cx="11247120" cy="658368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048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2. Courbes monotones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04825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K(t) = K0 + cumsum(chutes contraintes)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3500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La somme cumulative de chutes signees garantit la monotonicite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2194560"/>
            <a:ext cx="1463040" cy="29260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Architectural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79776"/>
            <a:ext cx="11247120" cy="658368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7980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3. Separation init./chute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7980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Slot 1 -&gt; tete initiale, Slots 2-21 -&gt; tete de chute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099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Des MLP separees refletent la distinction physique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2944368"/>
            <a:ext cx="1463040" cy="29260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Architectural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29584"/>
            <a:ext cx="11247120" cy="658368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888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547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A33"/>
                </a:solidFill>
                <a:latin typeface="Calibri"/>
              </a:defRPr>
            </a:pPr>
            <a:r>
              <a:t>4. Echelle log-signee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5478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y_log = signe(y) * log(1+|y|)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8496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Preserve le fait que KLR &lt; 0 tandis que KL, KR &gt;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3694176"/>
            <a:ext cx="1463040" cy="292608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Pretraitement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79392"/>
            <a:ext cx="11247120" cy="658368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888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A33"/>
                </a:solidFill>
                <a:latin typeface="Calibri"/>
              </a:defRPr>
            </a:pPr>
            <a:r>
              <a:t>5. Perte initiale ponderee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297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L_initial = 5 x MSE sur le pas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5994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La precision du 1er pas est cruciale (base de cumsum)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4443984"/>
            <a:ext cx="1463040" cy="292608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Entrainement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029200"/>
            <a:ext cx="11247120" cy="658368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888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50474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A33"/>
                </a:solidFill>
                <a:latin typeface="Calibri"/>
              </a:defRPr>
            </a:pPr>
            <a:r>
              <a:t>6. Preservation de forme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50474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Perte Huber sur les 1eres differences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5349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Garantit que la forme de degradation correspond a la realite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0" y="5193792"/>
            <a:ext cx="1463040" cy="292608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Entrainement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779008"/>
            <a:ext cx="11247120" cy="658368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888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57972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A33"/>
                </a:solidFill>
                <a:latin typeface="Calibri"/>
              </a:defRPr>
            </a:pPr>
            <a:r>
              <a:t>7. Penalite physique-monotone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579729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relu(dKL) + relu(dKR) + relu(-dKLR) x 0.2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6099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Penalite souple supplementaire dans la perte (M8/M9)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0" y="5943600"/>
            <a:ext cx="1463040" cy="292608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Entrainement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14/22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EC9B0"/>
                </a:solidFill>
                <a:latin typeface="Calibri"/>
              </a:defRPr>
            </a:pPr>
            <a:r>
              <a:t>Resultats &amp; Metriques de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2651760" cy="14630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99"/>
                </a:solidFill>
                <a:latin typeface="Calibri"/>
              </a:defRPr>
            </a:pPr>
            <a:r>
              <a:t>R2 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9B0"/>
                </a:solidFill>
                <a:latin typeface="Calibri"/>
              </a:defRPr>
            </a:pPr>
            <a:r>
              <a:t>0.9891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Le modele explique 98.9%</a:t>
            </a:r>
            <a:br/>
            <a:r>
              <a:t>de la variance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005840"/>
            <a:ext cx="2651760" cy="14630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1051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99"/>
                </a:solidFill>
                <a:latin typeface="Calibri"/>
              </a:defRPr>
            </a:pPr>
            <a:r>
              <a:t>MAPE courbe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325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AA33"/>
                </a:solidFill>
                <a:latin typeface="Calibri"/>
              </a:defRPr>
            </a:pPr>
            <a:r>
              <a:t>2.37%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Erreur moy. en % abs.</a:t>
            </a:r>
            <a:br/>
            <a:r>
              <a:t>sur toutes les courbes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005840"/>
            <a:ext cx="2651760" cy="14630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051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99"/>
                </a:solidFill>
                <a:latin typeface="Calibri"/>
              </a:defRPr>
            </a:pPr>
            <a:r>
              <a:t>Parametres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325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45 502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19.7% de moins que</a:t>
            </a:r>
            <a:br/>
            <a:r>
              <a:t>le prof M6 (56 646)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005840"/>
            <a:ext cx="2651760" cy="14630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8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72600" y="1051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99"/>
                </a:solidFill>
                <a:latin typeface="Calibri"/>
              </a:defRPr>
            </a:pPr>
            <a:r>
              <a:t>Scenarios de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325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78FF"/>
                </a:solidFill>
                <a:latin typeface="Calibri"/>
              </a:defRPr>
            </a:pPr>
            <a:r>
              <a:t>204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Sur 1 019 au total</a:t>
            </a:r>
            <a:br/>
            <a:r>
              <a:t>(20% retenus)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743200"/>
            <a:ext cx="11247120" cy="35661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Performance par variable (M9 vs M6 Enseignant)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46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Calibri"/>
              </a:defRPr>
            </a:pPr>
            <a:r>
              <a:t>Variable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234075"/>
            <a:ext cx="2103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Calibri"/>
              </a:defRPr>
            </a:pPr>
            <a:r>
              <a:rPr dirty="0"/>
              <a:t>R2 M6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246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Calibri"/>
              </a:defRPr>
            </a:pPr>
            <a:r>
              <a:t>R2 M9 (Psi-NN)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46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Calibri"/>
              </a:defRPr>
            </a:pPr>
            <a:r>
              <a:t>Amelioration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246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Calibri"/>
              </a:defRPr>
            </a:pPr>
            <a:r>
              <a:t>MAPE M9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657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KL (Laterale)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657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0.9768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657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FF88"/>
                </a:solidFill>
                <a:latin typeface="Calibri"/>
              </a:defRPr>
            </a:pPr>
            <a:r>
              <a:t>0.9905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657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A33"/>
                </a:solidFill>
                <a:latin typeface="Calibri"/>
              </a:defRPr>
            </a:pPr>
            <a:r>
              <a:t>+0.0137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657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2.32%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60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KR (Rotationnelle)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160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0.9634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160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FF88"/>
                </a:solidFill>
                <a:latin typeface="Calibri"/>
              </a:defRPr>
            </a:pPr>
            <a:r>
              <a:t>0.9796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160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A33"/>
                </a:solidFill>
                <a:latin typeface="Calibri"/>
              </a:defRPr>
            </a:pPr>
            <a:r>
              <a:t>+0.0162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160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2.42%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KLR (Couplage)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0.9690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FF88"/>
                </a:solidFill>
                <a:latin typeface="Calibri"/>
              </a:defRPr>
            </a:pPr>
            <a:r>
              <a:t>0.9860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A33"/>
                </a:solidFill>
                <a:latin typeface="Calibri"/>
              </a:defRPr>
            </a:pPr>
            <a:r>
              <a:t>+0.0170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DD"/>
                </a:solidFill>
                <a:latin typeface="Calibri"/>
              </a:defRPr>
            </a:pPr>
            <a:r>
              <a:t>2.38%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166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Global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5166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CCDD"/>
                </a:solidFill>
                <a:latin typeface="Calibri"/>
              </a:defRPr>
            </a:pPr>
            <a:r>
              <a:t>0.9804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5166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Calibri"/>
              </a:defRPr>
            </a:pPr>
            <a:r>
              <a:t>0.9891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5166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A33"/>
                </a:solidFill>
                <a:latin typeface="Calibri"/>
              </a:defRPr>
            </a:pPr>
            <a:r>
              <a:t>+0.0087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5166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CCDD"/>
                </a:solidFill>
                <a:latin typeface="Calibri"/>
              </a:defRPr>
            </a:pPr>
            <a:r>
              <a:t>2.37%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669280"/>
            <a:ext cx="11247120" cy="54864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Calibri"/>
              </a:defRPr>
            </a:pPr>
            <a:r>
              <a:t>M9 depasse le prof M6 sur TOUTES les variables avec 19.7% de parametres en moins -- l'eleve a depasse le maitre grace a la decouverte de structure + gating SwiGLU.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15/22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Calibri"/>
              </a:defRPr>
            </a:pPr>
            <a:r>
              <a:t>Comparaison complete : M6 -&gt; M7 -&gt; M8 -&gt; M9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2194560" cy="411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Metrique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005840"/>
            <a:ext cx="2194560" cy="411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888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1024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88899"/>
                </a:solidFill>
                <a:latin typeface="Calibri"/>
              </a:defRPr>
            </a:pPr>
            <a:r>
              <a:t>M6 Prof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005840"/>
            <a:ext cx="2194560" cy="411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64B5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1024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5F6"/>
                </a:solidFill>
                <a:latin typeface="Calibri"/>
              </a:defRPr>
            </a:pPr>
            <a:r>
              <a:t>M7 Psi-NN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005840"/>
            <a:ext cx="2194560" cy="411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1024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74D"/>
                </a:solidFill>
                <a:latin typeface="Calibri"/>
              </a:defRPr>
            </a:pPr>
            <a:r>
              <a:t>M8 Efficace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005840"/>
            <a:ext cx="2194560" cy="411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0" y="1024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Calibri"/>
              </a:defRPr>
            </a:pPr>
            <a:r>
              <a:t>M9 SwiGLU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508760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" y="153619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Parametres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1508760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24912" y="153619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56 646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1508760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10912" y="153619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55 770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1508760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96912" y="153619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45 486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1508760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82912" y="153619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Calibri"/>
              </a:defRPr>
            </a:pPr>
            <a:r>
              <a:t>45 502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1947672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" y="1975104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Compression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51760" y="1947672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24912" y="1975104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--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0" y="1947672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10912" y="1975104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1.5%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1947672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96912" y="1975104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19.7%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1947672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82912" y="1975104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Calibri"/>
              </a:defRPr>
            </a:pPr>
            <a:r>
              <a:t>19.7%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2386584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8912" y="2414016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MLP du slot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51760" y="2386584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24912" y="2414016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GELU 128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37760" y="2386584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10912" y="2414016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GELU 128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23760" y="2386584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96912" y="2414016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Goulot 48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60" y="2386584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82912" y="2414016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Calibri"/>
              </a:defRPr>
            </a:pPr>
            <a:r>
              <a:t>SwiGLU 32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2825496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8912" y="2852928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k* (Prototypes)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51760" y="2825496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724912" y="2852928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--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37760" y="2825496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10912" y="2852928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23760" y="2825496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296912" y="2852928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09760" y="2825496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582912" y="2852928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5760" y="3264408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38912" y="3291840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Matrice 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651760" y="3264408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724912" y="3291840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--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937760" y="3264408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10912" y="3291840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Fixe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223760" y="3264408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296912" y="3291840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Apprenable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09760" y="3264408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582912" y="3291840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Calibri"/>
              </a:defRPr>
            </a:pPr>
            <a:r>
              <a:t>Apprenable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5760" y="3703320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38912" y="373075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Perte physique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651760" y="3703320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724912" y="373075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--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937760" y="3703320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10912" y="373075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Non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223760" y="3703320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296912" y="373075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Oui (l=0.2)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509760" y="3703320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582912" y="373075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Calibri"/>
              </a:defRPr>
            </a:pPr>
            <a:r>
              <a:t>Oui (l=0.2)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65760" y="4142232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38912" y="4169664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Reg. entropie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51760" y="4142232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724912" y="4169664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--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937760" y="4142232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010912" y="4169664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B5F6"/>
                </a:solidFill>
                <a:latin typeface="Calibri"/>
              </a:defRPr>
            </a:pPr>
            <a:r>
              <a:t>Non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223760" y="4142232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296912" y="4169664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Oui (l=0.02)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509760" y="4142232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582912" y="4169664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Calibri"/>
              </a:defRPr>
            </a:pPr>
            <a:r>
              <a:t>Oui (l=0.02)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65760" y="4581144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38912" y="4608576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R2 global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651760" y="4581144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2724912" y="4608576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0.9804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937760" y="4581144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010912" y="4608576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FF88"/>
                </a:solidFill>
                <a:latin typeface="Calibri"/>
              </a:defRPr>
            </a:pPr>
            <a:r>
              <a:t>0.9897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223760" y="4581144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296912" y="4608576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0.9882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509760" y="4581144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582912" y="4608576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Calibri"/>
              </a:defRPr>
            </a:pPr>
            <a:r>
              <a:t>0.9891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65760" y="5020056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8912" y="5047488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R2 KL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651760" y="5020056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724912" y="5047488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0.9768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937760" y="5020056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010912" y="5047488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FF88"/>
                </a:solidFill>
                <a:latin typeface="Calibri"/>
              </a:defRPr>
            </a:pPr>
            <a:r>
              <a:t>0.9910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223760" y="5020056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296912" y="5047488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0.9888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509760" y="5020056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582912" y="5047488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Calibri"/>
              </a:defRPr>
            </a:pPr>
            <a:r>
              <a:t>0.9905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65760" y="5458968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38912" y="5486400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R2 KR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651760" y="5458968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2724912" y="5486400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0.9634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937760" y="5458968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010912" y="5486400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FF88"/>
                </a:solidFill>
                <a:latin typeface="Calibri"/>
              </a:defRPr>
            </a:pPr>
            <a:r>
              <a:t>0.9807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223760" y="5458968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296912" y="5486400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0.9780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509760" y="5458968"/>
            <a:ext cx="2194560" cy="384048"/>
          </a:xfrm>
          <a:prstGeom prst="round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582912" y="5486400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FF88"/>
                </a:solidFill>
                <a:latin typeface="Calibri"/>
              </a:defRPr>
            </a:pPr>
            <a:r>
              <a:t>0.9796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65760" y="5897880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38912" y="592531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CCDD"/>
                </a:solidFill>
                <a:latin typeface="Calibri"/>
              </a:defRPr>
            </a:pPr>
            <a:r>
              <a:t>R2 KLR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651760" y="5897880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2724912" y="592531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0.9690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937760" y="5897880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010912" y="592531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FF88"/>
                </a:solidFill>
                <a:latin typeface="Calibri"/>
              </a:defRPr>
            </a:pPr>
            <a:r>
              <a:t>0.9860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223760" y="5897880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7296912" y="592531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74D"/>
                </a:solidFill>
                <a:latin typeface="Calibri"/>
              </a:defRPr>
            </a:pPr>
            <a:r>
              <a:t>0.9845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509760" y="5897880"/>
            <a:ext cx="2194560" cy="384048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9582912" y="5925312"/>
            <a:ext cx="20482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FF88"/>
                </a:solidFill>
                <a:latin typeface="Calibri"/>
              </a:defRPr>
            </a:pPr>
            <a:r>
              <a:t>0.9860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16/22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A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AA33"/>
                </a:solidFill>
                <a:latin typeface="Calibri"/>
              </a:defRPr>
            </a:pPr>
            <a:r>
              <a:t>Application web interactive &amp; Tableau de bord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A33"/>
                </a:solidFill>
                <a:latin typeface="Calibri"/>
              </a:defRPr>
            </a:pPr>
            <a:r>
              <a:t>Tableau de bord complet construit avec Flask + Chart.js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-- Visualisation interactive en temps reel des predictions de l'IA vs donnees experimentales reelles.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-- Les ingenieurs peuvent parcourir les 204 scenarios de test, inspecter les valeurs par pas et analyser les erreurs.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-- Le tableau de bord inclut la visualisation de la structure Psi-NN, l'analyse silhouette et l'importance des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356616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9992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Graphiques de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832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Courbes KL, KR, KLR :</a:t>
            </a:r>
            <a:br/>
            <a:r>
              <a:t>Cible vs Predit</a:t>
            </a:r>
            <a:br/>
            <a:r>
              <a:t>avec surlignage d'erreur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926080"/>
            <a:ext cx="356616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29992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  <a:latin typeface="Calibri"/>
              </a:defRPr>
            </a:pPr>
            <a:r>
              <a:t>Tableau par 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3832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Valeurs pas a pas</a:t>
            </a:r>
            <a:br/>
            <a:r>
              <a:t>avec % d'erreur colore</a:t>
            </a:r>
            <a:br/>
            <a:r>
              <a:t>(vert &lt; 5%, rouge &gt; 20%)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926080"/>
            <a:ext cx="356616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29992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A33"/>
                </a:solidFill>
                <a:latin typeface="Calibri"/>
              </a:defRPr>
            </a:pPr>
            <a:r>
              <a:t>Navigateur de 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3832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Parcourir les 204 cas</a:t>
            </a:r>
            <a:br/>
            <a:r>
              <a:t>avec MAPE, R2, classement</a:t>
            </a:r>
            <a:br/>
            <a:r>
              <a:t>et parametres d'entree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54880"/>
            <a:ext cx="356616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8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8280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878FF"/>
                </a:solidFill>
                <a:latin typeface="Calibri"/>
              </a:defRPr>
            </a:pPr>
            <a:r>
              <a:t>Structure Psi-NN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2120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Clusters de prototypes,</a:t>
            </a:r>
            <a:br/>
            <a:r>
              <a:t>heatmap mat. de relation,</a:t>
            </a:r>
            <a:br/>
            <a:r>
              <a:t>analyse silhouette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754880"/>
            <a:ext cx="356616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48280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6B"/>
                </a:solidFill>
                <a:latin typeface="Calibri"/>
              </a:defRPr>
            </a:pPr>
            <a:r>
              <a:t>Diagnostic pire 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52120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Top 10 pires scenarios</a:t>
            </a:r>
            <a:br/>
            <a:r>
              <a:t>importance des features</a:t>
            </a:r>
            <a:br/>
            <a:r>
              <a:t>analyse de correlation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754880"/>
            <a:ext cx="356616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20" y="48280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Architecture du modele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52120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Schema complet</a:t>
            </a:r>
            <a:br/>
            <a:r>
              <a:t>Comparaison SwiGLU vs GELU</a:t>
            </a:r>
            <a:br/>
            <a:r>
              <a:t>decomposition des params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17/22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A87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A878FF"/>
                </a:solidFill>
                <a:latin typeface="Calibri"/>
              </a:defRPr>
            </a:pPr>
            <a:r>
              <a:t>Contributions scientifiques &amp; Potentiel de publication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7784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1. Architecture originale : Psi-NN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Premiere application de reseaux a decouverte de structure en ingenierie geotechnique. Le pipeline Psi-NN trouve automatiquement le nombre optimal de composants prototypes.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05840"/>
            <a:ext cx="557784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FF88"/>
                </a:solidFill>
                <a:latin typeface="Calibri"/>
              </a:defRPr>
            </a:pPr>
            <a:r>
              <a:t>2. SwiGLU pour le ML scientifique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Premiere utilisation du gating SwiGLU (issu de LLaMA/PaLM) dans des modeles informes par la physique. Demontre que les techniques NLP modernes se transferent aux domaines d'ingenierie.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557784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A33"/>
                </a:solidFill>
                <a:latin typeface="Calibri"/>
              </a:defRPr>
            </a:pPr>
            <a:r>
              <a:t>3. Physique codee en dur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918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Les 3 variables de rigidite ont une monotonicite architecturalement garantie. Contrairement aux penalites souples, ces contraintes sont impossibles a violer.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834640"/>
            <a:ext cx="557784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907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Calibri"/>
              </a:defRPr>
            </a:pPr>
            <a:r>
              <a:t>4. Compression du modele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918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Reduction de 19.7% des parametres tout en ameliorant la precision (R2 0.9804 -&gt; 0.9891). L'eleve compresse depasse le maitre grace a la decouverte de structure.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63440"/>
            <a:ext cx="557784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8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736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78FF"/>
                </a:solidFill>
                <a:latin typeface="Calibri"/>
              </a:defRPr>
            </a:pPr>
            <a:r>
              <a:t>5. Jumeau Numerique interactif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1206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Application web complete pour l'analyse de scenarios en temps reel, le diagnostic d'erreurs et la visualisation de l'importance des features.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663440"/>
            <a:ext cx="557784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4736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Calibri"/>
              </a:defRPr>
            </a:pPr>
            <a:r>
              <a:t>6. Methodologie exhaustive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1206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5 versions du modele (M5-&gt;M9) avec ablation systematique : suppression LSTM, variantes MLP, R apprenable vs fixe, perte physique -- fournissant des preuves claires pour chaque choix.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18/22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700"/>
                </a:solidFill>
                <a:latin typeface="Calibri"/>
              </a:defRPr>
            </a:pPr>
            <a:r>
              <a:t>Contexte du projet de recherche (面上项目申请书)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53035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Programme general NSFC -- Conception anti-typhon des fondations OWT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-- La recherche s'inscrit dans un projet finance par le NSFC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(Fondation Nationale des Sciences Naturelles de Chine -- Programme general).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-- Titre : Jumeau Numerique pilote par l'IA pour la prediction du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decalage de frequence naturelle post-typhon des eoliennes offshore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avec fondations sur pieux degradees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-- Le projet definit un cadre integrant 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1. Module de conditions d'appui (SCm) : Predit la degradation de rigidite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   (KL, KR, KLR) -- c'est ce que M6-M9 implemente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2. Module eolienne (WTm) : Methodes analytiques de Rayleigh-Ritz pour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   calculer les frequences naturelles tour+pales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3. Jumeau Numerique couple : SCm alimente WTm -&gt; predit le risque de resonance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4. IA explicable (XAI) : Propagation de pertinence couche par couche (LRP)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5. Quantification d'incertitude : Monte Carlo Dropout pour les intervalles de confiance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-- Ma contribution de stage se concentre sur l'implementation et l'optimisation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du module SCm (le moteur de prediction IA), soit l'evolution M6-&gt;M9 presentee ici.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-- Document de reference : 面上项目申请书撰写提纲.pdf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19/22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Calibri"/>
              </a:defRPr>
            </a:pPr>
            <a:r>
              <a:t>Conclusion &amp; Prochaines etapes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53035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Ce qui a ete accompli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-- Developpement d'un systeme IA complet, informe par la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physique, pour la prediction de degradation de rigidite.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-- Evolution a travers 5 versions (M5 -&gt; M9),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chacune avec des ameliorations claires et justifiees.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-- Le modele final M9 atteint 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-- R2 = 0.9891 (98.9% de la variance expliquee)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-- 19.7% de compression des parametres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-- Garanties physiques codees en dur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-- Gating SwiGLU a l'etat de l'art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-- Construction d'un tableau de bord web interactif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pour l'analyse de scenarios en temps reel.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-- Documentation exhaustive produite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t>   (rapports LaTeX, diagrammes, code source complet).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486400" cy="53035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A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097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A33"/>
                </a:solidFill>
                <a:latin typeface="Calibri"/>
              </a:defRPr>
            </a:pPr>
            <a:r>
              <a:t>Prochaines etapes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937760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FF6B6B"/>
                </a:solidFill>
                <a:latin typeface="Calibri"/>
              </a:defRPr>
            </a:pPr>
            <a:r>
              <a:rPr dirty="0"/>
              <a:t> </a:t>
            </a:r>
            <a:r>
              <a:rPr dirty="0" err="1"/>
              <a:t>Soutenance</a:t>
            </a:r>
            <a:r>
              <a:rPr dirty="0"/>
              <a:t> de stage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-- Prevue debut </a:t>
            </a:r>
            <a:r>
              <a:rPr dirty="0" err="1"/>
              <a:t>septembre</a:t>
            </a:r>
            <a:r>
              <a:rPr dirty="0"/>
              <a:t> 2026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-- </a:t>
            </a:r>
            <a:r>
              <a:rPr dirty="0" err="1"/>
              <a:t>Requise</a:t>
            </a:r>
            <a:r>
              <a:rPr dirty="0"/>
              <a:t> pour </a:t>
            </a:r>
            <a:r>
              <a:rPr dirty="0" err="1"/>
              <a:t>valider</a:t>
            </a:r>
            <a:r>
              <a:rPr dirty="0"/>
              <a:t> le stage EMSI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-- Necessaire pour </a:t>
            </a:r>
            <a:r>
              <a:rPr dirty="0" err="1"/>
              <a:t>finaliser</a:t>
            </a:r>
            <a:r>
              <a:rPr dirty="0"/>
              <a:t> </a:t>
            </a:r>
            <a:r>
              <a:rPr dirty="0" err="1"/>
              <a:t>l'inscription</a:t>
            </a:r>
            <a:r>
              <a:rPr dirty="0"/>
              <a:t> a HITSZ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300"/>
              </a:spcAft>
              <a:defRPr sz="1200" b="0">
                <a:solidFill>
                  <a:srgbClr val="FFD700"/>
                </a:solidFill>
                <a:latin typeface="Calibri"/>
              </a:defRPr>
            </a:pPr>
            <a:r>
              <a:rPr dirty="0"/>
              <a:t>Inscription HITSZ : 27-28 </a:t>
            </a:r>
            <a:r>
              <a:rPr dirty="0" err="1"/>
              <a:t>aout</a:t>
            </a:r>
            <a:r>
              <a:rPr dirty="0"/>
              <a:t> 2026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300"/>
              </a:spcAft>
              <a:defRPr sz="1200" b="0">
                <a:solidFill>
                  <a:srgbClr val="00D2FF"/>
                </a:solidFill>
                <a:latin typeface="Calibri"/>
              </a:defRPr>
            </a:pPr>
            <a:r>
              <a:rPr dirty="0" err="1"/>
              <a:t>Doctorat</a:t>
            </a:r>
            <a:r>
              <a:rPr dirty="0"/>
              <a:t> a HITSZ (</a:t>
            </a:r>
            <a:r>
              <a:rPr dirty="0" err="1"/>
              <a:t>automne</a:t>
            </a:r>
            <a:r>
              <a:rPr dirty="0"/>
              <a:t> 2026) 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-- College of Artificial Intelligence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-- </a:t>
            </a:r>
            <a:r>
              <a:rPr dirty="0" err="1"/>
              <a:t>Specialite</a:t>
            </a:r>
            <a:r>
              <a:rPr dirty="0"/>
              <a:t> : Control Science &amp; Engineering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   -- #3 </a:t>
            </a:r>
            <a:r>
              <a:rPr dirty="0" err="1"/>
              <a:t>mondial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Ingenierie</a:t>
            </a:r>
            <a:r>
              <a:rPr dirty="0"/>
              <a:t> (US News 2025-2026)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99"/>
                </a:solidFill>
                <a:latin typeface="Calibri"/>
              </a:defRPr>
            </a:pPr>
            <a:r>
              <a:t>21/22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4059936" cy="73152"/>
          </a:xfrm>
          <a:prstGeom prst="round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59936" y="0"/>
            <a:ext cx="4059936" cy="73152"/>
          </a:xfrm>
          <a:prstGeom prst="round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19872" y="0"/>
            <a:ext cx="4069080" cy="73152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Merci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3931920"/>
            <a:ext cx="6309360" cy="20116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4023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48056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DD"/>
                </a:solidFill>
                <a:latin typeface="Calibri"/>
              </a:defRPr>
            </a:pPr>
            <a:r>
              <a:rPr dirty="0"/>
              <a:t>Youssef KHALLOUQI</a:t>
            </a:r>
            <a:br>
              <a:rPr dirty="0"/>
            </a:br>
            <a:r>
              <a:rPr dirty="0"/>
              <a:t>EMSI (Ecole </a:t>
            </a:r>
            <a:r>
              <a:rPr dirty="0" err="1"/>
              <a:t>Marocaine</a:t>
            </a:r>
            <a:r>
              <a:rPr dirty="0"/>
              <a:t> des Sciences de </a:t>
            </a:r>
            <a:r>
              <a:rPr dirty="0" err="1"/>
              <a:t>l'Ingenieur</a:t>
            </a:r>
            <a:r>
              <a:rPr dirty="0"/>
              <a:t>)</a:t>
            </a:r>
            <a:br>
              <a:rPr dirty="0"/>
            </a:br>
            <a:r>
              <a:rPr dirty="0"/>
              <a:t>Stage : Shenzhen University (</a:t>
            </a:r>
            <a:r>
              <a:rPr dirty="0" err="1"/>
              <a:t>深圳大学</a:t>
            </a:r>
            <a:r>
              <a:rPr dirty="0"/>
              <a:t>) | </a:t>
            </a:r>
            <a:r>
              <a:rPr dirty="0" err="1"/>
              <a:t>Doctorat</a:t>
            </a:r>
            <a:r>
              <a:rPr dirty="0"/>
              <a:t> : HITSZ (</a:t>
            </a:r>
            <a:r>
              <a:rPr dirty="0" err="1"/>
              <a:t>哈工大深圳</a:t>
            </a:r>
            <a:r>
              <a:rPr dirty="0"/>
              <a:t>)</a:t>
            </a:r>
            <a:br>
              <a:rPr dirty="0"/>
            </a:br>
            <a:r>
              <a:rPr dirty="0"/>
              <a:t>IA </a:t>
            </a:r>
            <a:r>
              <a:rPr dirty="0" err="1"/>
              <a:t>Informee</a:t>
            </a:r>
            <a:r>
              <a:rPr dirty="0"/>
              <a:t> par la Physique pour les </a:t>
            </a:r>
            <a:r>
              <a:rPr dirty="0" err="1"/>
              <a:t>Fondations</a:t>
            </a:r>
            <a:r>
              <a:rPr dirty="0"/>
              <a:t> Eoliennes Offshore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0" y="6675120"/>
            <a:ext cx="12191695" cy="54864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3050</Words>
  <Application>Microsoft Office PowerPoint</Application>
  <PresentationFormat>Widescreen</PresentationFormat>
  <Paragraphs>512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Youssef Khallouqi</cp:lastModifiedBy>
  <cp:revision>4</cp:revision>
  <dcterms:created xsi:type="dcterms:W3CDTF">2013-01-27T09:14:16Z</dcterms:created>
  <dcterms:modified xsi:type="dcterms:W3CDTF">2026-04-24T10:41:18Z</dcterms:modified>
  <cp:category/>
</cp:coreProperties>
</file>