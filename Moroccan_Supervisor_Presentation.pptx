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4059936" cy="73152"/>
          </a:xfrm>
          <a:prstGeom prst="round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59936" y="0"/>
            <a:ext cx="4059936" cy="73152"/>
          </a:xfrm>
          <a:prstGeom prst="round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19872" y="0"/>
            <a:ext cx="4069080" cy="73152"/>
          </a:xfrm>
          <a:prstGeom prst="roundRect">
            <a:avLst/>
          </a:prstGeom>
          <a:solidFill>
            <a:srgbClr val="00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Research Internship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  <a:latin typeface="Calibri"/>
              </a:defRPr>
            </a:pPr>
            <a:r>
              <a:t>Physics-Informed AI Digital Twin for Offshore Wind Turbine</a:t>
            </a:r>
            <a:br/>
            <a:r>
              <a:t>Pile Foundation Stiffness Degradation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AA33"/>
                </a:solidFill>
                <a:latin typeface="Calibri"/>
              </a:defRPr>
            </a:pPr>
            <a:r>
              <a:t>Internship at Zhejiang University (浙江大学), Hangzhou, China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4754880"/>
            <a:ext cx="6675120" cy="13716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484632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KHALIL Youssef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525780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DD"/>
                </a:solidFill>
                <a:latin typeface="Calibri"/>
              </a:defRPr>
            </a:pPr>
            <a:r>
              <a:t>PhD Student — Moroccan University ↔ Zhejiang University Collaboration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562356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Calibri"/>
              </a:defRPr>
            </a:pPr>
            <a:r>
              <a:t>Supervisor Meeting — April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0" y="6675120"/>
            <a:ext cx="12191695" cy="54864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868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280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Host Institution &amp; Acceptance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48840"/>
            <a:ext cx="5486400" cy="868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A87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78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31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PhD Program &amp; Collaboration Framework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5486400" cy="868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337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832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Research Subject: Why This Matters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51960"/>
            <a:ext cx="5486400" cy="868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389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A33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434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Engineering Problem: OWT Pile Degradation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03520"/>
            <a:ext cx="5486400" cy="868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440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486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AI Approach: Physics-Informed Digital Twin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097280"/>
            <a:ext cx="5486400" cy="868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234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1280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Model Architecture &amp; Evolution (M5 → M9)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148840"/>
            <a:ext cx="5486400" cy="868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88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2331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Key Innovation: SwiGLU Ψ-NN Pipeline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200400"/>
            <a:ext cx="5486400" cy="868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337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A33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3832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Results, Validation &amp; Web Application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251960"/>
            <a:ext cx="5486400" cy="868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A87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389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78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434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Research Contributions &amp; Timeline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5303520"/>
            <a:ext cx="5486400" cy="868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5440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5486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Conclusion &amp; Next Steps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2/22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Host Institution — Zhejiang University (浙江大学)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52120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🏛  About Zhejiang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Founded: 1897 — one of China's oldest and most prestigious universities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Location: Hangzhou, Zhejiang Province, China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World Ranking: Top 50 globally (QS/THE rankings)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Known as one of China's "C9 League" universities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(equivalent to the Ivy League in the US)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Renowned for Engineering, Computer Science, and Civil Engineering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Over 60,000 students, 5,700+ faculty members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Strong research output with international collaborations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The College of Civil Engineering and Architecture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hosts leading researchers in offshore geotechnical engineering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and AI-driven structural health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486400" cy="52120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Calibri"/>
              </a:defRPr>
            </a:pPr>
            <a:r>
              <a:t>🔬  Research Laboratory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Department: College of Civil Engineering &amp; Architecture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Research Focus: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Offshore wind turbine (OWT) foundation engineering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Soil-structure interaction under cyclic loading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AI / Machine Learning for structural health monitoring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Physics-informed neural networks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Digital Twin technology for infrastructure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Experimental Facilities: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Advanced soil testing lab (cyclic loading apparatus)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High-performance computing cluster for AI training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Wind tunnel and wave flume testing facilities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Active international PhD programs (CSC, bilateral)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3/22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A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AA33"/>
                </a:solidFill>
                <a:latin typeface="Calibri"/>
              </a:defRPr>
            </a:pPr>
            <a:r>
              <a:t>Acceptance Letter (邀请函) &amp; PhD Admission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52120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A33"/>
                </a:solidFill>
                <a:latin typeface="Calibri"/>
              </a:defRPr>
            </a:pPr>
            <a:r>
              <a:t>📄  Invitation/Acceptance Letter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Official invitation letter (邀请函) received from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Zhejiang University, College of Civil Engineering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The letter confirms: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✓  Acceptance as a visiting researcher / PhD student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✓  Access to research facilities and computing resources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✓  Supervision by faculty in offshore engineering group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✓  Research topic: AI-driven prediction of pile foundation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   stiffness degradation under typhoon conditions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Duration: Full academic year research period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Status: Officially accepted and confirmed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File reference: 邀请函 (1).pdf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486400" cy="52120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A87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78FF"/>
                </a:solidFill>
                <a:latin typeface="Calibri"/>
              </a:defRPr>
            </a:pPr>
            <a:r>
              <a:t>🎓  PhD Program — Next Academic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PhD admission document received and processed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(Reference: 20260417160802100_17 (1).pdf)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Program: Doctoral research in Civil/Structural Engineering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with specialisation in AI for Infrastructure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Framework: Joint supervision between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Moroccan university (home institution)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Zhejiang University (host institution)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Research will continue for the next academic year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building upon the work initiated during the internship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Expected outcomes: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Published research papers (international journals)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PhD thesis contribution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Developed codebase &amp; web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4/22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EC9B0"/>
                </a:solidFill>
                <a:latin typeface="Calibri"/>
              </a:defRPr>
            </a:pPr>
            <a:r>
              <a:t>Supervision &amp; Collaboration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25603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B0"/>
                </a:solidFill>
                <a:latin typeface="Calibri"/>
              </a:defRPr>
            </a:pPr>
            <a:r>
              <a:t>Joint Supervision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This research internship operates under a bilateral collaboration between Morocco and China.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The student (KHALIL Youssef) conducts research at Zhejiang University under Chinese supervision,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while maintaining academic reporting to the Moroccan university supervisor.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Research findings, codebase, and publications are shared between both institutions.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The project aligns with NSFC (National Natural Science Foundation of China) funded research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on typhoon-resistant design of offshore wind turbine foundations (面上项目 — General Program).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40480"/>
            <a:ext cx="5394960" cy="25603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C12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1272D"/>
                </a:solidFill>
                <a:latin typeface="Calibri"/>
              </a:defRPr>
            </a:pPr>
            <a:r>
              <a:t>🇲🇦  Morocco — Home Institution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University: Moroccan University (Home)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Role: Academic framework &amp; thesis committee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Responsibilities: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Validate research direction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Thesis evaluation &amp; defense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Academic administration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5486400" cy="25603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931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🇨🇳  China — Host Institution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3891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University: Zhejiang University (浙江大学)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Role: Research execution &amp; lab access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Responsibilities: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Daily research supervision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Access to data, computing, labs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Research paper co-authorship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5/22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6B"/>
                </a:solidFill>
                <a:latin typeface="Calibri"/>
              </a:defRPr>
            </a:pPr>
            <a:r>
              <a:t>Research Topic — 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Predicting pile foundation stiffness degradation under typhoon-induced cyclic loading using physics-informed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3657600" cy="48463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A33"/>
                </a:solidFill>
                <a:latin typeface="Calibri"/>
              </a:defRPr>
            </a:pPr>
            <a:r>
              <a:t>🌍 Global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Offshore wind energy is expanding rapidly worldwide.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China plans 100+ GW of offshore wind by 2030.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Morocco is developing its own offshore wind capacity.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Most turbines use monopile foundations (5m diameter).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Typhoons and storms create extreme cyclic loading.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Foundation integrity is critical for safety &amp; cost.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463040"/>
            <a:ext cx="3657600" cy="48463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Calibri"/>
              </a:defRPr>
            </a:pPr>
            <a:r>
              <a:t>⚡ 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0116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When typhoons hit, soil around the pile degrades.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Stiffness (how well the pile resists displacement) drops.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If stiffness drops too much → resonance → failure.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Current methods: expensive physical tests or slow FEM.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No fast, accurate tool exists for real-time prediction.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Engineers need a "what-if" simulator for design.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657600" cy="48463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B0"/>
                </a:solidFill>
                <a:latin typeface="Calibri"/>
              </a:defRPr>
            </a:pPr>
            <a:r>
              <a:t>🧠 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Build an AI "Digital Twin" of the pile-soil system.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The AI learns from real experimental data.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It encodes fundamental physics laws into the network.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Predictions are instantaneous (milliseconds vs hours).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Engineers can test thousands of scenarios quickly.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The model is explainable — not a black box.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6/22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A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AA33"/>
                </a:solidFill>
                <a:latin typeface="Calibri"/>
              </a:defRPr>
            </a:pPr>
            <a:r>
              <a:t>Engineering Problem: Pile Stiffness Degradation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21031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A33"/>
                </a:solidFill>
                <a:latin typeface="Calibri"/>
              </a:defRPr>
            </a:pPr>
            <a:r>
              <a:t>What Happens During a Typhoon?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1. Wind &amp; waves create cyclic lateral forces on the offshore wind turbine structure.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2. These forces are transferred through the tower to the monopile foundation in the seabed.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3. The surrounding soil is repeatedly loaded and unloaded → the soil progressively weakens.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4. This weakening is measured as three stiffness parameters that change over time: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83280"/>
            <a:ext cx="3566160" cy="27432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474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Calibri"/>
              </a:defRPr>
            </a:pPr>
            <a:r>
              <a:t>KL — Lateral Stiffness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840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Resistance to sideways movement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206240"/>
            <a:ext cx="1645920" cy="292608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↓ Decreases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6634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KL &lt; 0 drops (soil gets weaker laterally)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2120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88"/>
                </a:solidFill>
                <a:latin typeface="Calibri"/>
              </a:defRPr>
            </a:pPr>
            <a:r>
              <a:t>Hard-coded in the AI model</a:t>
            </a:r>
            <a:br/>
            <a:r>
              <a:t>(impossible to violate)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383280"/>
            <a:ext cx="3566160" cy="27432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3474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alibri"/>
              </a:defRPr>
            </a:pPr>
            <a:r>
              <a:t>KR — Rotational Stiffness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840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Resistance to rocking/tilting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4206240"/>
            <a:ext cx="1645920" cy="292608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↓ Decreases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6634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KR &lt; 0 drops (soil resists less against tilting)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52120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88"/>
                </a:solidFill>
                <a:latin typeface="Calibri"/>
              </a:defRPr>
            </a:pPr>
            <a:r>
              <a:t>Hard-coded in the AI model</a:t>
            </a:r>
            <a:br/>
            <a:r>
              <a:t>(impossible to violate)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383280"/>
            <a:ext cx="3566160" cy="27432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474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Calibri"/>
              </a:defRPr>
            </a:pPr>
            <a:r>
              <a:t>KLR — Cross-Coupling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840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Interaction between lateral &amp; rotational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4206240"/>
            <a:ext cx="1645920" cy="292608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↑ Increases (→0)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6634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KLR is negative, it increases toward zero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52120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88"/>
                </a:solidFill>
                <a:latin typeface="Calibri"/>
              </a:defRPr>
            </a:pPr>
            <a:r>
              <a:t>Hard-coded in the AI model</a:t>
            </a:r>
            <a:br/>
            <a:r>
              <a:t>(impossible to violate)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7/22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Calibri"/>
              </a:defRPr>
            </a:pPr>
            <a:r>
              <a:t>Data &amp; Physical Input Parameters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6858000" cy="53035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8 Input Features (Soil &amp; Pile Properties)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6400800" cy="4572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t>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Plasticity 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Soil classification (how "clayey" the soil is)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30552"/>
            <a:ext cx="6400800" cy="457200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762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t>Gmax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176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Maximum Shear Modulus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762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Initial stiffness of the soil (Pa)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660904"/>
            <a:ext cx="6400800" cy="4572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0662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t>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7066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Poisson's 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7066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Ratio of lateral to axial strain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91256"/>
            <a:ext cx="6400800" cy="457200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23697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t>Dp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2369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Pile Diameter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2369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Diameter of the monopile (m)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21608"/>
            <a:ext cx="6400800" cy="4572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7673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t>Tp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37673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Pile Wall Thickness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767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Thickness of the pile wall (m)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251960"/>
            <a:ext cx="6400800" cy="457200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2976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t>Lp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Pile Embedded Length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Length of pile inside the seabed (m)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782312"/>
            <a:ext cx="6400800" cy="4572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82803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t>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828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Moment of Inertia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8280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Pile cross-section's resistance to bending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312664"/>
            <a:ext cx="6400800" cy="457200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35838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t>Dp/Lp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53583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Diameter-to-Length Ratio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53583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Aspect ratio of the pile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0" y="1005840"/>
            <a:ext cx="4114800" cy="53035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Calibri"/>
              </a:defRPr>
            </a:pPr>
            <a:r>
              <a:t>Dataset Summary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1645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Total Scenarios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1645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1,019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22402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Training Set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2240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EC9B0"/>
                </a:solidFill>
                <a:latin typeface="Calibri"/>
              </a:defRPr>
            </a:pPr>
            <a:r>
              <a:t>815 (80%)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28346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Test Set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204 (20%)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3429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Time Steps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0" y="3429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AA33"/>
                </a:solidFill>
                <a:latin typeface="Calibri"/>
              </a:defRPr>
            </a:pPr>
            <a:r>
              <a:t>21 per scenario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4023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Output Variables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4023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 (KL, KR, KLR)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0" y="4617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Output Shape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4617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888899"/>
                </a:solidFill>
                <a:latin typeface="Calibri"/>
              </a:defRPr>
            </a:pPr>
            <a:r>
              <a:t>[B, 21, 3]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5303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Data: Real experimental data from</a:t>
            </a:r>
            <a:br/>
            <a:r>
              <a:t>cyclic loading tests on monopiles</a:t>
            </a:r>
            <a:br/>
            <a:r>
              <a:t>(REAL DATA.xlsx — 44 cycles per scenario,</a:t>
            </a:r>
            <a:br/>
            <a:r>
              <a:t>subsampled to 21 representative steps)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8/22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EC9B0"/>
                </a:solidFill>
                <a:latin typeface="Calibri"/>
              </a:defRPr>
            </a:pPr>
            <a:r>
              <a:t>AI Approach — Physics-Informed Digital Twin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14630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Calibri"/>
              </a:defRPr>
            </a:pPr>
            <a:r>
              <a:t>Core Concept: Combine AI Power with Engineering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Unlike pure black-box AI, our model embeds fundamental physics laws directly into the neural network architecture.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The model CANNOT violate these laws — they are structural constraints, not just penalties in the loss function.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743200"/>
            <a:ext cx="3657600" cy="36576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8346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🧠 Slot Attention</a:t>
            </a:r>
            <a:br/>
            <a:r>
              <a:t>Transformer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21 learnable memory "slots"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Cross-attention to input data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Self-attention between slots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Iterative refinement (3 rounds)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Each slot specializes in one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degradation time step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743200"/>
            <a:ext cx="3657600" cy="36576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8346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A33"/>
                </a:solidFill>
                <a:latin typeface="Calibri"/>
              </a:defRPr>
            </a:pPr>
            <a:r>
              <a:t>⚙️ Physics</a:t>
            </a:r>
            <a:br/>
            <a:r>
              <a:t>Constraints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47472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KL, KR drops forced ≤ 0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KLR drops forced ≥ 0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Cumulative sum ensures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monotonic trajectories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Signed-log scaling preserves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sign information (KLR &lt; 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743200"/>
            <a:ext cx="3657600" cy="36576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A87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28346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78FF"/>
                </a:solidFill>
                <a:latin typeface="Calibri"/>
              </a:defRPr>
            </a:pPr>
            <a:r>
              <a:t>🔬 Ψ-NN Structure</a:t>
            </a:r>
            <a:br/>
            <a:r>
              <a:t>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347472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20 slots → k* prototypes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K-Means clustering on slots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Relation matrix R maps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steps to prototypes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19.7% parameter reduction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Improved interpretability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9/22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Calibri"/>
              </a:defRPr>
            </a:pPr>
            <a:r>
              <a:t>Model Architecture — Slot Attention Transformer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486400" cy="10972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8 features: PI, Gmax, ν, Dp, Tp, Lp, Ip, Dp/Lp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515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[B, 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05840"/>
            <a:ext cx="5486400" cy="10972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A87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051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8FF"/>
                </a:solidFill>
                <a:latin typeface="Calibri"/>
              </a:defRPr>
            </a:pPr>
            <a:r>
              <a:t>EMBEDDING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371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Linear(8→64) + LayerNorm + GELU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10515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[B, 1, 64]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77440"/>
            <a:ext cx="5486400" cy="10972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23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A33"/>
                </a:solidFill>
                <a:latin typeface="Calibri"/>
              </a:defRPr>
            </a:pPr>
            <a:r>
              <a:t>21 LEARNABLE SLOTS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43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Slot 1 (initial) + Slots 2-21 (degradation)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23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[B, 21, 64]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377440"/>
            <a:ext cx="5486400" cy="10972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423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Calibri"/>
              </a:defRPr>
            </a:pPr>
            <a:r>
              <a:t>ITERATIVE REFINEMENT ×3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743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Cross-Attn → Self-Attn → SwiGLU MLP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2423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[B, 21, 64]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49040"/>
            <a:ext cx="5486400" cy="10972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794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alibri"/>
              </a:defRPr>
            </a:pPr>
            <a:r>
              <a:t>SLOT 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Slot 1 → Initial Head | Slots 2-21 → Drop Head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94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Split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749040"/>
            <a:ext cx="5486400" cy="10972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794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Calibri"/>
              </a:defRPr>
            </a:pPr>
            <a:r>
              <a:t>PHYSICS CONSTRAINTS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ΔKL,ΔKR = -|d|  |  ΔKLR = +|d|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3794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Hard-coded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120640"/>
            <a:ext cx="5486400" cy="10972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888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166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8899"/>
                </a:solidFill>
                <a:latin typeface="Calibri"/>
              </a:defRPr>
            </a:pPr>
            <a:r>
              <a:t>CUMULATIVE SUM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486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K(t) = K⁰ + Σ constrained drops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166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[B, 21, 3]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120640"/>
            <a:ext cx="5486400" cy="10972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5166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5486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KL(t), KR(t), KLR(t) for t=1...21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5166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[B, 21, 3]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10/22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A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AA33"/>
                </a:solidFill>
                <a:latin typeface="Calibri"/>
              </a:defRPr>
            </a:pPr>
            <a:r>
              <a:t>Model Evolution: M5 → M6 → M7 → M8 → M9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10058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078992"/>
            <a:ext cx="731520" cy="292608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M5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51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LSTM + Slot Attn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Baseline with LSTM decoder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097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157,958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417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99"/>
                </a:solidFill>
                <a:latin typeface="Calibri"/>
              </a:defRPr>
            </a:pPr>
            <a:r>
              <a:t>params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097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9B0"/>
                </a:solidFill>
                <a:latin typeface="Calibri"/>
              </a:defRPr>
            </a:pPr>
            <a:r>
              <a:t>R²=0.9913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1430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Calibri"/>
              </a:defRPr>
            </a:pPr>
            <a:r>
              <a:t>LSTM decoder for sequential drops | 2 refinement iterations | KLR unconstrained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21408"/>
            <a:ext cx="11247120" cy="10058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194560"/>
            <a:ext cx="731520" cy="292608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M6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1671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Simplified Teacher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487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Remove LSTM, add KLR constraint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2128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56,646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5328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99"/>
                </a:solidFill>
                <a:latin typeface="Calibri"/>
              </a:defRPr>
            </a:pPr>
            <a:r>
              <a:t>params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128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9B0"/>
                </a:solidFill>
                <a:latin typeface="Calibri"/>
              </a:defRPr>
            </a:pPr>
            <a:r>
              <a:t>R²=0.9804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258568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Calibri"/>
              </a:defRPr>
            </a:pPr>
            <a:r>
              <a:t>Remove LSTM (64% fewer params) | 3 refinement iterations | All 3 stiffnesses constrained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36976"/>
            <a:ext cx="11247120" cy="10058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64B5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3310128"/>
            <a:ext cx="731520" cy="292608"/>
          </a:xfrm>
          <a:prstGeom prst="round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M7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2826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Baseline Ψ-NN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027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First compression attempt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3284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B5F6"/>
                </a:solidFill>
                <a:latin typeface="Calibri"/>
              </a:defRPr>
            </a:pPr>
            <a:r>
              <a:t>55,770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64845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99"/>
                </a:solidFill>
                <a:latin typeface="Calibri"/>
              </a:defRPr>
            </a:pPr>
            <a:r>
              <a:t>params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3284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9B0"/>
                </a:solidFill>
                <a:latin typeface="Calibri"/>
              </a:defRPr>
            </a:pPr>
            <a:r>
              <a:t>R²=0.9897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374136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Calibri"/>
              </a:defRPr>
            </a:pPr>
            <a:r>
              <a:t>3-stage pipeline (first attempt) | Fixed relation matrix R | k*=6 prototypes, wide MLP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352544"/>
            <a:ext cx="11247120" cy="10058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4360" y="4425696"/>
            <a:ext cx="731520" cy="292608"/>
          </a:xfrm>
          <a:prstGeom prst="round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M8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3982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Efficient Ψ-NN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7183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Bottleneck MLP + Learnable 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4439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B74D"/>
                </a:solidFill>
                <a:latin typeface="Calibri"/>
              </a:defRPr>
            </a:pPr>
            <a:r>
              <a:t>45,486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76402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99"/>
                </a:solidFill>
                <a:latin typeface="Calibri"/>
              </a:defRPr>
            </a:pPr>
            <a:r>
              <a:t>params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44398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9B0"/>
                </a:solidFill>
                <a:latin typeface="Calibri"/>
              </a:defRPr>
            </a:pPr>
            <a:r>
              <a:t>R²=0.9882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489704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Calibri"/>
              </a:defRPr>
            </a:pPr>
            <a:r>
              <a:t>Bottleneck MLP (64→48→64) | Learnable R (softmax logits) | Physics-monotonic loss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468112"/>
            <a:ext cx="11247120" cy="10058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94360" y="5541264"/>
            <a:ext cx="731520" cy="292608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M9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55138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SwiGLU Ψ-NN 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58338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Best: SwiGLU gating mechanism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55595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Calibri"/>
              </a:defRPr>
            </a:pPr>
            <a:r>
              <a:t>45,502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58795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99"/>
                </a:solidFill>
                <a:latin typeface="Calibri"/>
              </a:defRPr>
            </a:pPr>
            <a:r>
              <a:t>params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55595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Calibri"/>
              </a:defRPr>
            </a:pPr>
            <a:r>
              <a:t>R²=0.9891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60527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Calibri"/>
              </a:defRPr>
            </a:pPr>
            <a:r>
              <a:t>SwiGLU feed-forward (gate×value) | Same param count as M8 | Higher R² from better gating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11/22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FF88"/>
                </a:solidFill>
                <a:latin typeface="Calibri"/>
              </a:defRPr>
            </a:pPr>
            <a:r>
              <a:t>M9: SwiGLU Ψ-NN — The Current State of the 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6400800" cy="53035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Calibri"/>
              </a:defRPr>
            </a:pPr>
            <a:r>
              <a:t>What is SwiGLU? (The Key Innovation)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SwiGLU = Swish-Gated Linear Unit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Used in state-of-the-art AI: LLaMA, PaLM, Mistral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How it works (inside each slot's feed-forward block):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   Input x (64-dim vector)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      ↓                 ↓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   W_gate · x       W_val · x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      ↓                 ↓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   SiLU(·)          (raw value)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      ↓                 ↓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   gate    ×    value   ← element-wise multiply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      ↓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   W_out · (gated) → Output (64-dim)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Why it's better: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  • The gate learns WHICH features to propagate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  • More expressive than simple GELU at same param count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  • 6,272 params (≈ same as M8's 6,256)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  • But achieves higher R² (0.9891 vs 0.9882)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005840"/>
            <a:ext cx="4572000" cy="53035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0972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M9 Performance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554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FF88"/>
                </a:solidFill>
                <a:latin typeface="Calibri"/>
              </a:defRPr>
            </a:pPr>
            <a:r>
              <a:t>45,502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901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Compression vs M6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19019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AA33"/>
                </a:solidFill>
                <a:latin typeface="Calibri"/>
              </a:defRPr>
            </a:pPr>
            <a:r>
              <a:t>19.7% fewer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2494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Prototypes k*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2494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D2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5968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SwiGLU hidden dim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5968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FF88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291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Overall R²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3291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FF88"/>
                </a:solidFill>
                <a:latin typeface="Calibri"/>
              </a:defRPr>
            </a:pPr>
            <a:r>
              <a:t>0.9891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6393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KL R²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6393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0.9905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9867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KR R²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39867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0.9796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3342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KLR R²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43342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0.9860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Curve MAPE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5029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AA33"/>
                </a:solidFill>
                <a:latin typeface="Calibri"/>
              </a:defRPr>
            </a:pPr>
            <a:r>
              <a:t>2.37%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53766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Curve R²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53766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4EC9B0"/>
                </a:solidFill>
                <a:latin typeface="Calibri"/>
              </a:defRPr>
            </a:pPr>
            <a:r>
              <a:t>0.9829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57241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Test Scenarios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57241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D2FF"/>
                </a:solidFill>
                <a:latin typeface="Calibri"/>
              </a:defRPr>
            </a:pPr>
            <a:r>
              <a:t>204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12/22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A87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A878FF"/>
                </a:solidFill>
                <a:latin typeface="Calibri"/>
              </a:defRPr>
            </a:pPr>
            <a:r>
              <a:t>3-Stage Ψ-NN Training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657600" cy="52120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1280160" cy="292608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STAGE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Distillation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M6 teacher (56,646 params) is frozen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Student learns to mimic teacher output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SwiGLU MLP in student (M9 upgrade)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L1 regularisation → sparse slot patterns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Loss = Distill + 0.5·Data + μ·L1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2,000 epochs, patience=150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097280"/>
            <a:ext cx="3657600" cy="52120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188720"/>
            <a:ext cx="1280160" cy="292608"/>
          </a:xfrm>
          <a:prstGeom prst="roundRect">
            <a:avLst/>
          </a:prstGeom>
          <a:solidFill>
            <a:srgbClr val="FFA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STAGE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Structure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10312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Extract student's 20 drop-slot vectors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Average across all training scenarios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K-Means clustering (k=2..10)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Silhouette score → optimal k*=5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Build relation matrix R (20×5)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R maps each step to prototypes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97280"/>
            <a:ext cx="3657600" cy="52120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83880" y="1188720"/>
            <a:ext cx="1280160" cy="292608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STAGE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Ψ-Model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10312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Build Ψ-model with k*=5 prototypes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Initialize from Stage B centroids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Learnable R: softmax(logits)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Multi-objective loss: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  Distill + Data + Initial·5 + Shape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•   + 0.02·Entropy + 0.2·PhysicsMono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878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878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13/22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6B"/>
                </a:solidFill>
                <a:latin typeface="Calibri"/>
              </a:defRPr>
            </a:pPr>
            <a:r>
              <a:t>Physics Constraints Embedded in the AI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A33"/>
                </a:solidFill>
                <a:latin typeface="Calibri"/>
              </a:defRPr>
            </a:pPr>
            <a:r>
              <a:t>7 physics constraints are hard-coded — the model structurally CANNOT violate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658368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1. Sign Enforcement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2984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ΔKL = -|d₁| ≤ 0, ΔKR = -|d₂| ≤ 0, ΔKLR = +|d₃| ≥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600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Using -abs() and +abs() — impossible to produce wrong signs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444752"/>
            <a:ext cx="1463040" cy="292608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Architectural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29968"/>
            <a:ext cx="11247120" cy="658368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482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2. Monotonic Curves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04825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K(t) = K⁰ + cumsum(constrained drops)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3500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Cumulative sum of sign-enforced drops guarantees monotonicity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2194560"/>
            <a:ext cx="1463040" cy="292608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Architectural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79776"/>
            <a:ext cx="11247120" cy="658368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980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3. Initial/Drop 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7980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Slot 1 → initial head, Slots 2-21 → drop 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099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Separate MLPs reflect the physical distinction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2944368"/>
            <a:ext cx="1463040" cy="292608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Architectural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29584"/>
            <a:ext cx="11247120" cy="658368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888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547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A33"/>
                </a:solidFill>
                <a:latin typeface="Calibri"/>
              </a:defRPr>
            </a:pPr>
            <a:r>
              <a:t>4. Signed Log Scaling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5478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y_log = sign(y) · log(1+|y|)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8496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Preserves that KLR &lt; 0 while KL, KR &gt; 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3694176"/>
            <a:ext cx="1463040" cy="292608"/>
          </a:xfrm>
          <a:prstGeom prst="roundRect">
            <a:avLst/>
          </a:prstGeom>
          <a:solidFill>
            <a:srgbClr val="FFA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Preprocessing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79392"/>
            <a:ext cx="11247120" cy="658368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888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A33"/>
                </a:solidFill>
                <a:latin typeface="Calibri"/>
              </a:defRPr>
            </a:pPr>
            <a:r>
              <a:t>5. Weighted Initial Loss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297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L_initial = 5 × MSE on step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5994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First step accuracy is critical (cumsum base)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4443984"/>
            <a:ext cx="1463040" cy="292608"/>
          </a:xfrm>
          <a:prstGeom prst="roundRect">
            <a:avLst/>
          </a:prstGeom>
          <a:solidFill>
            <a:srgbClr val="FFA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Training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029200"/>
            <a:ext cx="11247120" cy="658368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888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0474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A33"/>
                </a:solidFill>
                <a:latin typeface="Calibri"/>
              </a:defRPr>
            </a:pPr>
            <a:r>
              <a:t>6. Shape Preservation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50474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Huber loss on first differences (Δpred vs Δtarget)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5349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Ensures the degradation curve shape matches reality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0" y="5193792"/>
            <a:ext cx="1463040" cy="292608"/>
          </a:xfrm>
          <a:prstGeom prst="roundRect">
            <a:avLst/>
          </a:prstGeom>
          <a:solidFill>
            <a:srgbClr val="FFA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Training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779008"/>
            <a:ext cx="11247120" cy="658368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888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7972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A33"/>
                </a:solidFill>
                <a:latin typeface="Calibri"/>
              </a:defRPr>
            </a:pPr>
            <a:r>
              <a:t>7. Physics-Monotonic Penalty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579729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relu(ΔKL) + relu(ΔKR) + relu(-ΔKLR) × 0.2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6099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Additional soft penalty in training loss (M8/M9)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58400" y="5943600"/>
            <a:ext cx="1463040" cy="292608"/>
          </a:xfrm>
          <a:prstGeom prst="roundRect">
            <a:avLst/>
          </a:prstGeom>
          <a:solidFill>
            <a:srgbClr val="FFA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Training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14/22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EC9B0"/>
                </a:solidFill>
                <a:latin typeface="Calibri"/>
              </a:defRPr>
            </a:pPr>
            <a:r>
              <a:t>Results &amp; Performance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2651760" cy="14630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99"/>
                </a:solidFill>
                <a:latin typeface="Calibri"/>
              </a:defRPr>
            </a:pPr>
            <a:r>
              <a:t>Overall R²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9B0"/>
                </a:solidFill>
                <a:latin typeface="Calibri"/>
              </a:defRPr>
            </a:pPr>
            <a:r>
              <a:t>0.9891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Model explains 98.9%</a:t>
            </a:r>
            <a:br/>
            <a:r>
              <a:t>of variance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005840"/>
            <a:ext cx="2651760" cy="14630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051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99"/>
                </a:solidFill>
                <a:latin typeface="Calibri"/>
              </a:defRPr>
            </a:pPr>
            <a:r>
              <a:t>Curve MAPE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325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AA33"/>
                </a:solidFill>
                <a:latin typeface="Calibri"/>
              </a:defRPr>
            </a:pPr>
            <a:r>
              <a:t>2.37%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Mean Abs % Error</a:t>
            </a:r>
            <a:br/>
            <a:r>
              <a:t>across all curves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005840"/>
            <a:ext cx="2651760" cy="14630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051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99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325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45,502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19.7% fewer than</a:t>
            </a:r>
            <a:br/>
            <a:r>
              <a:t>M6 teacher (56,646)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005840"/>
            <a:ext cx="2651760" cy="14630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A87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1051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99"/>
                </a:solidFill>
                <a:latin typeface="Calibri"/>
              </a:defRPr>
            </a:pPr>
            <a:r>
              <a:t>Test Scenarios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1325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78FF"/>
                </a:solidFill>
                <a:latin typeface="Calibri"/>
              </a:defRPr>
            </a:pPr>
            <a:r>
              <a:t>204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Out of 1,019 total</a:t>
            </a:r>
            <a:br/>
            <a:r>
              <a:t>(20% held-out)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743200"/>
            <a:ext cx="11247120" cy="35661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Per-Variable Performance (M9 vs M6 Teacher)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46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Variable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246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88899"/>
                </a:solidFill>
                <a:latin typeface="Calibri"/>
              </a:defRPr>
            </a:pPr>
            <a:r>
              <a:t>M6 Teacher R²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246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FF88"/>
                </a:solidFill>
                <a:latin typeface="Calibri"/>
              </a:defRPr>
            </a:pPr>
            <a:r>
              <a:t>M9 Ψ-NN R²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246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AA33"/>
                </a:solidFill>
                <a:latin typeface="Calibri"/>
              </a:defRPr>
            </a:pPr>
            <a:r>
              <a:t>Improvement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3246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AA33"/>
                </a:solidFill>
                <a:latin typeface="Calibri"/>
              </a:defRPr>
            </a:pPr>
            <a:r>
              <a:t>M9 MAPE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3246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AA33"/>
                </a:solidFill>
                <a:latin typeface="Calibri"/>
              </a:defRPr>
            </a:pPr>
            <a:r>
              <a:t>M9 NRMSE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657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KL (Lateral)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3657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0.9768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3657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FF88"/>
                </a:solidFill>
                <a:latin typeface="Calibri"/>
              </a:defRPr>
            </a:pPr>
            <a:r>
              <a:t>0.9905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3657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A33"/>
                </a:solidFill>
                <a:latin typeface="Calibri"/>
              </a:defRPr>
            </a:pPr>
            <a:r>
              <a:t>+0.0137 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0" y="3657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2.32%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3657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160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KR (Rotational)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" y="4160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0.9634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160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FF88"/>
                </a:solidFill>
                <a:latin typeface="Calibri"/>
              </a:defRPr>
            </a:pPr>
            <a:r>
              <a:t>0.9796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4160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A33"/>
                </a:solidFill>
                <a:latin typeface="Calibri"/>
              </a:defRPr>
            </a:pPr>
            <a:r>
              <a:t>+0.0162 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80" y="4160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2.42%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4160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663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KLR (Cross-Coupling)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4663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0.9690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4663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FF88"/>
                </a:solidFill>
                <a:latin typeface="Calibri"/>
              </a:defRPr>
            </a:pPr>
            <a:r>
              <a:t>0.9860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663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A33"/>
                </a:solidFill>
                <a:latin typeface="Calibri"/>
              </a:defRPr>
            </a:pPr>
            <a:r>
              <a:t>+0.0170 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80" y="4663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2.38%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4663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166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Overall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68880" y="5166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CCDD"/>
                </a:solidFill>
                <a:latin typeface="Calibri"/>
              </a:defRPr>
            </a:pPr>
            <a:r>
              <a:t>0.9804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97680" y="5166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Calibri"/>
              </a:defRPr>
            </a:pPr>
            <a:r>
              <a:t>0.9891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5166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A33"/>
                </a:solidFill>
                <a:latin typeface="Calibri"/>
              </a:defRPr>
            </a:pPr>
            <a:r>
              <a:t>+0.0087 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80" y="5166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CCDD"/>
                </a:solidFill>
                <a:latin typeface="Calibri"/>
              </a:defRPr>
            </a:pPr>
            <a:r>
              <a:t>2.37%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5166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CCD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669280"/>
            <a:ext cx="11247120" cy="54864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Calibri"/>
              </a:defRPr>
            </a:pPr>
            <a:r>
              <a:t>✦ M9 surpasses the M6 teacher on ALL variables while using 19.7% fewer parameters — the student has surpassed the teacher through structure discovery + SwiGLU gating.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15/22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Calibri"/>
              </a:defRPr>
            </a:pPr>
            <a:r>
              <a:t>Full Model Comparison: M6 → M7 → M8 → M9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2194560" cy="4114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005840"/>
            <a:ext cx="2194560" cy="4114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888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024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88899"/>
                </a:solidFill>
                <a:latin typeface="Calibri"/>
              </a:defRPr>
            </a:pPr>
            <a:r>
              <a:t>M6 Teacher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005840"/>
            <a:ext cx="2194560" cy="4114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64B5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024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B5F6"/>
                </a:solidFill>
                <a:latin typeface="Calibri"/>
              </a:defRPr>
            </a:pPr>
            <a:r>
              <a:t>M7 Ψ-NN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005840"/>
            <a:ext cx="2194560" cy="4114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024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74D"/>
                </a:solidFill>
                <a:latin typeface="Calibri"/>
              </a:defRPr>
            </a:pPr>
            <a:r>
              <a:t>M8 Efficient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005840"/>
            <a:ext cx="2194560" cy="4114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1024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Calibri"/>
              </a:defRPr>
            </a:pPr>
            <a:r>
              <a:t>M9 SwiGLU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508760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53619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1508760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24912" y="153619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56,646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1508760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10912" y="153619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B5F6"/>
                </a:solidFill>
                <a:latin typeface="Calibri"/>
              </a:defRPr>
            </a:pPr>
            <a:r>
              <a:t>55,770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1508760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6912" y="153619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45,486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1508760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82912" y="153619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FF88"/>
                </a:solidFill>
                <a:latin typeface="Calibri"/>
              </a:defRPr>
            </a:pPr>
            <a:r>
              <a:t>45,502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1947672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1975104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Compression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51760" y="1947672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24912" y="1975104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37760" y="1947672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10912" y="1975104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B5F6"/>
                </a:solidFill>
                <a:latin typeface="Calibri"/>
              </a:defRPr>
            </a:pPr>
            <a:r>
              <a:t>1.5%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3760" y="1947672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96912" y="1975104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19.7%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60" y="1947672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82912" y="1975104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FF88"/>
                </a:solidFill>
                <a:latin typeface="Calibri"/>
              </a:defRPr>
            </a:pPr>
            <a:r>
              <a:t>19.7%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2386584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2414016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Slot MLP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51760" y="2386584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24912" y="2414016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GELU 128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37760" y="2386584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10912" y="2414016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B5F6"/>
                </a:solidFill>
                <a:latin typeface="Calibri"/>
              </a:defRPr>
            </a:pPr>
            <a:r>
              <a:t>GELU 128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23760" y="2386584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96912" y="2414016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Bottleneck 48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09760" y="2386584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82912" y="2414016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FF88"/>
                </a:solidFill>
                <a:latin typeface="Calibri"/>
              </a:defRPr>
            </a:pPr>
            <a:r>
              <a:t>SwiGLU 32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2825496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" y="2852928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k* Prototypes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51760" y="2825496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24912" y="2852928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37760" y="2825496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10912" y="2852928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B5F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23760" y="2825496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96912" y="2852928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509760" y="2825496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82912" y="2852928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FF8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5760" y="3264408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" y="3291840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Relation Matrix 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651760" y="3264408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24912" y="3291840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937760" y="3264408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10912" y="3291840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B5F6"/>
                </a:solidFill>
                <a:latin typeface="Calibri"/>
              </a:defRPr>
            </a:pPr>
            <a:r>
              <a:t>Fixed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223760" y="3264408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96912" y="3291840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Learnable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509760" y="3264408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82912" y="3291840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FF88"/>
                </a:solidFill>
                <a:latin typeface="Calibri"/>
              </a:defRPr>
            </a:pPr>
            <a:r>
              <a:t>Learnable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65760" y="3703320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8912" y="373075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Physics Loss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651760" y="3703320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24912" y="373075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937760" y="3703320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10912" y="373075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B5F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223760" y="3703320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296912" y="373075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✓ λ=0.2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509760" y="3703320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582912" y="373075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FF88"/>
                </a:solidFill>
                <a:latin typeface="Calibri"/>
              </a:defRPr>
            </a:pPr>
            <a:r>
              <a:t>✓ λ=0.2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65760" y="4142232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38912" y="4169664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Entropy Reg.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651760" y="4142232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24912" y="4169664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937760" y="4142232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10912" y="4169664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B5F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223760" y="4142232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296912" y="4169664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✓ λ=0.02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509760" y="4142232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582912" y="4169664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FF88"/>
                </a:solidFill>
                <a:latin typeface="Calibri"/>
              </a:defRPr>
            </a:pPr>
            <a:r>
              <a:t>✓ λ=0.02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65760" y="4581144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8912" y="4608576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Overall R²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651760" y="4581144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724912" y="4608576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0.9804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937760" y="4581144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010912" y="4608576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FF88"/>
                </a:solidFill>
                <a:latin typeface="Calibri"/>
              </a:defRPr>
            </a:pPr>
            <a:r>
              <a:t>0.9897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223760" y="4581144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296912" y="4608576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0.9882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509760" y="4581144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582912" y="4608576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FF88"/>
                </a:solidFill>
                <a:latin typeface="Calibri"/>
              </a:defRPr>
            </a:pPr>
            <a:r>
              <a:t>0.9891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65760" y="5020056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38912" y="5047488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KL R²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651760" y="5020056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24912" y="5047488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0.9768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937760" y="5020056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10912" y="5047488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FF88"/>
                </a:solidFill>
                <a:latin typeface="Calibri"/>
              </a:defRPr>
            </a:pPr>
            <a:r>
              <a:t>0.9910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223760" y="5020056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296912" y="5047488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0.9888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509760" y="5020056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582912" y="5047488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FF88"/>
                </a:solidFill>
                <a:latin typeface="Calibri"/>
              </a:defRPr>
            </a:pPr>
            <a:r>
              <a:t>0.9905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65760" y="5458968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38912" y="5486400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KR R²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651760" y="5458968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724912" y="5486400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0.9634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937760" y="5458968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010912" y="5486400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FF88"/>
                </a:solidFill>
                <a:latin typeface="Calibri"/>
              </a:defRPr>
            </a:pPr>
            <a:r>
              <a:t>0.9807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223760" y="5458968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296912" y="5486400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0.9780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509760" y="5458968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582912" y="5486400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FF88"/>
                </a:solidFill>
                <a:latin typeface="Calibri"/>
              </a:defRPr>
            </a:pPr>
            <a:r>
              <a:t>0.9796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65760" y="5897880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38912" y="592531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KLR R²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651760" y="5897880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724912" y="592531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0.9690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937760" y="5897880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010912" y="592531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FF88"/>
                </a:solidFill>
                <a:latin typeface="Calibri"/>
              </a:defRPr>
            </a:pPr>
            <a:r>
              <a:t>0.9860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223760" y="5897880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296912" y="592531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0.9845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9509760" y="5897880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582912" y="592531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FF88"/>
                </a:solidFill>
                <a:latin typeface="Calibri"/>
              </a:defRPr>
            </a:pPr>
            <a:r>
              <a:t>0.9860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16/22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A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AA33"/>
                </a:solidFill>
                <a:latin typeface="Calibri"/>
              </a:defRPr>
            </a:pPr>
            <a:r>
              <a:t>Interactive Web Application &amp;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18288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A33"/>
                </a:solidFill>
                <a:latin typeface="Calibri"/>
              </a:defRPr>
            </a:pPr>
            <a:r>
              <a:t>A Full-Featured Web Dashboard Built with Flask + Chart.js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Real-time interactive visualization of the AI model's predictions vs real experimental data.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Engineers can browse all 204 test scenarios, inspect per-step values, and analyze errors.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The dashboard includes Ψ-NN structure discovery visualization, silhouette analysis, and feature importance.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356616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1821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t>📊 Prediction Charts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661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KL, KR, KLR curves:</a:t>
            </a:r>
            <a:br/>
            <a:r>
              <a:t>Target vs Predicted</a:t>
            </a:r>
            <a:br/>
            <a:r>
              <a:t>with error highlight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108960"/>
            <a:ext cx="356616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31821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9B0"/>
                </a:solidFill>
                <a:latin typeface="Calibri"/>
              </a:defRPr>
            </a:pPr>
            <a:r>
              <a:t>📋 Per-Step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5661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Step-by-step values</a:t>
            </a:r>
            <a:br/>
            <a:r>
              <a:t>with % error color-coded</a:t>
            </a:r>
            <a:br/>
            <a:r>
              <a:t>(green &lt; 5%, red &gt; 20%)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108960"/>
            <a:ext cx="356616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31821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A33"/>
                </a:solidFill>
                <a:latin typeface="Calibri"/>
              </a:defRPr>
            </a:pPr>
            <a:r>
              <a:t>🔍 Scenario Browser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5661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Browse all 204 test cases</a:t>
            </a:r>
            <a:br/>
            <a:r>
              <a:t>with MAPE, R² ranking</a:t>
            </a:r>
            <a:br/>
            <a:r>
              <a:t>and input parameters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37760"/>
            <a:ext cx="356616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A87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0109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878FF"/>
                </a:solidFill>
                <a:latin typeface="Calibri"/>
              </a:defRPr>
            </a:pPr>
            <a:r>
              <a:t>🧩 Ψ-NN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3949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Prototype clusters,</a:t>
            </a:r>
            <a:br/>
            <a:r>
              <a:t>relation matrix heatmap,</a:t>
            </a:r>
            <a:br/>
            <a:r>
              <a:t>silhouette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4937760"/>
            <a:ext cx="356616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50109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6B"/>
                </a:solidFill>
                <a:latin typeface="Calibri"/>
              </a:defRPr>
            </a:pPr>
            <a:r>
              <a:t>⚠️ Worst-Case Diagnosis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53949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Top-10 worst scenarios</a:t>
            </a:r>
            <a:br/>
            <a:r>
              <a:t>feature importance bars</a:t>
            </a:r>
            <a:br/>
            <a:r>
              <a:t>correlation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4937760"/>
            <a:ext cx="356616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50109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alibri"/>
              </a:defRPr>
            </a:pPr>
            <a:r>
              <a:t>🔬 Model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53949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Full architecture schematic</a:t>
            </a:r>
            <a:br/>
            <a:r>
              <a:t>SwiGLU vs GELU comparison</a:t>
            </a:r>
            <a:br/>
            <a:r>
              <a:t>parameter breakdown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17/22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A87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A878FF"/>
                </a:solidFill>
                <a:latin typeface="Calibri"/>
              </a:defRPr>
            </a:pPr>
            <a:r>
              <a:t>Research Contributions &amp; Publication Potential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57784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alibri"/>
              </a:defRPr>
            </a:pPr>
            <a:r>
              <a:t>1. Novel Architecture: Ψ-NN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First application of structure-discovering neural networks to geotechnical engineering. The Ψ-NN pipeline automatically finds the optimal number of prototype components.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05840"/>
            <a:ext cx="557784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Calibri"/>
              </a:defRPr>
            </a:pPr>
            <a:r>
              <a:t>2. SwiGLU for Scientific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4630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First use of SwiGLU gating mechanism (from LLaMA/PaLM) in physics-informed models. Demonstrates that modern NLP techniques transfer to engineering domains.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557784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A33"/>
                </a:solidFill>
                <a:latin typeface="Calibri"/>
              </a:defRPr>
            </a:pPr>
            <a:r>
              <a:t>3. Hard-Coded Physics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918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All three stiffness variables have architecturally guaranteed monotonicity. Unlike soft penalty approaches, these constraints are impossible to violate.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834640"/>
            <a:ext cx="557784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907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Calibri"/>
              </a:defRPr>
            </a:pPr>
            <a:r>
              <a:t>4. Model Compression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2918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19.7% parameter reduction while improving accuracy (R² 0.9804 → 0.9891). The compressed student surpasses the teacher through structure discovery.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663440"/>
            <a:ext cx="557784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A87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7365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8FF"/>
                </a:solidFill>
                <a:latin typeface="Calibri"/>
              </a:defRPr>
            </a:pPr>
            <a:r>
              <a:t>5. Interactive Digital Twin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1206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Complete web application for real-time scenario analysis, error diagnosis, and feature importance visualization. Ready for engineering deployment.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663440"/>
            <a:ext cx="557784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7365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Calibri"/>
              </a:defRPr>
            </a:pPr>
            <a:r>
              <a:t>6. Comprehensive Methodology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1206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5 model versions (M5→M9) with systematic ablation: LSTM removal, MLP variants, learnable vs fixed R, physics loss — providing clear evidence for each design choice.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18/22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D700"/>
                </a:solidFill>
                <a:latin typeface="Calibri"/>
              </a:defRPr>
            </a:pPr>
            <a:r>
              <a:t>Research Proposal Context (面上项目申请书)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53035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NSFC General Program — Typhoon-Resistant OWT Foundation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The research is part of a funded proposal under the NSFC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(National Natural Science Foundation of China — 面上项目 General Program).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Research Title: AI-Driven Digital Twin for Predicting Post-Typhoon Natural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Frequency Shift in Offshore Wind Turbines with Degraded Pile Foundations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The proposal outlines a comprehensive framework integrating: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1. Support-Condition Module (SCm): Predicts pile stiffness degradation (KL, KR, KLR)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  from 8 soil/pile parameters over cyclic loading — this is what M6-M9 implements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2. Wind Turbine Module (WTm): Uses Rayleigh-Ritz analytical methods to compute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  the tower+blade natural frequencies given the degraded foundation stiffness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3. Coupled Digital Twin: SCm feeds into WTm → predicts resonance risk in real-time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4. Explainable AI (XAI): Layer-wise Relevance Propagation (LRP) for interpretability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5. Uncertainty Quantification: Monte Carlo Dropout for prediction confidence bounds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My internship contribution focuses on implementing and optimizing the SCm module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(the core AI prediction engine), which is the M6→M9 model evolution presented here.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Reference document: 面上项目申请书撰写提纲.pdf (NSFC proposal writing outline)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19/22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EC9B0"/>
                </a:solidFill>
                <a:latin typeface="Calibri"/>
              </a:defRPr>
            </a:pPr>
            <a:r>
              <a:t>Timeline &amp; Work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11247120" cy="10058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005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  <a:latin typeface="Calibri"/>
              </a:defRPr>
            </a:pPr>
            <a:r>
              <a:t>Phase 1 — 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075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Literature Review &amp;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097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Calibri"/>
              </a:defRPr>
            </a:pPr>
            <a:r>
              <a:t>Literature review on OWT pile degradation | Study of slot attention &amp; transformer architectures | Data preprocessing &amp; exploration (REAL DATA.xlsx)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11247120" cy="10058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88"/>
                </a:solidFill>
                <a:latin typeface="Calibri"/>
              </a:defRPr>
            </a:pPr>
            <a:r>
              <a:t>Phase 2 — 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505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Model Development (M5 → M9)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240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Calibri"/>
              </a:defRPr>
            </a:pPr>
            <a:r>
              <a:t>M5: Baseline LSTM+Slot Attention (157K params) | M6: Simplified teacher (56K params, LSTM removed) | M7→M8→M9: Ψ-NN compression pipeline | SwiGLU upgrade achieving state-of-the-art (R²=0.99)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46120"/>
            <a:ext cx="11247120" cy="10058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429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91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Phase 3 — Completed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935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Web Application &amp;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383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Calibri"/>
              </a:defRPr>
            </a:pPr>
            <a:r>
              <a:t>Full Flask+Chart.js web dashboard | Per-scenario analysis &amp; error diagnosis | Feature importance &amp; worst-case identification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389120"/>
            <a:ext cx="11247120" cy="10058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A33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434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A33"/>
                </a:solidFill>
                <a:latin typeface="Calibri"/>
              </a:defRPr>
            </a:pPr>
            <a:r>
              <a:t>Phase 4 — In Progress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365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PhD Year (Next Academic Year)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526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Calibri"/>
              </a:defRPr>
            </a:pPr>
            <a:r>
              <a:t>Paper writing &amp; submission to international journal | Extend to coupled SCm+WTm Digital Twin | Add uncertainty quantification module | Implement LRP-based XAI interpretability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532120"/>
            <a:ext cx="11247120" cy="10058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A87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715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78FF"/>
                </a:solidFill>
                <a:latin typeface="Calibri"/>
              </a:defRPr>
            </a:pPr>
            <a:r>
              <a:t>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577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78FF"/>
                </a:solidFill>
                <a:latin typeface="Calibri"/>
              </a:defRPr>
            </a:pPr>
            <a:r>
              <a:t>Phase 5 — Planned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8795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Thesis &amp; Defense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669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Calibri"/>
              </a:defRPr>
            </a:pPr>
            <a:r>
              <a:t>Integration of all modules into thesis | Final validation with new experimental data | PhD defense preparation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20/22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Calibri"/>
              </a:defRPr>
            </a:pPr>
            <a:r>
              <a:t>Conclusion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486400" cy="53035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✅  What Has Been Accomplished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Developed a complete physics-informed AI system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for pile stiffness degradation prediction.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Evolved through 5 model versions (M5 → M9),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each with clear improvements and justification.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Final M9 model achieves: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R² = 0.9891 (98.9% variance explained)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19.7% parameter compression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Hard-coded physics guarantees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State-of-the-art SwiGLU gating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Built an interactive web dashboard for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real-time engineering scenario analysis.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Produced comprehensive documentation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(LaTeX reports, architecture diagrams, code).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486400" cy="53035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97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A33"/>
                </a:solidFill>
                <a:latin typeface="Calibri"/>
              </a:defRPr>
            </a:pPr>
            <a:r>
              <a:t>🚀  Next Steps (PhD Year)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Publish research paper in an international journal: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Target: Ocean Engineering, or Applied Ocean Research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Content: Ψ-NN pipeline + SwiGLU for geotechnical AI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Extend to coupled Digital Twin: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Integrate Wind Turbine Module (WTm)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Compute natural frequency shifts from degraded stiffness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Predict resonance risk in real-time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Add Explainable AI (XAI):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Layer-wise Relevance Propagation (LRP)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Understand which input features matter most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Uncertainty Quantification: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Monte Carlo Dropout for confidence bounds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— Ensemble methods for robust predictions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Final thesis integration &amp; defense preparation.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21/22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4059936" cy="73152"/>
          </a:xfrm>
          <a:prstGeom prst="round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59936" y="0"/>
            <a:ext cx="4059936" cy="73152"/>
          </a:xfrm>
          <a:prstGeom prst="round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19872" y="0"/>
            <a:ext cx="4069080" cy="73152"/>
          </a:xfrm>
          <a:prstGeom prst="roundRect">
            <a:avLst/>
          </a:prstGeom>
          <a:solidFill>
            <a:srgbClr val="00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Calibri"/>
              </a:defRPr>
            </a:pPr>
            <a:r>
              <a:t>شكرا جزيلا  •  谢谢  •  Merci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4114800"/>
            <a:ext cx="576072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4206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46634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DD"/>
                </a:solidFill>
                <a:latin typeface="Calibri"/>
              </a:defRPr>
            </a:pPr>
            <a:r>
              <a:t>KHALIL Youssef</a:t>
            </a:r>
            <a:br/>
            <a:r>
              <a:t>PhD Student — Moroccan University ↔ Zhejiang University</a:t>
            </a:r>
            <a:br/>
            <a:r>
              <a:t>Physics-Informed AI for Offshore Wind Turbine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0" y="6675120"/>
            <a:ext cx="12191695" cy="54864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