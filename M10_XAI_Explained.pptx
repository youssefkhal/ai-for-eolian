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C084FC"/>
                </a:solidFill>
                <a:latin typeface="Segoe UI"/>
              </a:defRPr>
            </a:pPr>
            <a:r>
              <a:t>M9 → M10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2E8F0"/>
                </a:solidFill>
                <a:latin typeface="Segoe UI"/>
              </a:defRPr>
            </a:pPr>
            <a:r>
              <a:t>Adding Explainable AI to the Physics-Informed Digital Twin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560320"/>
            <a:ext cx="8503920" cy="73152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265176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AAAAA"/>
                </a:solidFill>
                <a:latin typeface="Segoe UI"/>
              </a:defRPr>
            </a:pPr>
            <a:r>
              <a:t>How does the model decide?  Which input features matter?  Where does information flow inside the network?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657600"/>
            <a:ext cx="3017520" cy="18288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3794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Layer-wise Relevance</a:t>
            </a:r>
            <a:br/>
            <a:r>
              <a:t>Propagation (LRP)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Segoe UI"/>
              </a:defRPr>
            </a:pPr>
            <a:r>
              <a:t>Traces each prediction</a:t>
            </a:r>
            <a:br/>
            <a:r>
              <a:t>back to the 8 soil/pile inputs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3657600"/>
            <a:ext cx="3017520" cy="18288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3794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Segoe UI"/>
              </a:defRPr>
            </a:pPr>
            <a:r>
              <a:t>Maps the flow of information</a:t>
            </a:r>
            <a:br/>
            <a:r>
              <a:t>through cross &amp; self attention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657600"/>
            <a:ext cx="3017520" cy="18288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794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Token Attribution</a:t>
            </a:r>
            <a:br/>
            <a:r>
              <a:t>Maps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4348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Segoe UI"/>
              </a:defRPr>
            </a:pPr>
            <a:r>
              <a:t>Visualises which features</a:t>
            </a:r>
            <a:br/>
            <a:r>
              <a:t>drive each degradation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C3AED"/>
                </a:solidFill>
                <a:latin typeface="Segoe UI"/>
              </a:defRPr>
            </a:pPr>
            <a:r>
              <a:t>Pile Stiffness Degradation under Cyclic Loading  —  SwiGLU Slot-Attention Ψ-NN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AAAAAA"/>
                </a:solidFill>
                <a:latin typeface="Segoe UI"/>
              </a:defRPr>
            </a:pPr>
            <a:r>
              <a:t>Youssef Khalil  •  Shenzhen University / EMSI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The Base Model: SwiGLU Ψ-NN (M9, unchanged in M10)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Segoe UI"/>
              </a:defRPr>
            </a:pPr>
            <a:r>
              <a:t>Understanding the architecture is the first step to explaining its predictions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828800" cy="1463040"/>
          </a:xfrm>
          <a:prstGeom prst="roundRect">
            <a:avLst/>
          </a:prstGeom>
          <a:solidFill>
            <a:srgbClr val="1A2A4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8 Soil &amp; Pile</a:t>
            </a:r>
            <a:br/>
            <a: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PI  (Plasticity Index)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Gmax  (Shear Modulus)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ν  (Poisson Ratio)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Dp, Tp, Lp  (Geometry)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Ip  (Moment of Inertia)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750" b="0">
                <a:solidFill>
                  <a:srgbClr val="E2E8F0"/>
                </a:solidFill>
                <a:latin typeface="Segoe UI"/>
              </a:defRPr>
            </a:pPr>
            <a:r>
              <a:t>▸ Dp/Lp  (Slenderness)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94560" y="1828800"/>
            <a:ext cx="45720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1645920" cy="1463040"/>
          </a:xfrm>
          <a:prstGeom prst="roundRect">
            <a:avLst/>
          </a:prstGeom>
          <a:solidFill>
            <a:srgbClr val="1A2A4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463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7830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2E8F0"/>
                </a:solidFill>
                <a:latin typeface="Segoe UI"/>
              </a:defRPr>
            </a:pPr>
            <a:r>
              <a:t>Transforms 8 numbers</a:t>
            </a:r>
            <a:br/>
            <a:r>
              <a:t>into a 64-dimensional</a:t>
            </a:r>
            <a:br/>
            <a:r>
              <a:t>representation the</a:t>
            </a:r>
            <a:br/>
            <a:r>
              <a:t>attention layers</a:t>
            </a:r>
            <a:br/>
            <a:r>
              <a:t>can process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1828800"/>
            <a:ext cx="457200" cy="32004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0" y="1188720"/>
            <a:ext cx="4114800" cy="2011680"/>
          </a:xfrm>
          <a:prstGeom prst="roundRect">
            <a:avLst/>
          </a:prstGeom>
          <a:solidFill>
            <a:srgbClr val="1E2840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123444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Iterative Refinement  ×3 rounds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80" y="1645920"/>
            <a:ext cx="1143000" cy="9144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16916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D2FF"/>
                </a:solidFill>
                <a:latin typeface="Segoe UI"/>
              </a:defRPr>
            </a:pPr>
            <a:r>
              <a:t>Cross-</a:t>
            </a:r>
            <a:br/>
            <a:r>
              <a:t>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057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Slots ask:</a:t>
            </a:r>
            <a:br/>
            <a:r>
              <a:t>'What input</a:t>
            </a:r>
            <a:br/>
            <a:r>
              <a:t>info do I need?'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1645920"/>
            <a:ext cx="1143000" cy="9144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6916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500"/>
                </a:solidFill>
                <a:latin typeface="Segoe UI"/>
              </a:defRPr>
            </a:pPr>
            <a:r>
              <a:t>Self-</a:t>
            </a:r>
            <a:br/>
            <a:r>
              <a:t>Attention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057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Slots ask:</a:t>
            </a:r>
            <a:br/>
            <a:r>
              <a:t>'What do other</a:t>
            </a:r>
            <a:br/>
            <a:r>
              <a:t>slots know?'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45920"/>
            <a:ext cx="1143000" cy="9144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169164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Segoe UI"/>
              </a:defRPr>
            </a:pPr>
            <a:r>
              <a:t>SwiGLU</a:t>
            </a:r>
            <a:br/>
            <a:r>
              <a:t>MLP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2057400"/>
            <a:ext cx="1051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Decides which</a:t>
            </a:r>
            <a:br/>
            <a:r>
              <a:t>information to</a:t>
            </a:r>
            <a:br/>
            <a:r>
              <a:t>keep or discard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400800" y="1965960"/>
            <a:ext cx="91440" cy="13716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7680960" y="1965960"/>
            <a:ext cx="91440" cy="137160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9235440" y="1828800"/>
            <a:ext cx="457200" cy="320040"/>
          </a:xfrm>
          <a:prstGeom prst="rightArrow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784080" y="1371600"/>
            <a:ext cx="2103120" cy="1463040"/>
          </a:xfrm>
          <a:prstGeom prst="roundRect">
            <a:avLst/>
          </a:prstGeom>
          <a:solidFill>
            <a:srgbClr val="1A2A4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0" y="1463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Predictions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78308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0">
                <a:solidFill>
                  <a:srgbClr val="E2E8F0"/>
                </a:solidFill>
                <a:latin typeface="Segoe UI"/>
              </a:defRPr>
            </a:pPr>
            <a:r>
              <a:t>KL — Lateral stiffness</a:t>
            </a:r>
            <a:br/>
            <a:r>
              <a:t>KR — Rotational stiffness</a:t>
            </a:r>
            <a:br/>
            <a:r>
              <a:t>KLR — Coupled stiffness</a:t>
            </a:r>
            <a:br/>
            <a:br/>
            <a:r>
              <a:t>21 degradation steps</a:t>
            </a:r>
            <a:br/>
            <a:r>
              <a:t>for each variable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474720"/>
            <a:ext cx="1161288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566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What are 'Slots'?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The model uses 21 slots — think of them as 21 specialised workers:</a:t>
            </a:r>
            <a:br/>
            <a:br/>
            <a:r>
              <a:t>▸ Slot 1 is the 'initial condition' worker — predicts starting stiffness</a:t>
            </a:r>
            <a:br/>
            <a:r>
              <a:t>▸ Slots 2–21 are 'degradation' workers — each one predicts how much</a:t>
            </a:r>
            <a:br/>
            <a:r>
              <a:t>   stiffness drops at that step of the cyclic loading process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86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These slots don't work independently — they communicate through:</a:t>
            </a:r>
            <a:br/>
            <a:br/>
            <a:r>
              <a:t>▸ Cross-attention: 'Let me check the soil properties again'</a:t>
            </a:r>
            <a:br/>
            <a:r>
              <a:t>▸ Self-attention: 'What did the other degradation steps learn?'</a:t>
            </a:r>
            <a:br/>
            <a:r>
              <a:t>▸ SwiGLU gating: 'I'll keep the relevant info, discard the noise'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5120640"/>
            <a:ext cx="11612880" cy="146304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2120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M9 → M10: Same model, new power — Explainability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2356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M9 was a black box — it made accurate predictions but couldn't explain WHY.</a:t>
            </a:r>
            <a:br/>
            <a:r>
              <a:t>M10 adds an XAI layer that looks inside the attention mechanism and traces predictions back to inputs.</a:t>
            </a:r>
            <a:br/>
            <a:r>
              <a:t>No model retraining needed. Same weights, same accuracy. We simply observe and explain.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FF88"/>
                </a:solidFill>
                <a:latin typeface="Segoe UI"/>
              </a:defRPr>
            </a:pPr>
            <a:r>
              <a:t>Layer-wise Relevance Propagation (LRP)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Tracing the model's prediction back to the 8 raw input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The Big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E2E8F0"/>
                </a:solidFill>
                <a:latin typeface="Segoe UI"/>
              </a:defRPr>
            </a:pPr>
            <a:r>
              <a:t>Imagine the model predicts KL = 5.2×10⁹ at step 10.</a:t>
            </a:r>
            <a:br/>
            <a:br/>
            <a:r>
              <a:t>LRP asks: 'How much did each input feature contribute</a:t>
            </a:r>
            <a:br/>
            <a:r>
              <a:t>to this specific number?'</a:t>
            </a:r>
            <a:br/>
            <a:br/>
            <a:r>
              <a:t>It works by computing how sensitive the output is to</a:t>
            </a:r>
            <a:br/>
            <a:r>
              <a:t>each input, then weighting by the input's actual value:</a:t>
            </a:r>
            <a:br/>
            <a:br/>
            <a:r>
              <a:t>   Relevance of feature j  =  (input value)  ×  (sensitivity)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How It 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737360"/>
            <a:ext cx="731520" cy="32004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5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556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5757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148840"/>
            <a:ext cx="731520" cy="32004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1671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A500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60320"/>
            <a:ext cx="731520" cy="32004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5786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ACC15"/>
                </a:solidFill>
                <a:latin typeface="Segoe UI"/>
              </a:defRPr>
            </a:pPr>
            <a:r>
              <a:t>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971800"/>
            <a:ext cx="731520" cy="32004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9900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0FF88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315200" y="1874519"/>
            <a:ext cx="45720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315200" y="2286000"/>
            <a:ext cx="45720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7315200" y="2697479"/>
            <a:ext cx="45720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315200" y="3108960"/>
            <a:ext cx="45720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863840" y="1737360"/>
            <a:ext cx="1463040" cy="155448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192024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84FC"/>
                </a:solidFill>
                <a:latin typeface="Segoe UI"/>
              </a:defRPr>
            </a:pPr>
            <a:r>
              <a:t>    Ψ-NN</a:t>
            </a:r>
            <a:br/>
            <a:r>
              <a:t>    Model</a:t>
            </a:r>
            <a:br/>
            <a:br/>
            <a:r>
              <a:t>  (black box)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18320" y="2331720"/>
            <a:ext cx="45720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66960" y="2011680"/>
            <a:ext cx="1645920" cy="82296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10312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KL at Step 10</a:t>
            </a:r>
            <a:br/>
            <a:r>
              <a:t>= 5.2 × 10⁹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1">
                <a:solidFill>
                  <a:srgbClr val="FACC15"/>
                </a:solidFill>
                <a:latin typeface="Segoe UI"/>
              </a:defRPr>
            </a:pPr>
            <a:r>
              <a:t>← Relevance flows backward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657600"/>
            <a:ext cx="1161288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What LRP Reveals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3749039"/>
            <a:ext cx="5029200" cy="1280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49840" y="373075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0FF88"/>
                </a:solidFill>
                <a:latin typeface="Segoe UI"/>
              </a:defRPr>
            </a:pPr>
            <a:r>
              <a:t>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73075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Dp/Lp (Slenderness)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0" y="3904487"/>
            <a:ext cx="964504" cy="12801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5144" y="388620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00D2FF"/>
                </a:solidFill>
                <a:latin typeface="Segoe UI"/>
              </a:defRPr>
            </a:pPr>
            <a:r>
              <a:t>14%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88620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Gmax (Shear Modulus)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059935"/>
            <a:ext cx="303129" cy="12801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23769" y="404164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C084FC"/>
                </a:solidFill>
                <a:latin typeface="Segoe UI"/>
              </a:defRPr>
            </a:pPr>
            <a:r>
              <a:t>4.4%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04164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Ip (Moment of Inertia)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0" y="4215383"/>
            <a:ext cx="275572" cy="12801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96212" y="4197096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A500"/>
                </a:solidFill>
                <a:latin typeface="Segoe UI"/>
              </a:defRPr>
            </a:pPr>
            <a:r>
              <a:t>4.0%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0" y="4197096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Lp (Pile Length)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4370831"/>
            <a:ext cx="137786" cy="12801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258426" y="4352544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ACC15"/>
                </a:solidFill>
                <a:latin typeface="Segoe UI"/>
              </a:defRPr>
            </a:pPr>
            <a:r>
              <a:t>2.0%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352544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PI (Plasticity Index)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4526279"/>
            <a:ext cx="137160" cy="128016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50799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472B6"/>
                </a:solidFill>
                <a:latin typeface="Segoe UI"/>
              </a:defRPr>
            </a:pPr>
            <a:r>
              <a:t>1.3%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743200" y="4507992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Tp (Wall Thickness)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0" y="4681727"/>
            <a:ext cx="137160" cy="128016"/>
          </a:xfrm>
          <a:prstGeom prst="rect">
            <a:avLst/>
          </a:prstGeom>
          <a:solidFill>
            <a:srgbClr val="FF5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257800" y="4663440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FF5757"/>
                </a:solidFill>
                <a:latin typeface="Segoe UI"/>
              </a:defRPr>
            </a:pPr>
            <a:r>
              <a:t>0.8%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663440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ν (Poisson Ratio)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0" y="4837176"/>
            <a:ext cx="137160" cy="12801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4818888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1">
                <a:solidFill>
                  <a:srgbClr val="AAAAAA"/>
                </a:solidFill>
                <a:latin typeface="Segoe UI"/>
              </a:defRPr>
            </a:pPr>
            <a:r>
              <a:t>0.5%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743200" y="481888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E2E8F0"/>
                </a:solidFill>
                <a:latin typeface="Segoe UI"/>
              </a:defRPr>
            </a:pPr>
            <a:r>
              <a:t>Dp (Pile Diameter)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37490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← KL variable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74320" y="5212080"/>
            <a:ext cx="1161288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Key Insight: LRP produces a 3D attribution map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For every combination of (variable × step × feature), we get a relevance score.</a:t>
            </a:r>
            <a:br/>
            <a:r>
              <a:t>That means 3 variables × 21 steps × 8 features = 504 individual attributions per scenario.</a:t>
            </a:r>
            <a:br/>
            <a:r>
              <a:t>This tells us not just WHICH features matter overall, but HOW they change across the degradation process.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F88"/>
                </a:solidFill>
                <a:latin typeface="Segoe UI"/>
              </a:defRPr>
            </a:pPr>
            <a:r>
              <a:t>LRP Implementation: Gradient ×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A simple yet powerful method that satisfies the conservation axiom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1161288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The Core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ACC15"/>
                </a:solidFill>
                <a:latin typeface="Cambria Math"/>
              </a:defRPr>
            </a:pPr>
            <a:r>
              <a:t>Relevance of feature j  =  xⱼ  ×  ∂ output / ∂ xⱼ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AAAAA"/>
                </a:solidFill>
                <a:latin typeface="Segoe UI"/>
              </a:defRPr>
            </a:pPr>
            <a:r>
              <a:t>input value          how much the output changes when this input changes slightly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5486400" cy="210312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Component 1: The Gradient  ∂ŷ/∂xⱼ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The gradient measures sensitivity — if we nudge input</a:t>
            </a:r>
            <a:br/>
            <a:r>
              <a:t>feature j by a tiny amount, how much does the</a:t>
            </a:r>
            <a:br/>
            <a:r>
              <a:t>prediction change?</a:t>
            </a:r>
            <a:br/>
            <a:br/>
            <a:r>
              <a:t>▸ Large gradient → model is very sensitive to this feature</a:t>
            </a:r>
            <a:br/>
            <a:r>
              <a:t>▸ Small gradient → changing this feature has little effect</a:t>
            </a:r>
            <a:br/>
            <a:r>
              <a:t>▸ Sign tells direction: positive means feature pushes</a:t>
            </a:r>
            <a:br/>
            <a:r>
              <a:t>   prediction up, negative means it pushes it 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743200"/>
            <a:ext cx="5852160" cy="210312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8346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Component 2: The Input Value  xⱼ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20040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Multiplying by the input value is crucial because:</a:t>
            </a:r>
            <a:br/>
            <a:br/>
            <a:r>
              <a:t>▸ A feature might have high sensitivity (large gradient)</a:t>
            </a:r>
            <a:br/>
            <a:r>
              <a:t>   but its actual value is near zero → low real contribution</a:t>
            </a:r>
            <a:br/>
            <a:br/>
            <a:r>
              <a:t>▸ Conversely, a moderate gradient on a large input value</a:t>
            </a:r>
            <a:br/>
            <a:r>
              <a:t>   means significant actual contribution to the prediction</a:t>
            </a:r>
            <a:br/>
            <a:br/>
            <a:r>
              <a:t>▸ This product captures the TRUE relevance of each feature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5029200"/>
            <a:ext cx="11612880" cy="15544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1206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The Conservation Principle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ACC15"/>
                </a:solidFill>
                <a:latin typeface="Cambria Math"/>
              </a:defRPr>
            </a:pPr>
            <a:r>
              <a:t>Sum of all feature relevances  ≈  the model's prediction  (first-order Taylor approximation)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97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0">
                <a:solidFill>
                  <a:srgbClr val="E2E8F0"/>
                </a:solidFill>
                <a:latin typeface="Segoe UI"/>
              </a:defRPr>
            </a:pPr>
            <a:r>
              <a:t>This means relevance is not artificially created or lost — the total amount of 'importance'</a:t>
            </a:r>
            <a:br/>
            <a:r>
              <a:t>distributed across the 8 features equals the model's output. Every feature gets its fair share.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Segoe UI"/>
              </a:defRPr>
            </a:pPr>
            <a:r>
              <a:t>Attention Rollout: Cross-Attention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How much does each slot pay attention to the input features?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228600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Input Embedding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Segoe UI"/>
              </a:defRPr>
            </a:pPr>
            <a:r>
              <a:t>The 8 soil/pile features</a:t>
            </a:r>
            <a:br/>
            <a:r>
              <a:t>compressed into one</a:t>
            </a:r>
            <a:br/>
            <a:r>
              <a:t>64-dim vector</a:t>
            </a:r>
            <a:br/>
            <a:r>
              <a:t>(single token)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51760" y="1371600"/>
            <a:ext cx="640080" cy="1371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Arrow 7"/>
          <p:cNvSpPr/>
          <p:nvPr/>
        </p:nvSpPr>
        <p:spPr>
          <a:xfrm>
            <a:off x="2651760" y="1600200"/>
            <a:ext cx="548640" cy="91440"/>
          </a:xfrm>
          <a:prstGeom prst="rightArrow">
            <a:avLst/>
          </a:prstGeom>
          <a:solidFill>
            <a:srgbClr val="0088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2651760" y="1783080"/>
            <a:ext cx="457200" cy="73152"/>
          </a:xfrm>
          <a:prstGeom prst="rightArrow">
            <a:avLst/>
          </a:prstGeom>
          <a:solidFill>
            <a:srgbClr val="00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2651760" y="1920240"/>
            <a:ext cx="365760" cy="54864"/>
          </a:xfrm>
          <a:prstGeom prst="rightArrow">
            <a:avLst/>
          </a:prstGeom>
          <a:solidFill>
            <a:srgbClr val="00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ight Arrow 10"/>
          <p:cNvSpPr/>
          <p:nvPr/>
        </p:nvSpPr>
        <p:spPr>
          <a:xfrm>
            <a:off x="2651760" y="2057400"/>
            <a:ext cx="274320" cy="45720"/>
          </a:xfrm>
          <a:prstGeom prst="rightArrow">
            <a:avLst/>
          </a:prstGeom>
          <a:solidFill>
            <a:srgbClr val="00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2651760" y="2194560"/>
            <a:ext cx="228600" cy="36576"/>
          </a:xfrm>
          <a:prstGeom prst="rightArrow">
            <a:avLst/>
          </a:prstGeom>
          <a:solidFill>
            <a:srgbClr val="00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1188720"/>
            <a:ext cx="182880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0" y="12801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21 Slots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55448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00FF88"/>
                </a:solidFill>
                <a:latin typeface="Segoe UI"/>
              </a:defRPr>
            </a:pPr>
            <a:r>
              <a:t>Slot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1709928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1865376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020824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176272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Slot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331720"/>
            <a:ext cx="1463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2E8F0"/>
                </a:solidFill>
                <a:latin typeface="Segoe UI"/>
              </a:defRPr>
            </a:pPr>
            <a:r>
              <a:t>...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0" y="1188720"/>
            <a:ext cx="6309360" cy="13716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1280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ACC15"/>
                </a:solidFill>
                <a:latin typeface="Segoe UI"/>
              </a:defRPr>
            </a:pPr>
            <a:r>
              <a:t>What Cross-Attention Shows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6459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Each of the 21 slots sends a 'query' to the input embedding.</a:t>
            </a:r>
            <a:br/>
            <a:r>
              <a:t>The attention weight tells us how strongly that slot requested information.</a:t>
            </a:r>
            <a:br/>
            <a:br/>
            <a:r>
              <a:t>▸ Thick arrow = high attention (slot heavily depends on input features)</a:t>
            </a:r>
            <a:br/>
            <a:r>
              <a:t>▸ Thin arrow = low attention (slot is more self-sufficient)</a:t>
            </a:r>
            <a:br/>
            <a:r>
              <a:t>▸ This happens 3 times (3 iterations), and we average the results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2834640"/>
            <a:ext cx="11612880" cy="18288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926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Rollout Across 3 Iterations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291840"/>
            <a:ext cx="2560320" cy="118872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Iteration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3886200"/>
            <a:ext cx="2286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60119" y="4023360"/>
            <a:ext cx="228600" cy="228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80160" y="4114800"/>
            <a:ext cx="228600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600199" y="3931920"/>
            <a:ext cx="2286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0239" y="4069080"/>
            <a:ext cx="228600" cy="182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40280" y="3977640"/>
            <a:ext cx="228600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560320" y="4160520"/>
            <a:ext cx="228600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6324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A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3291840"/>
            <a:ext cx="2560320" cy="118872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Iteration 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3886200"/>
            <a:ext cx="2286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886200" y="4023360"/>
            <a:ext cx="228600" cy="228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06240" y="4114800"/>
            <a:ext cx="228600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26280" y="3931920"/>
            <a:ext cx="2286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0" y="4069080"/>
            <a:ext cx="228600" cy="182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166360" y="3977640"/>
            <a:ext cx="228600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0" y="4160520"/>
            <a:ext cx="228600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8932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A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309360" y="3291840"/>
            <a:ext cx="2560320" cy="118872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Iteration 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3886200"/>
            <a:ext cx="22860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2280" y="4023360"/>
            <a:ext cx="228600" cy="2286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132320" y="4114800"/>
            <a:ext cx="228600" cy="1371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52360" y="3931920"/>
            <a:ext cx="2286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772400" y="4069080"/>
            <a:ext cx="228600" cy="1828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092440" y="3977640"/>
            <a:ext cx="228600" cy="2743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0" y="4160520"/>
            <a:ext cx="228600" cy="914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40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AAAAA"/>
                </a:solidFill>
                <a:latin typeface="Segoe UI"/>
              </a:defRPr>
            </a:pPr>
            <a:r>
              <a:t>+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3291840"/>
            <a:ext cx="2560320" cy="118872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3337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Rollout</a:t>
            </a:r>
            <a:br/>
            <a:r>
              <a:t>(Average)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18320" y="3886200"/>
            <a:ext cx="228600" cy="3657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738360" y="4023360"/>
            <a:ext cx="228600" cy="22860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058400" y="4114800"/>
            <a:ext cx="228600" cy="13716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378440" y="3931920"/>
            <a:ext cx="228600" cy="3200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698480" y="4069080"/>
            <a:ext cx="228600" cy="18288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018520" y="3977640"/>
            <a:ext cx="228600" cy="27432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1338560" y="4160520"/>
            <a:ext cx="228600" cy="91440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57200" y="42976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AAAAAA"/>
                </a:solidFill>
                <a:latin typeface="Segoe UI"/>
              </a:defRPr>
            </a:pPr>
            <a:r>
              <a:t>Each iteration produces attention weights for all 21 slots → we average them → normalise so they sum to 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74320" y="4846320"/>
            <a:ext cx="11612880" cy="173736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7200" y="49377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What Question Does Cross-Attention Rollout Answer?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"Which degradation steps are most influenced by the original soil/pile properties?"</a:t>
            </a:r>
            <a:br/>
            <a:br/>
            <a:r>
              <a:t>A slot with high cross-attention is heavily shaped by the input features.</a:t>
            </a:r>
            <a:br/>
            <a:r>
              <a:t>A slot with low cross-attention relies more on what other slots communicated to it.</a:t>
            </a:r>
            <a:br/>
            <a:r>
              <a:t>This reveals whether early, middle, or late degradation steps are input-driven vs. context-driven.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Segoe UI"/>
              </a:defRPr>
            </a:pPr>
            <a:r>
              <a:t>Attention Rollout: Self-Attention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How do slots communicate with each other? Which degradation steps exchange information?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029200" cy="27432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500"/>
                </a:solidFill>
                <a:latin typeface="Segoe UI"/>
              </a:defRPr>
            </a:pPr>
            <a:r>
              <a:t>Slot-to-Slot Communication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Self-attention creates a 21 × 21 matrix:</a:t>
            </a:r>
            <a:br/>
            <a:r>
              <a:t>each cell (i, j) tells us how much Slot i</a:t>
            </a:r>
            <a:br/>
            <a:r>
              <a:t>listens to Slot j.</a:t>
            </a:r>
            <a:br/>
            <a:br/>
            <a:r>
              <a:t>This reveals temporal dependencies in the</a:t>
            </a:r>
            <a:br/>
            <a:r>
              <a:t>degradation process.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37360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0" y="173736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749039" y="173736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0" y="17373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7373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373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7373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2011679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4720" y="2011679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39" y="2011679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23360" y="2011679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0116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20116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20116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228600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0" y="228600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49039" y="2286000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228600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228600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0" y="228600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28600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0" y="256032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74720" y="256032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49039" y="256032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23360" y="2560320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256032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0" y="256032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256032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0" y="283463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474720" y="283463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749039" y="2834639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23360" y="2834639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2834639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0" y="2834639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2834639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31089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74720" y="31089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39" y="3108960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23360" y="3108960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97680" y="310896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0" y="3108960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46320" y="3108960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33832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74720" y="33832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39" y="33832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023360" y="3383279"/>
            <a:ext cx="256032" cy="256032"/>
          </a:xfrm>
          <a:prstGeom prst="rect">
            <a:avLst/>
          </a:prstGeom>
          <a:solidFill>
            <a:srgbClr val="0C060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97680" y="3383279"/>
            <a:ext cx="256032" cy="256032"/>
          </a:xfrm>
          <a:prstGeom prst="rect">
            <a:avLst/>
          </a:prstGeom>
          <a:solidFill>
            <a:srgbClr val="2613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0" y="3383279"/>
            <a:ext cx="256032" cy="256032"/>
          </a:xfrm>
          <a:prstGeom prst="rect">
            <a:avLst/>
          </a:prstGeom>
          <a:solidFill>
            <a:srgbClr val="66346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6320" y="3383279"/>
            <a:ext cx="256032" cy="256032"/>
          </a:xfrm>
          <a:prstGeom prst="rect">
            <a:avLst/>
          </a:prstGeom>
          <a:solidFill>
            <a:srgbClr val="CC69C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0" y="150876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  S1   S2   S3   S4   S5  S6  S7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17647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80360" y="203911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231343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880360" y="25877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286207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313639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360" y="3410711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00D2FF"/>
                </a:solidFill>
                <a:latin typeface="Consolas"/>
              </a:defRPr>
            </a:pPr>
            <a:r>
              <a:t>S7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0400" y="37033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  Brighter = stronger attention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577840" y="1188720"/>
            <a:ext cx="6217920" cy="27432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60720" y="1280160"/>
            <a:ext cx="5852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Residual Mixing: The Key Innovation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760720" y="1645920"/>
            <a:ext cx="5852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In the real network, each slot keeps a copy of its own information</a:t>
            </a:r>
            <a:br/>
            <a:r>
              <a:t>(residual connection). We must account for this when rolling up</a:t>
            </a:r>
            <a:br/>
            <a:r>
              <a:t>across iterations. The formula:</a:t>
            </a:r>
            <a:br/>
            <a:br/>
            <a:r>
              <a:t>   Mixed Attention  =  50% × Identity  +  50% × Attention</a:t>
            </a:r>
            <a:br/>
            <a:br/>
            <a:r>
              <a:t>▸ The Identity part means: 'I keep half of my own information'</a:t>
            </a:r>
            <a:br/>
            <a:r>
              <a:t>▸ The Attention part means: 'I take half from what other slots say'</a:t>
            </a:r>
            <a:br/>
            <a:br/>
            <a:r>
              <a:t>Then we multiply across all 3 iterations:</a:t>
            </a:r>
            <a:br/>
            <a:br/>
            <a:r>
              <a:t>   Rollout  =  Mixed₃  ×  Mixed₂  ×  Mixed₁</a:t>
            </a:r>
            <a:br/>
            <a:br/>
            <a:r>
              <a:t>This matrix multiplication traces the TOTAL flow of information</a:t>
            </a:r>
            <a:br/>
            <a:r>
              <a:t>from source slots to destination slots across the entire network.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4114800"/>
            <a:ext cx="11612880" cy="24688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2062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D2FF"/>
                </a:solidFill>
                <a:latin typeface="Segoe UI"/>
              </a:defRPr>
            </a:pPr>
            <a:r>
              <a:t>Why Separate Cross and Self Attention?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57200" y="4572000"/>
            <a:ext cx="5303520" cy="18288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4663440"/>
            <a:ext cx="4937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Cross-Attention Rollout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0080" y="493776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Shape: 21 values (one per slot)</a:t>
            </a:r>
            <a:br/>
            <a:br/>
            <a:r>
              <a:t>Answers: "How strongly does each degradation</a:t>
            </a:r>
            <a:br/>
            <a:r>
              <a:t>step depend on the original soil/pile inputs?"</a:t>
            </a:r>
            <a:br/>
            <a:br/>
            <a:r>
              <a:t>Interpretation: input-driven vs. context-driven behaviour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126480" y="4572000"/>
            <a:ext cx="5577840" cy="18288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9360" y="46634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Self-Attention Rollout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09360" y="4937760"/>
            <a:ext cx="5212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E2E8F0"/>
                </a:solidFill>
                <a:latin typeface="Segoe UI"/>
              </a:defRPr>
            </a:pPr>
            <a:r>
              <a:t>Shape: 21 × 21 matrix (slot-to-slot)</a:t>
            </a:r>
            <a:br/>
            <a:br/>
            <a:r>
              <a:t>Answers: "Which degradation steps influence each</a:t>
            </a:r>
            <a:br/>
            <a:r>
              <a:t>other?  Does step 15 look at step 3 for guidance?"</a:t>
            </a:r>
            <a:br/>
            <a:br/>
            <a:r>
              <a:t>Interpretation: temporal coupling in the degradation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A500"/>
                </a:solidFill>
                <a:latin typeface="Segoe UI"/>
              </a:defRPr>
            </a:pPr>
            <a:r>
              <a:t>Token Attribution Maps: The Complete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Combining LRP and Attention Rollout into an interactive visualisation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6858000" cy="32004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0"/>
                </a:solidFill>
                <a:latin typeface="Segoe UI"/>
              </a:defRPr>
            </a:pPr>
            <a:r>
              <a:t>The Attribution Heatmap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A colour-coded grid showing the relevance of each feature at each degradation step: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031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00D2FF"/>
                </a:solidFill>
                <a:latin typeface="Segoe UI"/>
              </a:defRPr>
            </a:pPr>
            <a:r>
              <a:t>Step 1    Step 2    Step 3    Step 4    ...    Step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PI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2331720"/>
            <a:ext cx="777240" cy="182880"/>
          </a:xfrm>
          <a:prstGeom prst="rect">
            <a:avLst/>
          </a:prstGeom>
          <a:solidFill>
            <a:srgbClr val="192D2D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40280" y="2331720"/>
            <a:ext cx="777240" cy="182880"/>
          </a:xfrm>
          <a:prstGeom prst="rect">
            <a:avLst/>
          </a:prstGeom>
          <a:solidFill>
            <a:srgbClr val="142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08960" y="2331720"/>
            <a:ext cx="777240" cy="182880"/>
          </a:xfrm>
          <a:prstGeom prst="rect">
            <a:avLst/>
          </a:prstGeom>
          <a:solidFill>
            <a:srgbClr val="0C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7639" y="2331720"/>
            <a:ext cx="777240" cy="182880"/>
          </a:xfrm>
          <a:prstGeom prst="rect">
            <a:avLst/>
          </a:prstGeom>
          <a:solidFill>
            <a:srgbClr val="1E2C2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2331720"/>
            <a:ext cx="777240" cy="182880"/>
          </a:xfrm>
          <a:prstGeom prst="rect">
            <a:avLst/>
          </a:prstGeom>
          <a:solidFill>
            <a:srgbClr val="07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15000" y="2331720"/>
            <a:ext cx="777240" cy="182880"/>
          </a:xfrm>
          <a:prstGeom prst="rect">
            <a:avLst/>
          </a:prstGeom>
          <a:solidFill>
            <a:srgbClr val="112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55117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Gmax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551176"/>
            <a:ext cx="777240" cy="182880"/>
          </a:xfrm>
          <a:prstGeom prst="rect">
            <a:avLst/>
          </a:prstGeom>
          <a:solidFill>
            <a:srgbClr val="99141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40280" y="2551176"/>
            <a:ext cx="777240" cy="182880"/>
          </a:xfrm>
          <a:prstGeom prst="rect">
            <a:avLst/>
          </a:prstGeom>
          <a:solidFill>
            <a:srgbClr val="4C2323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108960" y="2551176"/>
            <a:ext cx="777240" cy="182880"/>
          </a:xfrm>
          <a:prstGeom prst="rect">
            <a:avLst/>
          </a:prstGeom>
          <a:solidFill>
            <a:srgbClr val="262A2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977639" y="2551176"/>
            <a:ext cx="777240" cy="182880"/>
          </a:xfrm>
          <a:prstGeom prst="rect">
            <a:avLst/>
          </a:prstGeom>
          <a:solidFill>
            <a:srgbClr val="332828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46320" y="2551176"/>
            <a:ext cx="777240" cy="182880"/>
          </a:xfrm>
          <a:prstGeom prst="rect">
            <a:avLst/>
          </a:prstGeom>
          <a:solidFill>
            <a:srgbClr val="192D2D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0" y="2551176"/>
            <a:ext cx="777240" cy="182880"/>
          </a:xfrm>
          <a:prstGeom prst="rect">
            <a:avLst/>
          </a:prstGeom>
          <a:solidFill>
            <a:srgbClr val="3F2525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70632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0" y="2770632"/>
            <a:ext cx="777240" cy="182880"/>
          </a:xfrm>
          <a:prstGeom prst="rect">
            <a:avLst/>
          </a:prstGeom>
          <a:solidFill>
            <a:srgbClr val="0C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40280" y="2770632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08960" y="2770632"/>
            <a:ext cx="777240" cy="182880"/>
          </a:xfrm>
          <a:prstGeom prst="rect">
            <a:avLst/>
          </a:prstGeom>
          <a:solidFill>
            <a:srgbClr val="02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2770632"/>
            <a:ext cx="777240" cy="182880"/>
          </a:xfrm>
          <a:prstGeom prst="rect">
            <a:avLst/>
          </a:prstGeom>
          <a:solidFill>
            <a:srgbClr val="07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0" y="2770632"/>
            <a:ext cx="777240" cy="182880"/>
          </a:xfrm>
          <a:prstGeom prst="rect">
            <a:avLst/>
          </a:prstGeom>
          <a:solidFill>
            <a:srgbClr val="02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715000" y="2770632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90087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Dp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0" y="2990087"/>
            <a:ext cx="777240" cy="182880"/>
          </a:xfrm>
          <a:prstGeom prst="rect">
            <a:avLst/>
          </a:prstGeom>
          <a:solidFill>
            <a:srgbClr val="142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40280" y="2990087"/>
            <a:ext cx="777240" cy="182880"/>
          </a:xfrm>
          <a:prstGeom prst="rect">
            <a:avLst/>
          </a:prstGeom>
          <a:solidFill>
            <a:srgbClr val="0A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08960" y="2990087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2990087"/>
            <a:ext cx="777240" cy="182880"/>
          </a:xfrm>
          <a:prstGeom prst="rect">
            <a:avLst/>
          </a:prstGeom>
          <a:solidFill>
            <a:srgbClr val="0F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0" y="2990087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15000" y="2990087"/>
            <a:ext cx="777240" cy="182880"/>
          </a:xfrm>
          <a:prstGeom prst="rect">
            <a:avLst/>
          </a:prstGeom>
          <a:solidFill>
            <a:srgbClr val="07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09544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Tp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3209544"/>
            <a:ext cx="777240" cy="182880"/>
          </a:xfrm>
          <a:prstGeom prst="rect">
            <a:avLst/>
          </a:prstGeom>
          <a:solidFill>
            <a:srgbClr val="07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40280" y="3209544"/>
            <a:ext cx="777240" cy="182880"/>
          </a:xfrm>
          <a:prstGeom prst="rect">
            <a:avLst/>
          </a:prstGeom>
          <a:solidFill>
            <a:srgbClr val="02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3209544"/>
            <a:ext cx="777240" cy="182880"/>
          </a:xfrm>
          <a:prstGeom prst="rect">
            <a:avLst/>
          </a:prstGeom>
          <a:solidFill>
            <a:srgbClr val="02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77639" y="3209544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846320" y="3209544"/>
            <a:ext cx="777240" cy="182880"/>
          </a:xfrm>
          <a:prstGeom prst="rect">
            <a:avLst/>
          </a:prstGeom>
          <a:solidFill>
            <a:srgbClr val="02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715000" y="3209544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42900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Lp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3429000"/>
            <a:ext cx="777240" cy="182880"/>
          </a:xfrm>
          <a:prstGeom prst="rect">
            <a:avLst/>
          </a:prstGeom>
          <a:solidFill>
            <a:srgbClr val="262A2A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40280" y="3429000"/>
            <a:ext cx="777240" cy="182880"/>
          </a:xfrm>
          <a:prstGeom prst="rect">
            <a:avLst/>
          </a:prstGeom>
          <a:solidFill>
            <a:srgbClr val="192D2D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108960" y="3429000"/>
            <a:ext cx="777240" cy="182880"/>
          </a:xfrm>
          <a:prstGeom prst="rect">
            <a:avLst/>
          </a:prstGeom>
          <a:solidFill>
            <a:srgbClr val="0C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977639" y="3429000"/>
            <a:ext cx="777240" cy="182880"/>
          </a:xfrm>
          <a:prstGeom prst="rect">
            <a:avLst/>
          </a:prstGeom>
          <a:solidFill>
            <a:srgbClr val="142E2E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46320" y="3429000"/>
            <a:ext cx="777240" cy="182880"/>
          </a:xfrm>
          <a:prstGeom prst="rect">
            <a:avLst/>
          </a:prstGeom>
          <a:solidFill>
            <a:srgbClr val="0A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715000" y="3429000"/>
            <a:ext cx="777240" cy="182880"/>
          </a:xfrm>
          <a:prstGeom prst="rect">
            <a:avLst/>
          </a:prstGeom>
          <a:solidFill>
            <a:srgbClr val="0F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3648456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Ip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3648456"/>
            <a:ext cx="777240" cy="182880"/>
          </a:xfrm>
          <a:prstGeom prst="rect">
            <a:avLst/>
          </a:prstGeom>
          <a:solidFill>
            <a:srgbClr val="1E2C2C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240280" y="3648456"/>
            <a:ext cx="777240" cy="182880"/>
          </a:xfrm>
          <a:prstGeom prst="rect">
            <a:avLst/>
          </a:prstGeom>
          <a:solidFill>
            <a:srgbClr val="0F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08960" y="3648456"/>
            <a:ext cx="777240" cy="182880"/>
          </a:xfrm>
          <a:prstGeom prst="rect">
            <a:avLst/>
          </a:prstGeom>
          <a:solidFill>
            <a:srgbClr val="07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977639" y="3648456"/>
            <a:ext cx="777240" cy="182880"/>
          </a:xfrm>
          <a:prstGeom prst="rect">
            <a:avLst/>
          </a:prstGeom>
          <a:solidFill>
            <a:srgbClr val="0C2F2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6320" y="3648456"/>
            <a:ext cx="777240" cy="182880"/>
          </a:xfrm>
          <a:prstGeom prst="rect">
            <a:avLst/>
          </a:prstGeom>
          <a:solidFill>
            <a:srgbClr val="053131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715000" y="3648456"/>
            <a:ext cx="777240" cy="182880"/>
          </a:xfrm>
          <a:prstGeom prst="rect">
            <a:avLst/>
          </a:prstGeom>
          <a:solidFill>
            <a:srgbClr val="0A303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867911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0FF88"/>
                </a:solidFill>
                <a:latin typeface="Segoe UI"/>
              </a:defRPr>
            </a:pPr>
            <a:r>
              <a:t>Dp/Lp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371600" y="3867911"/>
            <a:ext cx="777240" cy="182880"/>
          </a:xfrm>
          <a:prstGeom prst="rect">
            <a:avLst/>
          </a:prstGeom>
          <a:solidFill>
            <a:srgbClr val="FF0000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240280" y="3867911"/>
            <a:ext cx="777240" cy="182880"/>
          </a:xfrm>
          <a:prstGeom prst="rect">
            <a:avLst/>
          </a:prstGeom>
          <a:solidFill>
            <a:srgbClr val="CC090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08960" y="3867911"/>
            <a:ext cx="777240" cy="182880"/>
          </a:xfrm>
          <a:prstGeom prst="rect">
            <a:avLst/>
          </a:prstGeom>
          <a:solidFill>
            <a:srgbClr val="99141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977639" y="3867911"/>
            <a:ext cx="777240" cy="182880"/>
          </a:xfrm>
          <a:prstGeom prst="rect">
            <a:avLst/>
          </a:prstGeom>
          <a:solidFill>
            <a:srgbClr val="E50404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846320" y="3867911"/>
            <a:ext cx="777240" cy="182880"/>
          </a:xfrm>
          <a:prstGeom prst="rect">
            <a:avLst/>
          </a:prstGeom>
          <a:solidFill>
            <a:srgbClr val="7F1919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715000" y="3867911"/>
            <a:ext cx="777240" cy="182880"/>
          </a:xfrm>
          <a:prstGeom prst="rect">
            <a:avLst/>
          </a:prstGeom>
          <a:solidFill>
            <a:srgbClr val="B20F0F"/>
          </a:solidFill>
          <a:ln w="12700">
            <a:solidFill>
              <a:srgbClr val="3333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371600" y="4114800"/>
            <a:ext cx="4572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AAAAA"/>
                </a:solidFill>
                <a:latin typeface="Segoe UI"/>
              </a:defRPr>
            </a:pPr>
            <a:r>
              <a:t>■ Intense red = high positive relevance     ■ Light = low relevance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0" y="1188720"/>
            <a:ext cx="4572000" cy="32004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98079" y="128016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FF88"/>
                </a:solidFill>
                <a:latin typeface="Segoe UI"/>
              </a:defRPr>
            </a:pPr>
            <a:r>
              <a:t>How to Read the Map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498079" y="164592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Each cell answers a specific question: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Row = which feature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PI, Gmax, ν, Dp, Tp, Lp, Ip, Dp/Lp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Column = which step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Step 1 (initial) through Step 21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Colour = how important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Red = pushes prediction up, Blue = pushes down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Intensity = magnitude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Darker = stronger influence</a:t>
            </a:r>
          </a:p>
          <a:p>
            <a:pPr>
              <a:spcBef>
                <a:spcPts val="100"/>
              </a:spcBef>
              <a:spcAft>
                <a:spcPts val="0"/>
              </a:spcAft>
              <a:defRPr sz="400" b="0">
                <a:solidFill>
                  <a:srgbClr val="AAAAAA"/>
                </a:solidFill>
                <a:latin typeface="Segoe UI"/>
              </a:defRPr>
            </a:pP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Switchable by variable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Show heatmap for KL, KR, or KLR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Per-scenario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Each test scenario generates its own attribution map</a:t>
            </a:r>
          </a:p>
          <a:p>
            <a:pPr>
              <a:spcBef>
                <a:spcPts val="300"/>
              </a:spcBef>
              <a:spcAft>
                <a:spcPts val="0"/>
              </a:spcAft>
              <a:defRPr sz="900" b="1">
                <a:solidFill>
                  <a:srgbClr val="FACC15"/>
                </a:solidFill>
                <a:latin typeface="Segoe UI"/>
              </a:defRPr>
            </a:pPr>
            <a:r>
              <a:t>▸  Interactive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AAAAAA"/>
                </a:solidFill>
                <a:latin typeface="Segoe UI"/>
              </a:defRPr>
            </a:pPr>
            <a:r>
              <a:t>    Hover over any cell to see the exact relevance value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274320" y="4572000"/>
            <a:ext cx="11612880" cy="20116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The XAI Dashboard: Three Complementary Views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48640" y="5029200"/>
            <a:ext cx="3474720" cy="13716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8580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Feature Attribution</a:t>
            </a:r>
            <a:br/>
            <a:r>
              <a:t>Heatmap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Segoe UI"/>
              </a:defRPr>
            </a:pPr>
            <a:r>
              <a:t>8 features × 21 steps</a:t>
            </a:r>
            <a:br/>
            <a:r>
              <a:t>with red/blue colour coding</a:t>
            </a:r>
            <a:br/>
            <a:r>
              <a:t>Switchable: KL / KR / KLR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480559" y="5029200"/>
            <a:ext cx="3474720" cy="13716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61772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Segoe UI"/>
              </a:defRPr>
            </a:pPr>
            <a:r>
              <a:t>Cross-Attention</a:t>
            </a:r>
            <a:br/>
            <a:r>
              <a:t>Bar Charts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1772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Segoe UI"/>
              </a:defRPr>
            </a:pPr>
            <a:r>
              <a:t>21 bars per iteration (×3)</a:t>
            </a:r>
            <a:br/>
            <a:r>
              <a:t>+ averaged rollout chart</a:t>
            </a:r>
            <a:br/>
            <a:r>
              <a:t>Taller = more input-dependent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412480" y="5029200"/>
            <a:ext cx="3474720" cy="13716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549640" y="5074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A500"/>
                </a:solidFill>
                <a:latin typeface="Segoe UI"/>
              </a:defRPr>
            </a:pPr>
            <a:r>
              <a:t>Self-Attention</a:t>
            </a:r>
            <a:br/>
            <a:r>
              <a:t>Heatmaps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49640" y="5532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Segoe UI"/>
              </a:defRPr>
            </a:pPr>
            <a:r>
              <a:t>21 × 21 matrix per iteration</a:t>
            </a:r>
            <a:br/>
            <a:r>
              <a:t>+ multiplicative rollout</a:t>
            </a:r>
            <a:br/>
            <a:r>
              <a:t>Brighter = stronger connection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ACC15"/>
                </a:solidFill>
                <a:latin typeface="Segoe UI"/>
              </a:defRPr>
            </a:pPr>
            <a:r>
              <a:t>Integrated Gradients: The Gold 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A more rigorous version of LRP that guarantees perfect conservation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5669280" cy="22860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ACC15"/>
                </a:solidFill>
                <a:latin typeface="Segoe UI"/>
              </a:defRPr>
            </a:pPr>
            <a:r>
              <a:t>The Intuition: Walking the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Imagine a hiker walking from point A (all inputs = 0)</a:t>
            </a:r>
            <a:br/>
            <a:r>
              <a:t>to point B (actual input values).</a:t>
            </a:r>
            <a:br/>
            <a:br/>
            <a:r>
              <a:t>At each step of the walk, they measure the gradient:</a:t>
            </a:r>
            <a:br/>
            <a:r>
              <a:t>'which direction is uphill?'</a:t>
            </a:r>
            <a:br/>
            <a:br/>
            <a:r>
              <a:t>Integrated Gradients averages these measurements across</a:t>
            </a:r>
            <a:br/>
            <a:r>
              <a:t>the entire walk — not just at the destination.</a:t>
            </a:r>
            <a:br/>
            <a:br/>
            <a:r>
              <a:t>This gives a more complete picture than Gradient × Input,</a:t>
            </a:r>
            <a:br/>
            <a:r>
              <a:t>which only measures the gradient at point 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669280" cy="22860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Segoe UI"/>
              </a:defRPr>
            </a:pPr>
            <a:r>
              <a:t>The Formula (Simplified)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2E8F0"/>
                </a:solidFill>
                <a:latin typeface="Segoe UI"/>
              </a:defRPr>
            </a:pPr>
            <a:r>
              <a:t>Attribution of feature j 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ACC15"/>
                </a:solidFill>
                <a:latin typeface="Cambria Math"/>
              </a:defRPr>
            </a:pPr>
            <a:r>
              <a:t>(xⱼ  −  0)  ×  average gradient along the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5176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Segoe UI"/>
              </a:defRPr>
            </a:pPr>
            <a:r>
              <a:t>We split the path into 30 equal steps, compute the</a:t>
            </a:r>
            <a:br/>
            <a:r>
              <a:t>gradient at each step, average them, then multiply</a:t>
            </a:r>
            <a:br/>
            <a:r>
              <a:t>by the input value. This guarantees: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17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Cambria Math"/>
              </a:defRPr>
            </a:pPr>
            <a:r>
              <a:t>Σ (all attributions)  =  f(x) − f(baseline)  exactly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57600"/>
            <a:ext cx="11612880" cy="29260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749039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C084FC"/>
                </a:solidFill>
                <a:latin typeface="Segoe UI"/>
              </a:defRPr>
            </a:pPr>
            <a:r>
              <a:t>Gradient × Input vs Integrated Gradients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114800"/>
            <a:ext cx="5212080" cy="2286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06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FF88"/>
                </a:solidFill>
                <a:latin typeface="Segoe UI"/>
              </a:defRPr>
            </a:pPr>
            <a:r>
              <a:t>Gradient × Input  (Default)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Speed:  ~50 ms per scenario — instant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Accuracy:  First-order approximation (very good)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Conservation:  Approximate — sum ≈ prediction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When to use:  Interactive dashboard (fast exploration)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Gradient calls:  63 per scenario (3 vars × 21 steps)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114800"/>
            <a:ext cx="5577840" cy="2286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2062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CC15"/>
                </a:solidFill>
                <a:latin typeface="Segoe UI"/>
              </a:defRPr>
            </a:pPr>
            <a:r>
              <a:t>Integrated Gradients  (Gold Standard)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FFFFFF"/>
                </a:solidFill>
                <a:latin typeface="Segoe UI"/>
              </a:defRPr>
            </a:pP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Speed:  ~2 seconds per scenario — slower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Accuracy:  Exact path integral (provably correct)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Conservation:  Exact — sum = prediction − baseline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When to use:  Research publications, formal analysis</a:t>
            </a:r>
          </a:p>
          <a:p>
            <a:pPr>
              <a:spcBef>
                <a:spcPts val="200"/>
              </a:spcBef>
              <a:spcAft>
                <a:spcPts val="0"/>
              </a:spcAft>
              <a:defRPr sz="900" b="0">
                <a:solidFill>
                  <a:srgbClr val="E2E8F0"/>
                </a:solidFill>
                <a:latin typeface="Segoe UI"/>
              </a:defRPr>
            </a:pPr>
            <a:r>
              <a:t>▸  Gradient calls:  1,890 per scenario (30× more)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084FC"/>
                </a:solidFill>
                <a:latin typeface="Segoe UI"/>
              </a:defRPr>
            </a:pPr>
            <a:r>
              <a:t>The Complete M10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AA"/>
                </a:solidFill>
                <a:latin typeface="Segoe UI"/>
              </a:defRPr>
            </a:pPr>
            <a:r>
              <a:t>Same prediction model as M9 — with a new XAI observation layer (no retraining)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11612880" cy="18288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M9 Base (Unchanged)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0D2FF"/>
                </a:solidFill>
                <a:latin typeface="Segoe UI"/>
              </a:defRPr>
            </a:pPr>
            <a:r>
              <a:t>Soil &amp; Pile</a:t>
            </a:r>
            <a:br/>
            <a: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8 inputs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057400" y="1828800"/>
            <a:ext cx="54864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2860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0D2FF"/>
                </a:solidFill>
                <a:latin typeface="Segoe UI"/>
              </a:defRPr>
            </a:pPr>
            <a:r>
              <a:t>Embedding</a:t>
            </a:r>
            <a:br/>
            <a:r>
              <a:t>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17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8 → 64 dim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86200" y="1828800"/>
            <a:ext cx="54864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A500"/>
                </a:solidFill>
                <a:latin typeface="Segoe UI"/>
              </a:defRPr>
            </a:pPr>
            <a:r>
              <a:t>Cross-Attn</a:t>
            </a:r>
            <a:br/>
            <a:r>
              <a:t>(×3 iter.)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input → slots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715000" y="1828800"/>
            <a:ext cx="54864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9436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893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A500"/>
                </a:solidFill>
                <a:latin typeface="Segoe UI"/>
              </a:defRPr>
            </a:pPr>
            <a:r>
              <a:t>Self-Attn</a:t>
            </a:r>
            <a:br/>
            <a:r>
              <a:t>(×3 iter.)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slot ↔ slot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543800" y="1828800"/>
            <a:ext cx="54864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181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00FF88"/>
                </a:solidFill>
                <a:latin typeface="Segoe UI"/>
              </a:defRPr>
            </a:pPr>
            <a:r>
              <a:t>SwiGLU</a:t>
            </a:r>
            <a:br/>
            <a:r>
              <a:t>MLP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gated filtering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72600" y="1828800"/>
            <a:ext cx="548640" cy="109728"/>
          </a:xfrm>
          <a:prstGeom prst="rightArrow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01200" y="1463040"/>
            <a:ext cx="1554480" cy="11430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46920" y="1508760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ACC15"/>
                </a:solidFill>
                <a:latin typeface="Segoe UI"/>
              </a:defRPr>
            </a:pPr>
            <a:r>
              <a:t>Prediction</a:t>
            </a:r>
            <a:br/>
            <a:r>
              <a:t>Heads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19659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AAAAA"/>
                </a:solidFill>
                <a:latin typeface="Segoe UI"/>
              </a:defRPr>
            </a:pPr>
            <a:r>
              <a:t>slots → curves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200400"/>
            <a:ext cx="11612880" cy="33832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46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84FC"/>
                </a:solidFill>
                <a:latin typeface="Segoe UI"/>
              </a:defRPr>
            </a:pPr>
            <a:r>
              <a:t>M10 XAI Layer (NEW)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32735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AAAAA"/>
                </a:solidFill>
                <a:latin typeface="Segoe UI"/>
              </a:defRPr>
            </a:pPr>
            <a:r>
              <a:t>— observes the model's internal state, does not modify it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611880"/>
            <a:ext cx="2468880" cy="27432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D2FF"/>
                </a:solidFill>
                <a:latin typeface="Segoe UI"/>
              </a:defRPr>
            </a:pPr>
            <a:r>
              <a:t>Cross-Attention</a:t>
            </a:r>
            <a:br/>
            <a:r>
              <a:t>Rollout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0690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2E8F0"/>
                </a:solidFill>
                <a:latin typeface="Segoe UI"/>
              </a:defRPr>
            </a:pPr>
            <a:r>
              <a:t>Captures attention weights</a:t>
            </a:r>
            <a:br/>
            <a:r>
              <a:t>from all 3 iterations.</a:t>
            </a:r>
            <a:br/>
            <a:br/>
            <a:r>
              <a:t>Averages → normalises.</a:t>
            </a:r>
            <a:br/>
            <a:r>
              <a:t>Result: 21-value vector</a:t>
            </a:r>
            <a:br/>
            <a:r>
              <a:t>(one importance score</a:t>
            </a:r>
            <a:br/>
            <a:r>
              <a:t>per degradation slot)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0" y="3611880"/>
            <a:ext cx="2468880" cy="27432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A500"/>
                </a:solidFill>
                <a:latin typeface="Segoe UI"/>
              </a:defRPr>
            </a:pPr>
            <a:r>
              <a:t>Self-Attention</a:t>
            </a:r>
            <a:br/>
            <a:r>
              <a:t>Rollout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0690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2E8F0"/>
                </a:solidFill>
                <a:latin typeface="Segoe UI"/>
              </a:defRPr>
            </a:pPr>
            <a:r>
              <a:t>Captures 21×21 attention</a:t>
            </a:r>
            <a:br/>
            <a:r>
              <a:t>matrices from each iteration.</a:t>
            </a:r>
            <a:br/>
            <a:br/>
            <a:r>
              <a:t>Mixes with 50% identity</a:t>
            </a:r>
            <a:br/>
            <a:r>
              <a:t>(residual connection).</a:t>
            </a:r>
            <a:br/>
            <a:r>
              <a:t>Multiplies across iterations.</a:t>
            </a:r>
            <a:br/>
            <a:r>
              <a:t>Result: 21×21 flow matrix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3611880"/>
            <a:ext cx="2468880" cy="27432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FF88"/>
                </a:solidFill>
                <a:latin typeface="Segoe UI"/>
              </a:defRPr>
            </a:pPr>
            <a:r>
              <a:t>Gradient × Input</a:t>
            </a:r>
            <a:br/>
            <a:r>
              <a:t>(LRP)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40690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2E8F0"/>
                </a:solidFill>
                <a:latin typeface="Segoe UI"/>
              </a:defRPr>
            </a:pPr>
            <a:r>
              <a:t>Computes the gradient</a:t>
            </a:r>
            <a:br/>
            <a:r>
              <a:t>of each output w.r.t.</a:t>
            </a:r>
            <a:br/>
            <a:r>
              <a:t>each input feature.</a:t>
            </a:r>
            <a:br/>
            <a:br/>
            <a:r>
              <a:t>Multiplies by input value.</a:t>
            </a:r>
            <a:br/>
            <a:r>
              <a:t>Result: 3 × 21 × 8 tensor</a:t>
            </a:r>
            <a:br/>
            <a:r>
              <a:t>(var × step × feature)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3611880"/>
            <a:ext cx="2468880" cy="2743200"/>
          </a:xfrm>
          <a:prstGeom prst="roundRect">
            <a:avLst/>
          </a:prstGeom>
          <a:solidFill>
            <a:srgbClr val="1E1F42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ACC15"/>
                </a:solidFill>
                <a:latin typeface="Segoe UI"/>
              </a:defRPr>
            </a:pPr>
            <a:r>
              <a:t>Feature</a:t>
            </a:r>
            <a:br/>
            <a:r>
              <a:t>Importance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06908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E2E8F0"/>
                </a:solidFill>
                <a:latin typeface="Segoe UI"/>
              </a:defRPr>
            </a:pPr>
            <a:r>
              <a:t>Sums absolute relevance</a:t>
            </a:r>
            <a:br/>
            <a:r>
              <a:t>across all 21 steps</a:t>
            </a:r>
            <a:br/>
            <a:r>
              <a:t>for each feature.</a:t>
            </a:r>
            <a:br/>
            <a:br/>
            <a:r>
              <a:t>Normalises to percentages.</a:t>
            </a:r>
            <a:br/>
            <a:r>
              <a:t>Result: 8 importance</a:t>
            </a:r>
            <a:br/>
            <a:r>
              <a:t>values per variable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4572000" y="2651760"/>
            <a:ext cx="109728" cy="457200"/>
          </a:xfrm>
          <a:prstGeom prst="downArrow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own Arrow 44"/>
          <p:cNvSpPr/>
          <p:nvPr/>
        </p:nvSpPr>
        <p:spPr>
          <a:xfrm>
            <a:off x="6400800" y="2651760"/>
            <a:ext cx="109728" cy="457200"/>
          </a:xfrm>
          <a:prstGeom prst="downArrow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8229600" y="2651760"/>
            <a:ext cx="109728" cy="457200"/>
          </a:xfrm>
          <a:prstGeom prst="downArrow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C084FC"/>
                </a:solidFill>
                <a:latin typeface="Segoe UI"/>
              </a:defRPr>
            </a:pPr>
            <a:r>
              <a:t>Summary: M9 → M10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2286000" cy="6400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841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MODEL RETRAINING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24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None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822960"/>
            <a:ext cx="2286000" cy="6400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63239" y="841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NEW DEPENDENCIES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1024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Zero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77840" y="822960"/>
            <a:ext cx="2286000" cy="6400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59" y="841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MODEL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23559" y="1024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FF88"/>
                </a:solidFill>
                <a:latin typeface="Segoe UI"/>
              </a:defRPr>
            </a:pPr>
            <a:r>
              <a:t>Unchanged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822960"/>
            <a:ext cx="2286000" cy="64008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841248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AAAAAA"/>
                </a:solidFill>
                <a:latin typeface="Segoe UI"/>
              </a:defRPr>
            </a:pPr>
            <a:r>
              <a:t>XAI METHODS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024128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C084FC"/>
                </a:solidFill>
                <a:latin typeface="Segoe UI"/>
              </a:defRPr>
            </a:pPr>
            <a:r>
              <a:t>3 + Dashboard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1737360"/>
            <a:ext cx="3657600" cy="32004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8288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FF88"/>
                </a:solidFill>
                <a:latin typeface="Segoe UI"/>
              </a:defRPr>
            </a:pPr>
            <a:r>
              <a:t>LRP / Gradient ×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19456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E2E8F0"/>
                </a:solidFill>
                <a:latin typeface="Segoe UI"/>
              </a:defRPr>
            </a:pPr>
            <a:r>
              <a:t>What it answers:</a:t>
            </a:r>
            <a:br/>
            <a:r>
              <a:t>"How much does each soil/pile</a:t>
            </a:r>
            <a:br/>
            <a:r>
              <a:t>parameter contribute to each</a:t>
            </a:r>
            <a:br/>
            <a:r>
              <a:t>degradation step prediction?"</a:t>
            </a:r>
            <a:br/>
            <a:br/>
            <a:r>
              <a:t>Key findings:</a:t>
            </a:r>
            <a:br/>
            <a:r>
              <a:t>▸ Dp/Lp (slenderness) dominates</a:t>
            </a:r>
            <a:br/>
            <a:r>
              <a:t>   KL predictions at 73%</a:t>
            </a:r>
            <a:br/>
            <a:r>
              <a:t>▸ Gmax is 2nd most important</a:t>
            </a:r>
            <a:br/>
            <a:r>
              <a:t>▸ Attribution changes across steps</a:t>
            </a:r>
            <a:br/>
            <a:r>
              <a:t>▸ Different for KL vs KR vs KLR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1737360"/>
            <a:ext cx="3840480" cy="32004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8288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  <a:latin typeface="Segoe UI"/>
              </a:defRPr>
            </a:pPr>
            <a:r>
              <a:t>Attention Rollout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9456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E2E8F0"/>
                </a:solidFill>
                <a:latin typeface="Segoe UI"/>
              </a:defRPr>
            </a:pPr>
            <a:r>
              <a:t>What it answers:</a:t>
            </a:r>
            <a:br/>
            <a:r>
              <a:t>"Where does information flow</a:t>
            </a:r>
            <a:br/>
            <a:r>
              <a:t>inside the model?"</a:t>
            </a:r>
            <a:br/>
            <a:br/>
            <a:r>
              <a:t>Two separate views:</a:t>
            </a:r>
            <a:br/>
            <a:r>
              <a:t>▸ Cross: input → slot flow</a:t>
            </a:r>
            <a:br/>
            <a:r>
              <a:t>   (which steps use input data?)</a:t>
            </a:r>
            <a:br/>
            <a:r>
              <a:t>▸ Self: slot → slot flow</a:t>
            </a:r>
            <a:br/>
            <a:r>
              <a:t>   (which steps talk to each other?)</a:t>
            </a:r>
            <a:br/>
            <a:r>
              <a:t>▸ Residual mixing accounts for</a:t>
            </a:r>
            <a:br/>
            <a:r>
              <a:t>   skip connections in the network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737360"/>
            <a:ext cx="3566160" cy="320040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A500"/>
                </a:solidFill>
                <a:latin typeface="Segoe UI"/>
              </a:defRPr>
            </a:pPr>
            <a:r>
              <a:t>Token Attribution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9456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E2E8F0"/>
                </a:solidFill>
                <a:latin typeface="Segoe UI"/>
              </a:defRPr>
            </a:pPr>
            <a:r>
              <a:t>What it provides:</a:t>
            </a:r>
            <a:br/>
            <a:r>
              <a:t>"An interactive dashboard to</a:t>
            </a:r>
            <a:br/>
            <a:r>
              <a:t>explore explanations visually."</a:t>
            </a:r>
            <a:br/>
            <a:br/>
            <a:r>
              <a:t>Three linked panels:</a:t>
            </a:r>
            <a:br/>
            <a:r>
              <a:t>▸ Feature × Step heatmap</a:t>
            </a:r>
            <a:br/>
            <a:r>
              <a:t>   (red = positive, blue = negative)</a:t>
            </a:r>
            <a:br/>
            <a:r>
              <a:t>▸ Cross-attention bar charts</a:t>
            </a:r>
            <a:br/>
            <a:r>
              <a:t>   (one per iteration + rollout)</a:t>
            </a:r>
            <a:br/>
            <a:r>
              <a:t>▸ Self-attention 21×21 heatmaps</a:t>
            </a:r>
            <a:br/>
            <a:r>
              <a:t>▸ Per-scenario, per-variable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20640"/>
            <a:ext cx="11612880" cy="1463040"/>
          </a:xfrm>
          <a:prstGeom prst="roundRect">
            <a:avLst/>
          </a:prstGeom>
          <a:solidFill>
            <a:srgbClr val="1A1B3A"/>
          </a:solidFill>
          <a:ln w="1524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12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ACC15"/>
                </a:solidFill>
                <a:latin typeface="Segoe UI"/>
              </a:defRPr>
            </a:pPr>
            <a:r>
              <a:t>Why Does Explainability Matter?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E2E8F0"/>
                </a:solidFill>
                <a:latin typeface="Segoe UI"/>
              </a:defRPr>
            </a:pPr>
            <a:r>
              <a:t>A black-box model predicts KL will drop by 15% — but can we trust it? Should engineers act on it?</a:t>
            </a:r>
            <a:br/>
            <a:r>
              <a:t>XAI transforms trust: 'KL drops because Dp/Lp = 0.25 (slender pile) and Gmax = 23 MPa (soft soil)</a:t>
            </a:r>
            <a:br/>
            <a:r>
              <a:t>dominate this scenario, and the early degradation steps are heavily input-driven.'</a:t>
            </a:r>
            <a:br/>
            <a:r>
              <a:t>This is the difference between a number and a decision support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