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5" r:id="rId12"/>
    <p:sldId id="266" r:id="rId13"/>
    <p:sldId id="267" r:id="rId14"/>
    <p:sldId id="275" r:id="rId15"/>
    <p:sldId id="276" r:id="rId16"/>
    <p:sldId id="268" r:id="rId17"/>
    <p:sldId id="27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6" y="-30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params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M6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56646</c:v>
                </c:pt>
                <c:pt idx="1">
                  <c:v>55770</c:v>
                </c:pt>
                <c:pt idx="2">
                  <c:v>45486</c:v>
                </c:pt>
                <c:pt idx="3">
                  <c:v>45502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0-41B7-847B-035B4C33F4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0.98966152170648169</c:v>
                </c:pt>
                <c:pt idx="1">
                  <c:v>0.98822025521096646</c:v>
                </c:pt>
                <c:pt idx="2">
                  <c:v>0.98908465649513966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C9-4B82-98E2-D2388D9908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 (B)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21.600351516072195</c:v>
                </c:pt>
                <c:pt idx="1">
                  <c:v>23.056875226145145</c:v>
                </c:pt>
                <c:pt idx="2">
                  <c:v>22.194798797181736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D7-4F9A-A95C-5C85EE75D9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 (B)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3.1757571160863018</c:v>
                </c:pt>
                <c:pt idx="1">
                  <c:v>3.3142349496490771</c:v>
                </c:pt>
                <c:pt idx="2">
                  <c:v>3.3286002993986918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51-4176-BD16-E8D919F8B3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S56</c:v>
                </c:pt>
                <c:pt idx="1">
                  <c:v>S141</c:v>
                </c:pt>
                <c:pt idx="2">
                  <c:v>S73</c:v>
                </c:pt>
                <c:pt idx="3">
                  <c:v>S84</c:v>
                </c:pt>
                <c:pt idx="4">
                  <c:v>S60</c:v>
                </c:pt>
                <c:pt idx="5">
                  <c:v>S137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34.35</c:v>
                </c:pt>
                <c:pt idx="1">
                  <c:v>25.312999999999999</c:v>
                </c:pt>
                <c:pt idx="2">
                  <c:v>22.411999999999999</c:v>
                </c:pt>
                <c:pt idx="3">
                  <c:v>13.263</c:v>
                </c:pt>
                <c:pt idx="4">
                  <c:v>13.103999999999999</c:v>
                </c:pt>
                <c:pt idx="5">
                  <c:v>12.34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78-4E76-8642-62A1876EE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M7 vs M8 vs M9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9C4D2"/>
                </a:solidFill>
              </a:rPr>
              <a:t>Master Technical Analysis with Full Architecture Drawings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3383280" cy="1965960"/>
          </a:xfrm>
          <a:prstGeom prst="roundRect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2176272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</a:rPr>
              <a:t>M7 Baseline</a:t>
            </a:r>
          </a:p>
          <a:p>
            <a:pPr algn="l"/>
            <a:endParaRPr sz="1600" b="1" dirty="0">
              <a:solidFill>
                <a:srgbClr val="FFFFFF"/>
              </a:solidFill>
            </a:endParaRPr>
          </a:p>
          <a:p>
            <a:pPr algn="l"/>
            <a:r>
              <a:rPr sz="1600" dirty="0">
                <a:solidFill>
                  <a:srgbClr val="FFFFFF"/>
                </a:solidFill>
              </a:rPr>
              <a:t>Parameters</a:t>
            </a:r>
            <a:r>
              <a:rPr sz="1600">
                <a:solidFill>
                  <a:srgbClr val="FFFFFF"/>
                </a:solidFill>
              </a:rPr>
              <a:t>: 55,770</a:t>
            </a:r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26280" y="2057400"/>
            <a:ext cx="3383280" cy="1965960"/>
          </a:xfrm>
          <a:prstGeom prst="roundRect">
            <a:avLst/>
          </a:prstGeom>
          <a:solidFill>
            <a:srgbClr val="E37850"/>
          </a:solidFill>
          <a:ln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1728" y="2176272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</a:rPr>
              <a:t>M8 Efficient</a:t>
            </a:r>
          </a:p>
          <a:p>
            <a:pPr algn="l"/>
            <a:endParaRPr sz="1600" b="1" dirty="0">
              <a:solidFill>
                <a:srgbClr val="FFFFFF"/>
              </a:solidFill>
            </a:endParaRPr>
          </a:p>
          <a:p>
            <a:pPr algn="l"/>
            <a:r>
              <a:rPr sz="1600" dirty="0">
                <a:solidFill>
                  <a:srgbClr val="FFFFFF"/>
                </a:solidFill>
              </a:rPr>
              <a:t>Parameters: 45,486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57400"/>
            <a:ext cx="3383280" cy="1965960"/>
          </a:xfrm>
          <a:prstGeom prst="roundRect">
            <a:avLst/>
          </a:prstGeom>
          <a:solidFill>
            <a:srgbClr val="2C9D8B"/>
          </a:solidFill>
          <a:ln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8" y="2176272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</a:rPr>
              <a:t>M9 </a:t>
            </a:r>
            <a:r>
              <a:rPr sz="1600" b="1" dirty="0" err="1">
                <a:solidFill>
                  <a:srgbClr val="FFFFFF"/>
                </a:solidFill>
              </a:rPr>
              <a:t>SwiGLU</a:t>
            </a:r>
            <a:endParaRPr sz="1600" b="1" dirty="0">
              <a:solidFill>
                <a:srgbClr val="FFFFFF"/>
              </a:solidFill>
            </a:endParaRPr>
          </a:p>
          <a:p>
            <a:pPr algn="l"/>
            <a:endParaRPr sz="1600" b="1" dirty="0">
              <a:solidFill>
                <a:srgbClr val="FFFFFF"/>
              </a:solidFill>
            </a:endParaRPr>
          </a:p>
          <a:p>
            <a:pPr algn="l"/>
            <a:r>
              <a:rPr sz="1600" dirty="0">
                <a:solidFill>
                  <a:srgbClr val="FFFFFF"/>
                </a:solidFill>
              </a:rPr>
              <a:t>Parameters: 45,502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0DBE7"/>
                </a:solidFill>
              </a:rPr>
              <a:t>This deck explains model evolution, why M9 architecture matters, and how each design choice impacts accuracy, compression, and robustness.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What changed from M7 to M8 to M9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3749039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472184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ED2"/>
                </a:solidFill>
              </a:rPr>
              <a:t>M7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828800"/>
            <a:ext cx="349300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Wide slot MLP: 64 -&gt; 128 -&gt; 64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Fixed relation matrix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k*=6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R2=0.9897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Params=55,770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17320"/>
            <a:ext cx="3749039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61688" y="1472184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7850"/>
                </a:solidFill>
              </a:rPr>
              <a:t>M8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28800"/>
            <a:ext cx="349300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Bottleneck MLP: 64 -&gt; 48 -&gt; 64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Learnable relation matrix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Physics monotonic loss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k*=5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R2=0.9882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Params=45,486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6576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2167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M9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828800"/>
            <a:ext cx="340156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SwiGLU gated MLP (hidden=32)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Learnable relation matrix (same principle as M8)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Full A/B/C retraining in latest run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k*=5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R2=0.9891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Params=45,502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Problem and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Predict pile stiffness degradation across 21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383280" cy="4480560"/>
          </a:xfrm>
          <a:prstGeom prst="roundRect">
            <a:avLst/>
          </a:prstGeom>
          <a:solidFill>
            <a:srgbClr val="E7F2FF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664208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ED2"/>
                </a:solidFill>
              </a:rPr>
              <a:t>Input Features (8)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PI, Gmax, v, Dp, Tp, Lp, Ip, Dp/Lp</a:t>
            </a:r>
          </a:p>
          <a:p>
            <a:pPr algn="l"/>
            <a:endParaRPr sz="1300">
              <a:solidFill>
                <a:srgbClr val="2D6ED2"/>
              </a:solidFill>
            </a:endParaRPr>
          </a:p>
          <a:p>
            <a:pPr algn="l"/>
            <a:r>
              <a:rPr sz="1300">
                <a:solidFill>
                  <a:srgbClr val="2D6ED2"/>
                </a:solidFill>
              </a:rPr>
              <a:t>Model sees one scenario and predicts full time response.</a:t>
            </a:r>
          </a:p>
          <a:p>
            <a:pPr algn="l"/>
            <a:endParaRPr sz="1300">
              <a:solidFill>
                <a:srgbClr val="2D6ED2"/>
              </a:solidFill>
            </a:endParaRPr>
          </a:p>
          <a:p>
            <a:pPr algn="l"/>
            <a:r>
              <a:rPr sz="1300">
                <a:solidFill>
                  <a:srgbClr val="2D6ED2"/>
                </a:solidFill>
              </a:rPr>
              <a:t>Data: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- 1019 scenarios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Train 815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Test 204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080" y="3611880"/>
            <a:ext cx="73152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92040" y="1554480"/>
            <a:ext cx="2468880" cy="4480560"/>
          </a:xfrm>
          <a:prstGeom prst="roundRect">
            <a:avLst/>
          </a:prstGeom>
          <a:solidFill>
            <a:srgbClr val="FFF7EC"/>
          </a:solidFill>
          <a:ln w="1905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56632" y="1664208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</a:rPr>
              <a:t>Psi-NN Core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Slot attention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Per-slot MLP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Relation matrix R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Output head</a:t>
            </a:r>
          </a:p>
          <a:p>
            <a:pPr algn="ctr"/>
            <a:endParaRPr sz="1300">
              <a:solidFill>
                <a:srgbClr val="17222D"/>
              </a:solidFill>
            </a:endParaRPr>
          </a:p>
          <a:p>
            <a:pPr algn="ctr"/>
            <a:r>
              <a:rPr sz="1300">
                <a:solidFill>
                  <a:srgbClr val="17222D"/>
                </a:solidFill>
              </a:rPr>
              <a:t>Differences between M7/M8/M9 happen here.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611880"/>
            <a:ext cx="73152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75320" y="1554480"/>
            <a:ext cx="3383280" cy="4480560"/>
          </a:xfrm>
          <a:prstGeom prst="roundRect">
            <a:avLst/>
          </a:prstGeom>
          <a:solidFill>
            <a:srgbClr val="E7F9F2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49056" y="1664208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8B"/>
                </a:solidFill>
              </a:rPr>
              <a:t>Outputs (3 x 21)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KL: lateral stiffness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KR: rocking stiffness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KLR: coupling stiffness</a:t>
            </a:r>
          </a:p>
          <a:p>
            <a:pPr algn="l"/>
            <a:endParaRPr sz="1300">
              <a:solidFill>
                <a:srgbClr val="2C9D8B"/>
              </a:solidFill>
            </a:endParaRPr>
          </a:p>
          <a:p>
            <a:pPr algn="l"/>
            <a:r>
              <a:rPr sz="1300">
                <a:solidFill>
                  <a:srgbClr val="2C9D8B"/>
                </a:solidFill>
              </a:rPr>
              <a:t>Targets: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High R2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Low RMSE / MAE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Physically consistent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M7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Baseline structured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6ED2"/>
                </a:solidFill>
              </a:rPr>
              <a:t>M7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C6DDFB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Soil + pile features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B1CDF5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Feature lift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9DBEEE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+ 6 prototype slots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7CAAE6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64-&gt;128-&gt;64 (GELU)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92B8ED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Fixed Relation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20x6, frozen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ABC7F2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64-&gt;3 then cumsum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6ED2"/>
                </a:solidFill>
              </a:rPr>
              <a:t>Total 55,770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ED2"/>
                </a:solidFill>
              </a:rPr>
              <a:t>M7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Strong baseline accuracy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High MLP parameter cost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Relation matrix cannot adapt after initialization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Best in this snapshot by pure R2 but weak compression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M8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Efficiency upgrades + learnable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37850"/>
                </a:solidFill>
              </a:rPr>
              <a:t>M8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FCDED0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 data interface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F7CCB7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F4BCA3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+ 5 prototypes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E78D68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64-&gt;48-&gt;64 bottleneck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F2B094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Learnable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20x5 logits-&gt;softmax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F7C5AF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+ 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KL/KR down, KLR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37850"/>
                </a:solidFill>
              </a:rPr>
              <a:t>Total 45,486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7850"/>
                </a:solidFill>
              </a:rPr>
              <a:t>M8 Upgrades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MLP parameter drop by about 62% versus M7 MLP block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Learnable relation matrix allows end-to-end adaptation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Physics-aware loss improves physical plausibility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Compression jumps to 19.7% vs M6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M9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SwiGLU gating replaces plain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9D8B"/>
                </a:solidFill>
              </a:rPr>
              <a:t>M9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CEF1E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B7E8DC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A4E0D2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+ 5 prototypes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4ABAA5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SwiGLU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gate/value branches, hidden=32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87D6C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Learnable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20x5 logits-&gt;softmax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A8E2D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+ 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9D8B"/>
                </a:solidFill>
              </a:rPr>
              <a:t>Total 45,502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M9 Intent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Keep M8 compactness while increasing representational power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SwiGLU gating selects informative channels per slot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Maintains learnable relation matrix and physics constraints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Strong KL and KLR improvements in latest full retrain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Side-by-Side Architecture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Pipeline is shared, key differences highlighted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6ED2"/>
                </a:solidFill>
              </a:rPr>
              <a:t>M7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" y="1691640"/>
            <a:ext cx="2331720" cy="484632"/>
          </a:xfrm>
          <a:prstGeom prst="roundRect">
            <a:avLst/>
          </a:prstGeom>
          <a:solidFill>
            <a:srgbClr val="7CAAE6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32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64-&gt;128-&gt;64</a:t>
            </a:r>
          </a:p>
        </p:txBody>
      </p:sp>
      <p:sp>
        <p:nvSpPr>
          <p:cNvPr id="8" name="Down Arrow 7"/>
          <p:cNvSpPr/>
          <p:nvPr/>
        </p:nvSpPr>
        <p:spPr>
          <a:xfrm>
            <a:off x="1911096" y="2176272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5820" y="2359152"/>
            <a:ext cx="2331720" cy="484632"/>
          </a:xfrm>
          <a:prstGeom prst="roundRect">
            <a:avLst/>
          </a:prstGeom>
          <a:solidFill>
            <a:srgbClr val="92B8ED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fixed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911096" y="2843784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5820" y="3026664"/>
            <a:ext cx="2331720" cy="484632"/>
          </a:xfrm>
          <a:prstGeom prst="roundRect">
            <a:avLst/>
          </a:prstGeom>
          <a:solidFill>
            <a:srgbClr val="ABC7F2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 prototypes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6ED2"/>
                </a:solidFill>
              </a:rPr>
              <a:t>R2 0.9897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06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37850"/>
                </a:solidFill>
              </a:rPr>
              <a:t>M8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0620" y="1691640"/>
            <a:ext cx="2331720" cy="484632"/>
          </a:xfrm>
          <a:prstGeom prst="roundRect">
            <a:avLst/>
          </a:prstGeom>
          <a:solidFill>
            <a:srgbClr val="E78D68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80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71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64-&gt;48-&gt;64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025896" y="2176272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960620" y="2359152"/>
            <a:ext cx="2331720" cy="484632"/>
          </a:xfrm>
          <a:prstGeom prst="roundRect">
            <a:avLst/>
          </a:prstGeom>
          <a:solidFill>
            <a:srgbClr val="F2B094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80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71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learnable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25896" y="2843784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960620" y="3026664"/>
            <a:ext cx="2331720" cy="484632"/>
          </a:xfrm>
          <a:prstGeom prst="roundRect">
            <a:avLst/>
          </a:prstGeom>
          <a:solidFill>
            <a:srgbClr val="F7C5AF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80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71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5 prototypes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062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37850"/>
                </a:solidFill>
              </a:rPr>
              <a:t>R2 0.9882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398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9D8B"/>
                </a:solidFill>
              </a:rPr>
              <a:t>M9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3980" y="1691640"/>
            <a:ext cx="2331720" cy="484632"/>
          </a:xfrm>
          <a:prstGeom prst="roundRect">
            <a:avLst/>
          </a:prstGeom>
          <a:solidFill>
            <a:srgbClr val="4ABAA5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11411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0555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SwiGLU hidden=32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0049256" y="2176272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983980" y="2359152"/>
            <a:ext cx="2331720" cy="484632"/>
          </a:xfrm>
          <a:prstGeom prst="roundRect">
            <a:avLst/>
          </a:prstGeom>
          <a:solidFill>
            <a:srgbClr val="87D6C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11411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0555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learnable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0049256" y="2843784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983980" y="3026664"/>
            <a:ext cx="2331720" cy="484632"/>
          </a:xfrm>
          <a:prstGeom prst="roundRect">
            <a:avLst/>
          </a:prstGeom>
          <a:solidFill>
            <a:srgbClr val="A8E2D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11411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0555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5 prototypes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398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9D8B"/>
                </a:solidFill>
              </a:rPr>
              <a:t>R2 0.9891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Learnable Relation Matrix (logits -&gt; softmax)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From fixed mixing to trainable prototype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30352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Definition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R_logits is a trainable tensor with shape (20, k*).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Each row corresponds to one reconstructed drop slot.</a:t>
            </a:r>
          </a:p>
          <a:p>
            <a:pPr algn="l"/>
            <a:endParaRPr sz="1200">
              <a:solidFill>
                <a:srgbClr val="17222D"/>
              </a:solidFill>
            </a:endParaRPr>
          </a:p>
          <a:p>
            <a:pPr algn="l"/>
            <a:r>
              <a:rPr sz="1200">
                <a:solidFill>
                  <a:srgbClr val="17222D"/>
                </a:solidFill>
              </a:rPr>
              <a:t>Conversion to valid weights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R_soft = softmax(R_logits, dim=1)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This ensures each row sums to 1.</a:t>
            </a:r>
          </a:p>
          <a:p>
            <a:pPr algn="l"/>
            <a:endParaRPr sz="1200">
              <a:solidFill>
                <a:srgbClr val="17222D"/>
              </a:solidFill>
            </a:endParaRPr>
          </a:p>
          <a:p>
            <a:pPr algn="l"/>
            <a:r>
              <a:rPr sz="1200">
                <a:solidFill>
                  <a:srgbClr val="17222D"/>
                </a:solidFill>
              </a:rPr>
              <a:t>Reconstruction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drop_slots = R_soft @ prototype_slots</a:t>
            </a:r>
          </a:p>
          <a:p>
            <a:pPr algn="l"/>
            <a:endParaRPr sz="1200">
              <a:solidFill>
                <a:srgbClr val="17222D"/>
              </a:solidFill>
            </a:endParaRPr>
          </a:p>
          <a:p>
            <a:pPr algn="l"/>
            <a:r>
              <a:rPr sz="1200">
                <a:solidFill>
                  <a:srgbClr val="17222D"/>
                </a:solidFill>
              </a:rPr>
              <a:t>Why this matters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Gradients update routing weights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Matrix can adapt to data and loss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Better than frozen heuristic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08760"/>
            <a:ext cx="5715000" cy="2148840"/>
          </a:xfrm>
          <a:prstGeom prst="roundRect">
            <a:avLst/>
          </a:prstGeom>
          <a:solidFill>
            <a:srgbClr val="FFF6EC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90488" y="167335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Visual pipeline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prototype slots (k* vectors) -&gt; R logits -&gt; row softmax -&gt; weighted sum -&gt; 20 drop slots</a:t>
            </a:r>
          </a:p>
          <a:p>
            <a:pPr algn="l"/>
            <a:endParaRPr sz="1200">
              <a:solidFill>
                <a:srgbClr val="17222D"/>
              </a:solidFill>
            </a:endParaRPr>
          </a:p>
          <a:p>
            <a:pPr algn="l"/>
            <a:r>
              <a:rPr sz="1200">
                <a:solidFill>
                  <a:srgbClr val="17222D"/>
                </a:solidFill>
              </a:rPr>
              <a:t>In M7: R is fixed. In M8/M9: R is learned.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3794760"/>
            <a:ext cx="571500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0488" y="3959352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Observed in M9 full retrain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 = 5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Learned R max-per-row average = 1.000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Sparsity (&lt;0.05 entries): 80/100</a:t>
            </a:r>
          </a:p>
          <a:p>
            <a:pPr algn="l"/>
            <a:endParaRPr sz="1200">
              <a:solidFill>
                <a:srgbClr val="17222D"/>
              </a:solidFill>
            </a:endParaRPr>
          </a:p>
          <a:p>
            <a:pPr algn="l"/>
            <a:r>
              <a:rPr sz="1200">
                <a:solidFill>
                  <a:srgbClr val="17222D"/>
                </a:solidFill>
              </a:rPr>
              <a:t>Interpretation: routing becomes highly selective.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SwiGLU Gated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How M9 increases expressiveness without large parameter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57784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2940" y="1751076"/>
            <a:ext cx="5212080" cy="411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17222D"/>
                </a:solidFill>
              </a:rPr>
              <a:t>SwiGLU</a:t>
            </a:r>
            <a:r>
              <a:rPr sz="1200" b="1" dirty="0">
                <a:solidFill>
                  <a:srgbClr val="17222D"/>
                </a:solidFill>
              </a:rPr>
              <a:t> equation</a:t>
            </a:r>
          </a:p>
          <a:p>
            <a:pPr algn="l"/>
            <a:r>
              <a:rPr sz="1200" dirty="0">
                <a:solidFill>
                  <a:srgbClr val="17222D"/>
                </a:solidFill>
              </a:rPr>
              <a:t>gate = </a:t>
            </a:r>
            <a:r>
              <a:rPr sz="1200" dirty="0" err="1">
                <a:solidFill>
                  <a:srgbClr val="17222D"/>
                </a:solidFill>
              </a:rPr>
              <a:t>SiLU</a:t>
            </a:r>
            <a:r>
              <a:rPr sz="1200" dirty="0">
                <a:solidFill>
                  <a:srgbClr val="17222D"/>
                </a:solidFill>
              </a:rPr>
              <a:t>(</a:t>
            </a:r>
            <a:r>
              <a:rPr sz="1200" dirty="0" err="1">
                <a:solidFill>
                  <a:srgbClr val="17222D"/>
                </a:solidFill>
              </a:rPr>
              <a:t>W_gate</a:t>
            </a:r>
            <a:r>
              <a:rPr sz="1200" dirty="0">
                <a:solidFill>
                  <a:srgbClr val="17222D"/>
                </a:solidFill>
              </a:rPr>
              <a:t> x)</a:t>
            </a:r>
          </a:p>
          <a:p>
            <a:pPr algn="l"/>
            <a:r>
              <a:rPr sz="1200" dirty="0">
                <a:solidFill>
                  <a:srgbClr val="17222D"/>
                </a:solidFill>
              </a:rPr>
              <a:t>value = </a:t>
            </a:r>
            <a:r>
              <a:rPr sz="1200" dirty="0" err="1">
                <a:solidFill>
                  <a:srgbClr val="17222D"/>
                </a:solidFill>
              </a:rPr>
              <a:t>W_val</a:t>
            </a:r>
            <a:r>
              <a:rPr sz="1200" dirty="0">
                <a:solidFill>
                  <a:srgbClr val="17222D"/>
                </a:solidFill>
              </a:rPr>
              <a:t> x</a:t>
            </a:r>
          </a:p>
          <a:p>
            <a:pPr algn="l"/>
            <a:r>
              <a:rPr sz="1200" dirty="0">
                <a:solidFill>
                  <a:srgbClr val="17222D"/>
                </a:solidFill>
              </a:rPr>
              <a:t>out = </a:t>
            </a:r>
            <a:r>
              <a:rPr sz="1200" dirty="0" err="1">
                <a:solidFill>
                  <a:srgbClr val="17222D"/>
                </a:solidFill>
              </a:rPr>
              <a:t>W_out</a:t>
            </a:r>
            <a:r>
              <a:rPr sz="1200" dirty="0">
                <a:solidFill>
                  <a:srgbClr val="17222D"/>
                </a:solidFill>
              </a:rPr>
              <a:t> (gate * value)</a:t>
            </a:r>
          </a:p>
          <a:p>
            <a:pPr algn="l"/>
            <a:endParaRPr sz="1200" dirty="0">
              <a:solidFill>
                <a:srgbClr val="17222D"/>
              </a:solidFill>
            </a:endParaRPr>
          </a:p>
          <a:p>
            <a:pPr algn="l"/>
            <a:r>
              <a:rPr sz="1200" dirty="0">
                <a:solidFill>
                  <a:srgbClr val="17222D"/>
                </a:solidFill>
              </a:rPr>
              <a:t>Mechanism</a:t>
            </a:r>
          </a:p>
          <a:p>
            <a:pPr algn="l"/>
            <a:r>
              <a:rPr sz="1200" dirty="0">
                <a:solidFill>
                  <a:srgbClr val="17222D"/>
                </a:solidFill>
              </a:rPr>
              <a:t>- gate branch controls importance per dimension</a:t>
            </a:r>
          </a:p>
          <a:p>
            <a:pPr algn="l"/>
            <a:r>
              <a:rPr sz="1200" dirty="0">
                <a:solidFill>
                  <a:srgbClr val="17222D"/>
                </a:solidFill>
              </a:rPr>
              <a:t>- value branch carries content</a:t>
            </a:r>
          </a:p>
          <a:p>
            <a:pPr algn="l"/>
            <a:r>
              <a:rPr sz="1200" dirty="0">
                <a:solidFill>
                  <a:srgbClr val="17222D"/>
                </a:solidFill>
              </a:rPr>
              <a:t>- element-wise multiplication acts as dynamic filter</a:t>
            </a:r>
          </a:p>
          <a:p>
            <a:pPr algn="l"/>
            <a:endParaRPr sz="1200" dirty="0">
              <a:solidFill>
                <a:srgbClr val="17222D"/>
              </a:solidFill>
            </a:endParaR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•  The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gate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learns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WHICH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features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propagate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selective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filtering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• 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 state-of-the-art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LLMs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LLaMA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PaLM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Mistral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• 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Same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parameter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count as M8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bottleneck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(6,272 ≈ 6,256)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•  But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provably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more expressive due to multiplicative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gating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M9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keeps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ALL M8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improvements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Learnable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relation matrix (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softmax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logits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Physics-monotonic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entropy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regularisation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500"/>
              </a:spcAft>
              <a:defRPr sz="1200">
                <a:solidFill>
                  <a:srgbClr val="CCCCDD"/>
                </a:solidFill>
                <a:latin typeface="Calibri"/>
              </a:defRPr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Same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training pipeline (A → B → 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1554480" cy="457200"/>
          </a:xfrm>
          <a:prstGeom prst="roundRect">
            <a:avLst/>
          </a:prstGeom>
          <a:solidFill>
            <a:srgbClr val="CEF1E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647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x (64)</a:t>
            </a:r>
          </a:p>
        </p:txBody>
      </p:sp>
      <p:sp>
        <p:nvSpPr>
          <p:cNvPr id="8" name="Down Arrow 7"/>
          <p:cNvSpPr/>
          <p:nvPr/>
        </p:nvSpPr>
        <p:spPr>
          <a:xfrm>
            <a:off x="7059168" y="2103120"/>
            <a:ext cx="201168" cy="182880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2148840" cy="530352"/>
          </a:xfrm>
          <a:prstGeom prst="roundRect">
            <a:avLst/>
          </a:prstGeom>
          <a:solidFill>
            <a:srgbClr val="95DECF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7222D"/>
                </a:solidFill>
              </a:rPr>
              <a:t>Gate path: SiLU(W_gate 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331720"/>
            <a:ext cx="2148840" cy="530352"/>
          </a:xfrm>
          <a:prstGeom prst="roundRect">
            <a:avLst/>
          </a:prstGeom>
          <a:solidFill>
            <a:srgbClr val="B5E8DD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7222D"/>
                </a:solidFill>
              </a:rPr>
              <a:t>Value path: W_val 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2560320"/>
            <a:ext cx="411480" cy="228600"/>
          </a:xfrm>
          <a:prstGeom prst="rightArrow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35240" y="3154680"/>
            <a:ext cx="1920240" cy="502920"/>
          </a:xfrm>
          <a:prstGeom prst="roundRect">
            <a:avLst/>
          </a:prstGeom>
          <a:solidFill>
            <a:srgbClr val="51BDA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3319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Element-wise gate * value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03920" y="3657600"/>
            <a:ext cx="201168" cy="182880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52360" y="3977639"/>
            <a:ext cx="2331720" cy="548640"/>
          </a:xfrm>
          <a:prstGeom prst="roundRect">
            <a:avLst/>
          </a:prstGeom>
          <a:solidFill>
            <a:srgbClr val="8CD6C6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41605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W_out -&gt; output (64)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709160"/>
            <a:ext cx="47548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4846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22D"/>
                </a:solidFill>
              </a:rPr>
              <a:t>Parameter comparison of slot MLP block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M7 wide: 16,512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M8 bottleneck: 6,256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M9 SwiGLU: 6,272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9F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9F0AE"/>
                </a:solidFill>
                <a:latin typeface="Calibri"/>
              </a:defRPr>
            </a:pPr>
            <a:r>
              <a:t>09  SwiGLU vs GELU MLP — Schematic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5303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Calibri"/>
              </a:defRPr>
            </a:pPr>
            <a:r>
              <a:t>M7: Standard GELU 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64 → 128 → 64  (16,576 params)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39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Input x ∈ ℝ⁶⁴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50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70048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B5F6"/>
                </a:solidFill>
                <a:latin typeface="Calibri"/>
              </a:defRPr>
            </a:pPr>
            <a:r>
              <a:t>W₁ · x + b₁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Linear 64→128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28416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355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GELU(·)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A3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86784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0142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AA"/>
                </a:solidFill>
                <a:latin typeface="Calibri"/>
              </a:defRPr>
            </a:pPr>
            <a:r>
              <a:t>Dropout(0.1)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059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Regularisation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4256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45152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672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B5F6"/>
                </a:solidFill>
                <a:latin typeface="Calibri"/>
              </a:defRPr>
            </a:pPr>
            <a:r>
              <a:t>W₂ · h + b₂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7183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Linear 128→64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0840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B5F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03520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330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Output ∈ ℝ⁶⁴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1097280"/>
            <a:ext cx="3474720" cy="5303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4D"/>
                </a:solidFill>
                <a:latin typeface="Calibri"/>
              </a:defRPr>
            </a:pPr>
            <a:r>
              <a:t>M8: Bottleneck MLP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64 → 48 → 64  (6,256 params)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2011680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2039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Input x ∈ ℝ⁶⁴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450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2670048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74D"/>
                </a:solidFill>
                <a:latin typeface="Calibri"/>
              </a:defRPr>
            </a:pPr>
            <a:r>
              <a:t>W₁ · x + b₁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Linear 64→48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74D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3328416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3355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GELU(·)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Activation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A3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3986784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46320" y="40142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AA"/>
                </a:solidFill>
                <a:latin typeface="Calibri"/>
              </a:defRPr>
            </a:pPr>
            <a:r>
              <a:t>Dropout(0.1)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059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Regularisation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44256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4645152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46320" y="4672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74D"/>
                </a:solidFill>
                <a:latin typeface="Calibri"/>
              </a:defRPr>
            </a:pPr>
            <a:r>
              <a:t>W₂ · h + b₂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7183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AA"/>
                </a:solidFill>
                <a:latin typeface="Calibri"/>
              </a:defRPr>
            </a:pPr>
            <a:r>
              <a:t>Linear 48→64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0840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74D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0" y="5303520"/>
            <a:ext cx="2560320" cy="47548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46320" y="5330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Output ∈ ℝ⁶⁴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1097280"/>
            <a:ext cx="3566160" cy="5303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9F0AE"/>
                </a:solidFill>
                <a:latin typeface="Calibri"/>
              </a:defRPr>
            </a:pPr>
            <a:r>
              <a:t>M9: SwiGLU MLP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Gate + Value parallel  (6,272 params)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2011680"/>
            <a:ext cx="2743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Input x ∈ ℝ⁶⁴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23957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9F0AE"/>
                </a:solidFill>
                <a:latin typeface="Calibri"/>
              </a:defRPr>
            </a:pPr>
            <a:r>
              <a:t>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23957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9F0AE"/>
                </a:solidFill>
                <a:latin typeface="Calibri"/>
              </a:defRPr>
            </a:pPr>
            <a:r>
              <a:t>↘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2743200"/>
            <a:ext cx="141732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27614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W_gate·x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3108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3291840"/>
            <a:ext cx="141732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58200" y="33101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SiLU(·)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9840" y="2743200"/>
            <a:ext cx="141732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95560" y="27614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alibri"/>
              </a:defRPr>
            </a:pPr>
            <a:r>
              <a:t>W_val·x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703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9F0AE"/>
                </a:solidFill>
                <a:latin typeface="Calibri"/>
              </a:defRPr>
            </a:pPr>
            <a:r>
              <a:t>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3200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9F0A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61120" y="3977639"/>
            <a:ext cx="201168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06840" y="39959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F0AE"/>
                </a:solidFill>
                <a:latin typeface="Calibri"/>
              </a:defRPr>
            </a:pPr>
            <a:r>
              <a:t>gate ⊙ value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343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9F0A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61120" y="4572000"/>
            <a:ext cx="201168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006840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AA"/>
                </a:solidFill>
                <a:latin typeface="Calibri"/>
              </a:defRPr>
            </a:pPr>
            <a:r>
              <a:t>Dropout(0.1)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4937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9F0A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61120" y="5166360"/>
            <a:ext cx="201168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06840" y="51846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F0AE"/>
                </a:solidFill>
                <a:latin typeface="Calibri"/>
              </a:defRPr>
            </a:pPr>
            <a:r>
              <a:t>W_out → ℝ⁶⁴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61120" y="5715000"/>
            <a:ext cx="201168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006840" y="5733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Output ∈ ℝ⁶⁴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Parameter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Compression vs representation trade-off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5760720" cy="37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46520" y="1600200"/>
          <a:ext cx="5257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Compression vs M6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MLP core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55,770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1.5%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Wide MLP 64-&gt;128-&gt;64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45,486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Bottleneck MLP 64-&gt;48-&gt;64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45,502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SwiGLU gated MLP (hidden=32)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457200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Interpretation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M8/M9 remove about 10.3k parameters versus M7.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M9 keeps M8-size efficiency while adding gating expressiveness.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Accuracy and Error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R2 higher is better, RMSE/MAE lower is better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3749039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343400" y="1645920"/>
          <a:ext cx="3749039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0" y="1645920"/>
          <a:ext cx="3474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074920"/>
          <a:ext cx="112471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Error rate (1-R2)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2.160e+10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3.176e+09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0.0103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0.9882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2.306e+10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3.314e+09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0.9891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2.219e+10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3.329e+09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Per-Variable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KL, KR, KLR detailed 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6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KL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KR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KLR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KL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KR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KLR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0.9807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0.9860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6.106e+07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3.739e+10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1.292e+09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0.9780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0.9845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6.811e+07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3.991e+10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1.360e+09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0.9905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0.9796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0.9860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6.259e+07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3.842e+10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1.290e+09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26280"/>
            <a:ext cx="55778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5811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4937760"/>
            <a:ext cx="53218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M9 has the best KL and KLR R2 among M7/M8/M9 in this run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KR remains the hardest target and dominates RMSE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526280"/>
            <a:ext cx="55778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6208" y="45811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5B"/>
                </a:solidFill>
              </a:rPr>
              <a:t>Error-rate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4937760"/>
            <a:ext cx="53218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Absolute R2 differences are small between M7 and M9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M9 advantage is efficiency + architectural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142B-FEA9-0D90-E9C7-FAB1E1C0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13F361-F7E6-40C5-CAC2-479DB29B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131"/>
            <a:ext cx="12192000" cy="575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29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454C-EF74-9F2D-D482-4536D20B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6DB55-2C5D-D30E-65BD-AE0C2A664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013"/>
            <a:ext cx="12192000" cy="579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04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M9 full retraining: Stage A -&gt; Stage B -&gt; Stage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2011680"/>
          </a:xfrm>
          <a:prstGeom prst="roundRect">
            <a:avLst/>
          </a:prstGeom>
          <a:solidFill>
            <a:srgbClr val="E9F2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810512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Stage A: Distillation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Train SwiGLU student from teacher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Early stopped at epoch 1118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Student R2: 0.9885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87952" y="2514600"/>
            <a:ext cx="54864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2560320" cy="2011680"/>
          </a:xfrm>
          <a:prstGeom prst="roundRect">
            <a:avLst/>
          </a:prstGeom>
          <a:solidFill>
            <a:srgbClr val="FFF2E8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1810512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22D"/>
                </a:solidFill>
              </a:rPr>
              <a:t>Stage B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Cluster slots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k*=5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Silhouette=0.673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71231" y="2514600"/>
            <a:ext cx="54864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75320" y="1645920"/>
            <a:ext cx="3520440" cy="2011680"/>
          </a:xfrm>
          <a:prstGeom prst="roundRect">
            <a:avLst/>
          </a:prstGeom>
          <a:solidFill>
            <a:srgbClr val="E5F5E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181051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Stage C: Structured M9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Train final Psi model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Early stopped at epoch 572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Final R2: 0.9891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977639"/>
          <a:ext cx="111556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M9 (latest)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A/B/C pipeline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k* discovered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Relation matrix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Fixed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MLP 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Wide GELU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Bottleneck GELU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SwiGLU gated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rPr dirty="0"/>
              <a:t>M9 + Cross-Attention Adapter (Stage 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An optional decoder-style extension inspired by the SCm→WTm encoder-decoder coupling in the research paper.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94360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A33"/>
                </a:solidFill>
                <a:latin typeface="Calibri"/>
              </a:defRPr>
            </a:pPr>
            <a:r>
              <a:t>Adapter Architecture (Schematic)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Calibri"/>
              </a:defRPr>
            </a:pPr>
            <a:r>
              <a:t>Input x → M9 Encoder (FROZEN)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32888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5511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999AA"/>
                </a:solidFill>
                <a:latin typeface="Calibri"/>
              </a:defRPr>
            </a:pPr>
            <a:r>
              <a:t>Frozen Slot States S_f ∈ ℝ²¹ˣ⁶⁴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98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A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99816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1181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Learned Decoder Queries 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655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AA3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66744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6850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Calibri"/>
              </a:defRPr>
            </a:pPr>
            <a:r>
              <a:t>Cross-Attn(Q, K=S_f, V=S_f)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0325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33672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9B0"/>
                </a:solidFill>
                <a:latin typeface="Calibri"/>
              </a:defRPr>
            </a:pPr>
            <a:r>
              <a:t>LayerNorm(Q + Attn_out)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599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B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00600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818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σ(gate) · decoded + S_f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66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AA3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367528"/>
            <a:ext cx="5029200" cy="38404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9F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3858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9F0AE"/>
                </a:solidFill>
                <a:latin typeface="Calibri"/>
              </a:defRPr>
            </a:pPr>
            <a:r>
              <a:t>Output Heads → Final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1371600"/>
            <a:ext cx="502920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1. The entire M9 base model is FROZEN (no gradients).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2. A new set of learnable "decoder queries" is created.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3. These queries attend to the frozen M9 slot states via cross-attention.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4. A learnable gate (sigmoid) controls how much adapter output is mixed in.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5. Only the adapter's parameters are trained (~18,241 trainable).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Key Metrics: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   Total params:     63,743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   Trainable params: 18,241 (adapter only)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   Base R²:          0.9891 (frozen M9)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   Adapter R²:       0.9881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💡 The adapter allows extending M9 without modifying the base model — </a:t>
            </a:r>
          </a:p>
          <a:p>
            <a:pPr>
              <a:spcAft>
                <a:spcPts val="600"/>
              </a:spcAft>
              <a:defRPr sz="1100">
                <a:solidFill>
                  <a:srgbClr val="CCCCDD"/>
                </a:solidFill>
                <a:latin typeface="Calibri"/>
              </a:defRPr>
            </a:pPr>
            <a:r>
              <a:rPr dirty="0"/>
              <a:t>useful for domain adaptation or multi-task scenarios.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5384616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17222D"/>
                </a:solidFill>
              </a:rPr>
              <a:t>M9 Cross-Attention Adapter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Code-level view of queries, attention weights, fusion, and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86400" cy="2057400"/>
          </a:xfrm>
          <a:prstGeom prst="roundRect">
            <a:avLst/>
          </a:prstGeom>
          <a:solidFill>
            <a:srgbClr val="E5F5E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12064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17222D"/>
                </a:solidFill>
              </a:rPr>
              <a:t>1</a:t>
            </a:r>
            <a:r>
              <a:rPr sz="800" b="1" dirty="0">
                <a:solidFill>
                  <a:srgbClr val="17222D"/>
                </a:solidFill>
              </a:rPr>
              <a:t>)</a:t>
            </a:r>
            <a:r>
              <a:rPr lang="en-US" sz="1100" dirty="0"/>
              <a:t> 1) Frozen encoder slots from base M9</a:t>
            </a:r>
          </a:p>
          <a:p>
            <a:r>
              <a:rPr lang="en-US" sz="1100" dirty="0" err="1"/>
              <a:t>S_f</a:t>
            </a:r>
            <a:r>
              <a:rPr lang="en-US" sz="1100" dirty="0"/>
              <a:t> in R^(B x 21 x 64) are produced by the frozen M9 core.</a:t>
            </a:r>
          </a:p>
          <a:p>
            <a:r>
              <a:rPr lang="en-US" sz="1100" dirty="0"/>
              <a:t>No base M9 weights are updated in this branch.  </a:t>
            </a:r>
          </a:p>
          <a:p>
            <a:br>
              <a:rPr lang="en-US" sz="1100" dirty="0"/>
            </a:br>
            <a:r>
              <a:rPr lang="en-US" sz="1100" dirty="0" err="1"/>
              <a:t>S_f</a:t>
            </a:r>
            <a:r>
              <a:rPr lang="en-US" sz="1100" dirty="0"/>
              <a:t> with shape (B, 21, 64) is the representation produced by the original M9 branch.</a:t>
            </a:r>
            <a:br>
              <a:rPr lang="en-US" sz="1100" dirty="0"/>
            </a:br>
            <a:r>
              <a:rPr lang="en-US" sz="1100" dirty="0"/>
              <a:t>B is batch size, 21 is the sequence length (time steps), 64 is latent feature width.</a:t>
            </a:r>
            <a:br>
              <a:rPr lang="en-US" sz="1100" dirty="0"/>
            </a:br>
            <a:r>
              <a:rPr lang="en-US" sz="1100" dirty="0"/>
              <a:t>Frozen means this branch is not updated during adapter training, so M9 keeps its original knowledge unchanged.</a:t>
            </a:r>
          </a:p>
          <a:p>
            <a:br>
              <a:rPr lang="en-US" sz="1100" dirty="0"/>
            </a:br>
            <a:r>
              <a:rPr lang="en-US" sz="1100" dirty="0"/>
              <a:t>The adapter does not rebuild M9. It reads M9’s slot memory and learns only a correction on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46889"/>
            <a:ext cx="5440680" cy="3227832"/>
          </a:xfrm>
          <a:prstGeom prst="roundRect">
            <a:avLst/>
          </a:prstGeom>
          <a:solidFill>
            <a:srgbClr val="FFF6EC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369419"/>
            <a:ext cx="50749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7222D"/>
                </a:solidFill>
              </a:rPr>
              <a:t>2) Decoder-style cross-attention</a:t>
            </a:r>
          </a:p>
          <a:p>
            <a:pPr algn="l"/>
            <a:r>
              <a:rPr sz="1100" dirty="0">
                <a:solidFill>
                  <a:srgbClr val="17222D"/>
                </a:solidFill>
              </a:rPr>
              <a:t>Q in R^(B x 21 x 64): learned decoder queries (trainable)</a:t>
            </a:r>
          </a:p>
          <a:p>
            <a:pPr algn="l"/>
            <a:r>
              <a:rPr sz="1100" dirty="0">
                <a:solidFill>
                  <a:srgbClr val="17222D"/>
                </a:solidFill>
              </a:rPr>
              <a:t>K=V=</a:t>
            </a:r>
            <a:r>
              <a:rPr sz="1100" dirty="0" err="1">
                <a:solidFill>
                  <a:srgbClr val="17222D"/>
                </a:solidFill>
              </a:rPr>
              <a:t>S_f</a:t>
            </a:r>
            <a:r>
              <a:rPr sz="1100" dirty="0">
                <a:solidFill>
                  <a:srgbClr val="17222D"/>
                </a:solidFill>
              </a:rPr>
              <a:t> in R^(B x 21 x 64): frozen slot states</a:t>
            </a:r>
          </a:p>
          <a:p>
            <a:pPr algn="l"/>
            <a:r>
              <a:rPr sz="1100" dirty="0">
                <a:solidFill>
                  <a:srgbClr val="17222D"/>
                </a:solidFill>
              </a:rPr>
              <a:t>A = </a:t>
            </a:r>
            <a:r>
              <a:rPr sz="1100" dirty="0" err="1">
                <a:solidFill>
                  <a:srgbClr val="17222D"/>
                </a:solidFill>
              </a:rPr>
              <a:t>softmax</a:t>
            </a:r>
            <a:r>
              <a:rPr sz="1100" dirty="0">
                <a:solidFill>
                  <a:srgbClr val="17222D"/>
                </a:solidFill>
              </a:rPr>
              <a:t>((Q K^T) / sqrt(64)),  CA = A V</a:t>
            </a:r>
            <a:endParaRPr lang="en-US" sz="1100" dirty="0">
              <a:solidFill>
                <a:srgbClr val="17222D"/>
              </a:solidFill>
            </a:endParaRPr>
          </a:p>
          <a:p>
            <a:pPr algn="l"/>
            <a:endParaRPr lang="en-US" sz="1100" dirty="0">
              <a:solidFill>
                <a:srgbClr val="17222D"/>
              </a:solidFill>
            </a:endParaRPr>
          </a:p>
          <a:p>
            <a:r>
              <a:rPr lang="en-US" sz="1100" dirty="0"/>
              <a:t>Q in R^(B x 21 x 64): trainable decoder queries.</a:t>
            </a:r>
            <a:br>
              <a:rPr lang="en-US" sz="1100" dirty="0"/>
            </a:br>
            <a:r>
              <a:rPr lang="en-US" sz="1100" dirty="0"/>
              <a:t>These are learnable vectors that ask: what information should be extracted at each step?</a:t>
            </a:r>
          </a:p>
          <a:p>
            <a:r>
              <a:rPr lang="en-US" sz="1100" dirty="0"/>
              <a:t>K = V = </a:t>
            </a:r>
            <a:r>
              <a:rPr lang="en-US" sz="1100" dirty="0" err="1"/>
              <a:t>S_f</a:t>
            </a:r>
            <a:r>
              <a:rPr lang="en-US" sz="1100" dirty="0"/>
              <a:t> in R^(B x 21 x 64): frozen slot states from base M9.</a:t>
            </a:r>
            <a:br>
              <a:rPr lang="en-US" sz="1100" dirty="0"/>
            </a:br>
            <a:r>
              <a:rPr lang="en-US" sz="1100" dirty="0"/>
              <a:t>This is the fixed memory bank. The adapter reads from it, but does not change it.</a:t>
            </a:r>
          </a:p>
          <a:p>
            <a:r>
              <a:rPr lang="en-US" sz="1100" dirty="0"/>
              <a:t>A = </a:t>
            </a:r>
            <a:r>
              <a:rPr lang="en-US" sz="1100" dirty="0" err="1"/>
              <a:t>softmax</a:t>
            </a:r>
            <a:r>
              <a:rPr lang="en-US" sz="1100" dirty="0"/>
              <a:t>((Q K^T) / sqrt(64)): attention weights.</a:t>
            </a:r>
            <a:br>
              <a:rPr lang="en-US" sz="1100" dirty="0"/>
            </a:br>
            <a:r>
              <a:rPr lang="en-US" sz="1100" dirty="0"/>
              <a:t>For each query, the model computes similarity with all frozen slots, then </a:t>
            </a:r>
            <a:r>
              <a:rPr lang="en-US" sz="1100" dirty="0" err="1"/>
              <a:t>softmax</a:t>
            </a:r>
            <a:r>
              <a:rPr lang="en-US" sz="1100" dirty="0"/>
              <a:t> converts scores into normalized importance weights.</a:t>
            </a:r>
          </a:p>
          <a:p>
            <a:r>
              <a:rPr lang="en-US" sz="1100" dirty="0"/>
              <a:t>CA = A V: retrieved context.</a:t>
            </a:r>
            <a:br>
              <a:rPr lang="en-US" sz="1100" dirty="0"/>
            </a:br>
            <a:r>
              <a:rPr lang="en-US" sz="1100" dirty="0"/>
              <a:t>The model takes a weighted combination of frozen slot values using A, producing the context used for correction.</a:t>
            </a:r>
          </a:p>
          <a:p>
            <a:r>
              <a:rPr lang="en-US" sz="1100" dirty="0"/>
              <a:t>Intuition:</a:t>
            </a:r>
            <a:br>
              <a:rPr lang="en-US" sz="1100" dirty="0"/>
            </a:br>
            <a:r>
              <a:rPr lang="en-US" sz="1100" dirty="0"/>
              <a:t>Q = questions, </a:t>
            </a:r>
            <a:r>
              <a:rPr lang="en-US" sz="1100" dirty="0" err="1"/>
              <a:t>S_f</a:t>
            </a:r>
            <a:r>
              <a:rPr lang="en-US" sz="1100" dirty="0"/>
              <a:t> = memory, A = where to look, CA = what is retrieved.</a:t>
            </a:r>
          </a:p>
          <a:p>
            <a:pPr algn="l"/>
            <a:endParaRPr lang="en-US" sz="1100" dirty="0">
              <a:solidFill>
                <a:srgbClr val="17222D"/>
              </a:solidFill>
            </a:endParaRPr>
          </a:p>
          <a:p>
            <a:pPr algn="l"/>
            <a:endParaRPr sz="1100" dirty="0">
              <a:solidFill>
                <a:srgbClr val="17222D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3611880"/>
            <a:ext cx="11201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76732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7222D"/>
                </a:solidFill>
              </a:rPr>
              <a:t>3) Fusion used in code: decoded = LN(Q + CA), gate = sigmoid(g), </a:t>
            </a:r>
            <a:r>
              <a:rPr sz="1100" b="1" dirty="0" err="1">
                <a:solidFill>
                  <a:srgbClr val="17222D"/>
                </a:solidFill>
              </a:rPr>
              <a:t>adapted_slots</a:t>
            </a:r>
            <a:r>
              <a:rPr sz="1100" b="1" dirty="0">
                <a:solidFill>
                  <a:srgbClr val="17222D"/>
                </a:solidFill>
              </a:rPr>
              <a:t> = LN(</a:t>
            </a:r>
            <a:r>
              <a:rPr sz="1100" b="1" dirty="0" err="1">
                <a:solidFill>
                  <a:srgbClr val="17222D"/>
                </a:solidFill>
              </a:rPr>
              <a:t>S_f</a:t>
            </a:r>
            <a:r>
              <a:rPr sz="1100" b="1" dirty="0">
                <a:solidFill>
                  <a:srgbClr val="17222D"/>
                </a:solidFill>
              </a:rPr>
              <a:t> + gate * decoded), then output heads predict KL/KR/KLR over 21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892040"/>
            <a:ext cx="2286000" cy="658368"/>
          </a:xfrm>
          <a:prstGeom prst="roundRect">
            <a:avLst/>
          </a:prstGeom>
          <a:solidFill>
            <a:srgbClr val="CEF1E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5093208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Frozen slots S_f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73552" y="5120640"/>
            <a:ext cx="475488" cy="228600"/>
          </a:xfrm>
          <a:prstGeom prst="right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94760" y="4892040"/>
            <a:ext cx="2468880" cy="658368"/>
          </a:xfrm>
          <a:prstGeom prst="roundRect">
            <a:avLst/>
          </a:prstGeom>
          <a:solidFill>
            <a:srgbClr val="FFEDDC"/>
          </a:solidFill>
          <a:ln w="1905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7912" y="5093208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Cross-attn: Attn(Q,K,V)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355080" y="5120640"/>
            <a:ext cx="475488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6288" y="4892040"/>
            <a:ext cx="1920240" cy="65836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7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5093208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Gated fusion + LN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87968" y="5120640"/>
            <a:ext cx="475488" cy="228600"/>
          </a:xfrm>
          <a:prstGeom prst="rightArrow">
            <a:avLst/>
          </a:prstGeom>
          <a:solidFill>
            <a:srgbClr val="17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09176" y="4892040"/>
            <a:ext cx="1874519" cy="658368"/>
          </a:xfrm>
          <a:prstGeom prst="roundRect">
            <a:avLst/>
          </a:prstGeom>
          <a:solidFill>
            <a:srgbClr val="E3F5EF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2328" y="509320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Predictions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5669280"/>
          <a:ext cx="112014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Trainable Params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Base M9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0.9891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2.219e+10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3.329e+09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 (frozen experiment branch)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 + Cross-Attn Adapter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0.9881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2.313e+10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3.541e+09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18,241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M9 Robustness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Scenario-level diagnostics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39496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56362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Global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20240"/>
            <a:ext cx="5138928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Avg curve MAPE: 2.372%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Median MAPE: 1.359%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Avg curve R2: 0.98292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P95 MAPE: 6.281%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Test scenarios: 204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4864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81928" y="156362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C3731"/>
                </a:solidFill>
              </a:rPr>
              <a:t>Worst-case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1920240"/>
            <a:ext cx="5230368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Worst scenario id: 56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Worst avg MAPE: 34.35%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Worst avg R2: 0.1195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Use uncertainty flag for extreme edge cases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133775"/>
              </p:ext>
            </p:extLst>
          </p:nvPr>
        </p:nvGraphicFramePr>
        <p:xfrm>
          <a:off x="502920" y="4069080"/>
          <a:ext cx="56692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406908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Interpretation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Most scenarios are very accurate.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A small tail of hard scenarios drives peak error.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This pattern is common in compact physics-informed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Recommendation and Best-Model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Decision using accuracy, compression, and architecture maturity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7132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Overall R2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0.9897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0.9882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0.9891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Compression vs M6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1.5%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 relation matrix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Gated MLP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Scalability for future tuning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Medium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High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Highest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600200"/>
            <a:ext cx="3840480" cy="2743200"/>
          </a:xfrm>
          <a:prstGeom prst="roundRect">
            <a:avLst/>
          </a:prstGeom>
          <a:solidFill>
            <a:srgbClr val="2C9D8B"/>
          </a:solidFill>
          <a:ln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783080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Best practical choice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M9</a:t>
            </a:r>
          </a:p>
          <a:p>
            <a:pPr algn="l"/>
            <a:endParaRPr sz="1300">
              <a:solidFill>
                <a:srgbClr val="FFFFFF"/>
              </a:solidFill>
            </a:endParaRPr>
          </a:p>
          <a:p>
            <a:pPr algn="l"/>
            <a:r>
              <a:rPr sz="1300">
                <a:solidFill>
                  <a:srgbClr val="FFFFFF"/>
                </a:solidFill>
              </a:rPr>
              <a:t>Why: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near-top accuracy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major compression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learnable routing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SwiGLU expressiveness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strongest foundation for next tuning 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617720"/>
            <a:ext cx="1120140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46725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5B"/>
                </a:solidFill>
              </a:rPr>
              <a:t>Next tuning to beat current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5029200"/>
            <a:ext cx="1094536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Increase Stage C patience and lower LR for finer convergence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Run 3-5 seeds and keep best checkpoint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Augment hard scenarios from the top error 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9C4D2"/>
                </a:solidFill>
              </a:rPr>
              <a:t>M9 architecture value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E7F2"/>
                </a:solidFill>
              </a:rPr>
              <a:t>M7 -&gt; M8 -&gt; M9 evolution</a:t>
            </a:r>
          </a:p>
          <a:p>
            <a:pPr algn="l"/>
            <a:endParaRPr sz="1600" b="1">
              <a:solidFill>
                <a:srgbClr val="DCE7F2"/>
              </a:solidFill>
            </a:endParaRPr>
          </a:p>
          <a:p>
            <a:pPr algn="l"/>
            <a:r>
              <a:rPr sz="1600">
                <a:solidFill>
                  <a:srgbClr val="DCE7F2"/>
                </a:solidFill>
              </a:rPr>
              <a:t>M7 established the baseline structured Psi-NN.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M8 introduced compactness and learnable relation routing.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M9 adds SwiGLU gated slot MLP on top of that structure.</a:t>
            </a:r>
          </a:p>
          <a:p>
            <a:pPr algn="l"/>
            <a:endParaRPr sz="1600">
              <a:solidFill>
                <a:srgbClr val="DCE7F2"/>
              </a:solidFill>
            </a:endParaRPr>
          </a:p>
          <a:p>
            <a:pPr algn="l"/>
            <a:r>
              <a:rPr sz="1600">
                <a:solidFill>
                  <a:srgbClr val="DCE7F2"/>
                </a:solidFill>
              </a:rPr>
              <a:t>Learnable relation matrix (logits -&gt; softmax)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lets the model learn prototype-to-time-step assignment end-to-end.</a:t>
            </a:r>
          </a:p>
          <a:p>
            <a:pPr algn="l"/>
            <a:endParaRPr sz="1600">
              <a:solidFill>
                <a:srgbClr val="DCE7F2"/>
              </a:solidFill>
            </a:endParaRPr>
          </a:p>
          <a:p>
            <a:pPr algn="l"/>
            <a:r>
              <a:rPr sz="1600">
                <a:solidFill>
                  <a:srgbClr val="DCE7F2"/>
                </a:solidFill>
              </a:rPr>
              <a:t>SwiGLU gated MLP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improves expressive filtering at almost identical parameter budget.</a:t>
            </a:r>
          </a:p>
          <a:p>
            <a:pPr algn="l"/>
            <a:endParaRPr sz="1600">
              <a:solidFill>
                <a:srgbClr val="DCE7F2"/>
              </a:solidFill>
            </a:endParaRPr>
          </a:p>
          <a:p>
            <a:pPr algn="l"/>
            <a:r>
              <a:rPr sz="1600">
                <a:solidFill>
                  <a:srgbClr val="DCE7F2"/>
                </a:solidFill>
              </a:rPr>
              <a:t>Current full-retrain M9: R2=0.9891, params=45,502.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This is a strong compact model and a solid base for final hyperparameter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2524</Words>
  <Application>Microsoft Office PowerPoint</Application>
  <PresentationFormat>Widescreen</PresentationFormat>
  <Paragraphs>534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Khallouqi</cp:lastModifiedBy>
  <cp:revision>2</cp:revision>
  <dcterms:created xsi:type="dcterms:W3CDTF">2013-01-27T09:14:16Z</dcterms:created>
  <dcterms:modified xsi:type="dcterms:W3CDTF">2026-04-21T14:02:38Z</dcterms:modified>
  <cp:category/>
</cp:coreProperties>
</file>