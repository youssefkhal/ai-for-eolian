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67" y="6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Embedding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M6 (Teacher)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576</c:v>
                </c:pt>
                <c:pt idx="1">
                  <c:v>576</c:v>
                </c:pt>
                <c:pt idx="2">
                  <c:v>576</c:v>
                </c:pt>
                <c:pt idx="3">
                  <c:v>576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BF-4E19-A0E7-D3E75FD43A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Slot Init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M6 (Teacher)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1344</c:v>
                </c:pt>
                <c:pt idx="1">
                  <c:v>448</c:v>
                </c:pt>
                <c:pt idx="2">
                  <c:v>384</c:v>
                </c:pt>
                <c:pt idx="3">
                  <c:v>384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BF-4E19-A0E7-D3E75FD43AE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Slot Attention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M6 (Teacher)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20864</c:v>
                </c:pt>
                <c:pt idx="1">
                  <c:v>20864</c:v>
                </c:pt>
                <c:pt idx="2">
                  <c:v>20864</c:v>
                </c:pt>
                <c:pt idx="3">
                  <c:v>20864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BF-4E19-A0E7-D3E75FD43AE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Slot MLP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M6 (Teacher)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16512</c:v>
                </c:pt>
                <c:pt idx="1">
                  <c:v>16512</c:v>
                </c:pt>
                <c:pt idx="2">
                  <c:v>6256</c:v>
                </c:pt>
                <c:pt idx="3">
                  <c:v>6272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6BF-4E19-A0E7-D3E75FD43AE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Relation R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M6 (Teacher)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6BF-4E19-A0E7-D3E75FD43AE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Scale+Output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M6 (Teacher)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215</c:v>
                </c:pt>
                <c:pt idx="1">
                  <c:v>215</c:v>
                </c:pt>
                <c:pt idx="2">
                  <c:v>215</c:v>
                </c:pt>
                <c:pt idx="3">
                  <c:v>215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6BF-4E19-A0E7-D3E75FD43A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M6 Teacher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0.98035665707182484</c:v>
                </c:pt>
                <c:pt idx="1">
                  <c:v>0.98966152170648169</c:v>
                </c:pt>
                <c:pt idx="2">
                  <c:v>0.98822025521096646</c:v>
                </c:pt>
                <c:pt idx="3">
                  <c:v>0.99150578048615534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E6-4FFE-B635-D026BC7E37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RMSE (x1e9)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M6 Teacher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29.774207307340809</c:v>
                </c:pt>
                <c:pt idx="1">
                  <c:v>21.600351516072195</c:v>
                </c:pt>
                <c:pt idx="2">
                  <c:v>23.056875226145145</c:v>
                </c:pt>
                <c:pt idx="3">
                  <c:v>19.579168713247132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5E-4D8E-B1C5-AE37574244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MAPE %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S56</c:v>
                </c:pt>
                <c:pt idx="1">
                  <c:v>S141</c:v>
                </c:pt>
                <c:pt idx="2">
                  <c:v>S73</c:v>
                </c:pt>
                <c:pt idx="3">
                  <c:v>S84</c:v>
                </c:pt>
                <c:pt idx="4">
                  <c:v>S60</c:v>
                </c:pt>
                <c:pt idx="5">
                  <c:v>S137</c:v>
                </c:pt>
                <c:pt idx="6">
                  <c:v>S87</c:v>
                </c:pt>
                <c:pt idx="7">
                  <c:v>S166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34.35</c:v>
                </c:pt>
                <c:pt idx="1">
                  <c:v>25.312999999999999</c:v>
                </c:pt>
                <c:pt idx="2">
                  <c:v>22.411999999999999</c:v>
                </c:pt>
                <c:pt idx="3">
                  <c:v>13.263</c:v>
                </c:pt>
                <c:pt idx="4">
                  <c:v>13.103999999999999</c:v>
                </c:pt>
                <c:pt idx="5">
                  <c:v>12.34</c:v>
                </c:pt>
                <c:pt idx="6">
                  <c:v>10.351000000000001</c:v>
                </c:pt>
                <c:pt idx="7">
                  <c:v>7.8609999999999998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CD-4989-8094-CDF28F282D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M7  vs  M8  vs  M9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EC8"/>
                </a:solidFill>
              </a:rPr>
              <a:t>Detailed Architecture &amp; Technical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2DCE6"/>
                </a:solidFill>
              </a:rPr>
              <a:t>Physics-Informed Slot-Attention Psi-Neural Network</a:t>
            </a:r>
          </a:p>
          <a:p>
            <a:pPr algn="l"/>
            <a:endParaRPr sz="1700" b="0">
              <a:solidFill>
                <a:srgbClr val="D2DCE6"/>
              </a:solidFill>
            </a:endParaRPr>
          </a:p>
          <a:p>
            <a:pPr algn="l"/>
            <a:r>
              <a:rPr sz="1700" b="0">
                <a:solidFill>
                  <a:srgbClr val="D2DCE6"/>
                </a:solidFill>
              </a:rPr>
              <a:t>M7  -  Baseline Psi-NN   (Wide MLP, fixed R, k*=6)</a:t>
            </a:r>
          </a:p>
          <a:p>
            <a:pPr algn="l"/>
            <a:r>
              <a:rPr sz="1700" b="0">
                <a:solidFill>
                  <a:srgbClr val="D2DCE6"/>
                </a:solidFill>
              </a:rPr>
              <a:t>M8  -  Efficient Psi-NN  (Bottleneck MLP, learnable R, physics loss, k*=5)</a:t>
            </a:r>
          </a:p>
          <a:p>
            <a:pPr algn="l"/>
            <a:r>
              <a:rPr sz="1700" b="0">
                <a:solidFill>
                  <a:srgbClr val="D2DCE6"/>
                </a:solidFill>
              </a:rPr>
              <a:t>M9  -  SwiGLU Psi-NN    (Gated MLP, learnable R, physics loss, k*=5)</a:t>
            </a:r>
          </a:p>
          <a:p>
            <a:pPr algn="l"/>
            <a:endParaRPr sz="1700" b="0">
              <a:solidFill>
                <a:srgbClr val="D2DCE6"/>
              </a:solidFill>
            </a:endParaRPr>
          </a:p>
          <a:p>
            <a:pPr algn="l"/>
            <a:r>
              <a:rPr sz="1700" b="0">
                <a:solidFill>
                  <a:srgbClr val="D2DCE6"/>
                </a:solidFill>
              </a:rPr>
              <a:t>Teacher M6: 56,646 params   |   M7: 55,770   |   M8: 45,486   |   M9: 45,502</a:t>
            </a:r>
          </a:p>
          <a:p>
            <a:pPr algn="l"/>
            <a:endParaRPr sz="1700" b="0">
              <a:solidFill>
                <a:srgbClr val="D2DCE6"/>
              </a:solidFill>
            </a:endParaRPr>
          </a:p>
          <a:p>
            <a:pPr algn="l"/>
            <a:r>
              <a:rPr sz="1700" b="0">
                <a:solidFill>
                  <a:srgbClr val="D2DCE6"/>
                </a:solidFill>
              </a:rPr>
              <a:t>Best R2: M9 = 0.9915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Model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Three generations of Psi-NN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6576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6FDF"/>
                </a:solidFill>
              </a:rPr>
              <a:t>M7 - Baseline Psi-NN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29967"/>
            <a:ext cx="338328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8232E"/>
                </a:solidFill>
              </a:rPr>
              <a:t>  Wide slot MLP  64-&gt;128-&gt;64</a:t>
            </a:r>
          </a:p>
          <a:p>
            <a:r>
              <a:rPr sz="1200">
                <a:solidFill>
                  <a:srgbClr val="18232E"/>
                </a:solidFill>
              </a:rPr>
              <a:t>  16,512 MLP params</a:t>
            </a:r>
          </a:p>
          <a:p>
            <a:r>
              <a:rPr sz="1200">
                <a:solidFill>
                  <a:srgbClr val="18232E"/>
                </a:solidFill>
              </a:rPr>
              <a:t>  Fixed relation matrix R (buffer)</a:t>
            </a:r>
          </a:p>
          <a:p>
            <a:r>
              <a:rPr sz="1200">
                <a:solidFill>
                  <a:srgbClr val="18232E"/>
                </a:solidFill>
              </a:rPr>
              <a:t>  k* = 6 prototypes</a:t>
            </a:r>
          </a:p>
          <a:p>
            <a:r>
              <a:rPr sz="1200">
                <a:solidFill>
                  <a:srgbClr val="18232E"/>
                </a:solidFill>
              </a:rPr>
              <a:t>  Full 3-stage pipeline (A-&gt;B-&gt;C)</a:t>
            </a:r>
          </a:p>
          <a:p>
            <a:r>
              <a:rPr sz="1200">
                <a:solidFill>
                  <a:srgbClr val="18232E"/>
                </a:solidFill>
              </a:rPr>
              <a:t>  R2 = 0.9897</a:t>
            </a:r>
          </a:p>
          <a:p>
            <a:r>
              <a:rPr sz="1200">
                <a:solidFill>
                  <a:srgbClr val="18232E"/>
                </a:solidFill>
              </a:rPr>
              <a:t>  Params = 55,770</a:t>
            </a:r>
          </a:p>
          <a:p>
            <a:r>
              <a:rPr sz="1200">
                <a:solidFill>
                  <a:srgbClr val="18232E"/>
                </a:solidFill>
              </a:rPr>
              <a:t>  Compression = 1.5%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554480"/>
            <a:ext cx="36576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162763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6F51"/>
                </a:solidFill>
              </a:rPr>
              <a:t>M8 - Efficient Psi-NN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029967"/>
            <a:ext cx="338328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8232E"/>
                </a:solidFill>
              </a:rPr>
              <a:t>  Bottleneck MLP  64-&gt;48-&gt;64</a:t>
            </a:r>
          </a:p>
          <a:p>
            <a:r>
              <a:rPr sz="1200">
                <a:solidFill>
                  <a:srgbClr val="18232E"/>
                </a:solidFill>
              </a:rPr>
              <a:t>  6,256 MLP params (-62%)</a:t>
            </a:r>
          </a:p>
          <a:p>
            <a:r>
              <a:rPr sz="1200">
                <a:solidFill>
                  <a:srgbClr val="18232E"/>
                </a:solidFill>
              </a:rPr>
              <a:t>  Learnable relation matrix (logits-&gt;softmax)</a:t>
            </a:r>
          </a:p>
          <a:p>
            <a:r>
              <a:rPr sz="1200">
                <a:solidFill>
                  <a:srgbClr val="18232E"/>
                </a:solidFill>
              </a:rPr>
              <a:t>  k* = 5 prototypes</a:t>
            </a:r>
          </a:p>
          <a:p>
            <a:r>
              <a:rPr sz="1200">
                <a:solidFill>
                  <a:srgbClr val="18232E"/>
                </a:solidFill>
              </a:rPr>
              <a:t>  Physics-monotonic loss (KL, KR dec / KLR inc)</a:t>
            </a:r>
          </a:p>
          <a:p>
            <a:r>
              <a:rPr sz="1200">
                <a:solidFill>
                  <a:srgbClr val="18232E"/>
                </a:solidFill>
              </a:rPr>
              <a:t>  R2 = 0.9882</a:t>
            </a:r>
          </a:p>
          <a:p>
            <a:r>
              <a:rPr sz="1200">
                <a:solidFill>
                  <a:srgbClr val="18232E"/>
                </a:solidFill>
              </a:rPr>
              <a:t>  Params = 45,486</a:t>
            </a:r>
          </a:p>
          <a:p>
            <a:r>
              <a:rPr sz="1200">
                <a:solidFill>
                  <a:srgbClr val="18232E"/>
                </a:solidFill>
              </a:rPr>
              <a:t>  Compression = 19.7%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554480"/>
            <a:ext cx="36576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62763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9D8F"/>
                </a:solidFill>
              </a:rPr>
              <a:t>M9 - SwiGLU Psi-NN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029967"/>
            <a:ext cx="338328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8232E"/>
                </a:solidFill>
              </a:rPr>
              <a:t>  SwiGLU gated MLP  (hidden=32)</a:t>
            </a:r>
          </a:p>
          <a:p>
            <a:r>
              <a:rPr sz="1200">
                <a:solidFill>
                  <a:srgbClr val="18232E"/>
                </a:solidFill>
              </a:rPr>
              <a:t>  6,272 MLP params (gated)</a:t>
            </a:r>
          </a:p>
          <a:p>
            <a:r>
              <a:rPr sz="1200">
                <a:solidFill>
                  <a:srgbClr val="18232E"/>
                </a:solidFill>
              </a:rPr>
              <a:t>  Learnable R  (same as M8)</a:t>
            </a:r>
          </a:p>
          <a:p>
            <a:r>
              <a:rPr sz="1200">
                <a:solidFill>
                  <a:srgbClr val="18232E"/>
                </a:solidFill>
              </a:rPr>
              <a:t>  k* = 5  (reuses M8 discovery)</a:t>
            </a:r>
          </a:p>
          <a:p>
            <a:r>
              <a:rPr sz="1200">
                <a:solidFill>
                  <a:srgbClr val="18232E"/>
                </a:solidFill>
              </a:rPr>
              <a:t>  Skips Stage A &amp; B entirely</a:t>
            </a:r>
          </a:p>
          <a:p>
            <a:r>
              <a:rPr sz="1200">
                <a:solidFill>
                  <a:srgbClr val="18232E"/>
                </a:solidFill>
              </a:rPr>
              <a:t>  R2 = 0.9915  (BEST)</a:t>
            </a:r>
          </a:p>
          <a:p>
            <a:r>
              <a:rPr sz="1200">
                <a:solidFill>
                  <a:srgbClr val="18232E"/>
                </a:solidFill>
              </a:rPr>
              <a:t>  Params = 45,502</a:t>
            </a:r>
          </a:p>
          <a:p>
            <a:r>
              <a:rPr sz="1200">
                <a:solidFill>
                  <a:srgbClr val="18232E"/>
                </a:solidFill>
              </a:rPr>
              <a:t>  Compression = 19.7%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Psi-NN Architecture (common to all versions)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Forward pass: Input -&gt; Embedding -&gt; SlotAttention -&gt; SlotMLP -&gt; Relation Reconstruction -&gt;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54480"/>
            <a:ext cx="21031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60020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C8C8C"/>
                </a:solidFill>
              </a:rPr>
              <a:t>1. Input Embedding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920240"/>
            <a:ext cx="19568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8232E"/>
                </a:solidFill>
              </a:rPr>
              <a:t>Linear(8, 64)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8 soil/load features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-&gt; 64-dim hidden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554480"/>
            <a:ext cx="24688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33472" y="1600200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6FDF"/>
                </a:solidFill>
              </a:rPr>
              <a:t>2. Slot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1920240"/>
            <a:ext cx="232257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8232E"/>
                </a:solidFill>
              </a:rPr>
              <a:t>K slots: 1 initial + k* proto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3 iterations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dot-product + softmax attn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554480"/>
            <a:ext cx="23774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85232" y="160020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6F51"/>
                </a:solidFill>
              </a:rPr>
              <a:t>3. Slot MLP (per slot)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5232" y="1920240"/>
            <a:ext cx="22311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8232E"/>
                </a:solidFill>
              </a:rPr>
              <a:t>M7: Wide 128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M8: Bottleneck 48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M9: SwiGLU 32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554480"/>
            <a:ext cx="21945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45552" y="1600200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</a:rPr>
              <a:t>4. Relation Matrix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1920240"/>
            <a:ext cx="20482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8232E"/>
                </a:solidFill>
              </a:rPr>
              <a:t>Reconstruct 21 slots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from k* prototypes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M7: fixed / M8-9: learned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1554480"/>
            <a:ext cx="17373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22992" y="1600200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</a:rPr>
              <a:t>5. Output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2992" y="1920240"/>
            <a:ext cx="1591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8232E"/>
                </a:solidFill>
              </a:rPr>
              <a:t>Linear(64, 3)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-&gt; KL, KR, KLR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x 21 time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4A261"/>
                </a:solidFill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4A261"/>
                </a:solidFill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4A261"/>
                </a:solidFill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4A261"/>
                </a:solidFill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291840"/>
            <a:ext cx="11612880" cy="2743200"/>
          </a:xfrm>
          <a:prstGeom prst="rect">
            <a:avLst/>
          </a:prstGeom>
          <a:solidFill>
            <a:srgbClr val="F0F0EB"/>
          </a:solidFill>
          <a:ln w="12700">
            <a:solidFill>
              <a:srgbClr val="4A5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38328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8232E"/>
                </a:solidFill>
              </a:rPr>
              <a:t>Detailed Forward Pass:</a:t>
            </a:r>
          </a:p>
          <a:p>
            <a:pPr algn="l"/>
            <a:endParaRPr sz="1100" b="0">
              <a:solidFill>
                <a:srgbClr val="18232E"/>
              </a:solidFill>
            </a:endParaRPr>
          </a:p>
          <a:p>
            <a:pPr algn="l"/>
            <a:r>
              <a:rPr sz="1100" b="0">
                <a:solidFill>
                  <a:srgbClr val="18232E"/>
                </a:solidFill>
              </a:rPr>
              <a:t>h = Linear_embed(x)                             # (B, 64)   input embedding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slots = SlotAttention(h, slots_init)             # (B, 1+k*, 64)  iterative attention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slots = SlotMLP(slots)                           # (B, 1+k*, 64)  per-slot transform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initial_slot = slots[:, 0, :]                    # (B, 64)   initial condition slot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proto_slots  = slots[:, 1:, :]                   # (B, k*, 64)  prototype slots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drop_slots   = R @ proto_slots * scale           # (B, 20, 64)  reconstructed via relation matrix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all_slots    = cat(initial_slot, drop_slots)     # (B, 21, 64)  full 21 time steps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output       = cumsum(OutputHead(all_slots))     # (B, 21, 3)   KL, KR, KLR curves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M7 - Baseline Psi-NN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Wide MLP, fixed relation matrix, k*=6 prototypes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6FDF"/>
                </a:solidFill>
              </a:rPr>
              <a:t>Model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5212080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32E"/>
                </a:solidFill>
              </a:rPr>
              <a:t>  Input Embedding: Linear(8, 64)  -&gt;  512 + 64 = 576 params</a:t>
            </a:r>
          </a:p>
          <a:p>
            <a:r>
              <a:rPr sz="1100">
                <a:solidFill>
                  <a:srgbClr val="18232E"/>
                </a:solidFill>
              </a:rPr>
              <a:t>  Slot Init: 7 learnable vectors (1 initial + 6 proto)  -&gt;  7x64 = 448 params</a:t>
            </a:r>
          </a:p>
          <a:p>
            <a:r>
              <a:rPr sz="1100">
                <a:solidFill>
                  <a:srgbClr val="18232E"/>
                </a:solidFill>
              </a:rPr>
              <a:t>  Slot Attention: K/Q/V projections (64-&gt;64) + GRU(64,64) + LayerNorm</a:t>
            </a:r>
          </a:p>
          <a:p>
            <a:r>
              <a:rPr sz="1100">
                <a:solidFill>
                  <a:srgbClr val="18232E"/>
                </a:solidFill>
              </a:rPr>
              <a:t>     -&gt; 3x(64x64+64) + GRU(8320) + 2xLN(128) = 20,864 params</a:t>
            </a:r>
          </a:p>
          <a:p>
            <a:r>
              <a:rPr sz="1100">
                <a:solidFill>
                  <a:srgbClr val="18232E"/>
                </a:solidFill>
              </a:rPr>
              <a:t>  Slot MLP: Linear(64,128) -&gt; GELU -&gt; Linear(128,64)  -&gt;  16,512 params</a:t>
            </a:r>
          </a:p>
          <a:p>
            <a:r>
              <a:rPr sz="1100">
                <a:solidFill>
                  <a:srgbClr val="18232E"/>
                </a:solidFill>
              </a:rPr>
              <a:t>  Scale factors: 20 learnable  -&gt;  20 params</a:t>
            </a:r>
          </a:p>
          <a:p>
            <a:r>
              <a:rPr sz="1100">
                <a:solidFill>
                  <a:srgbClr val="18232E"/>
                </a:solidFill>
              </a:rPr>
              <a:t>  Output Head: Linear(64,3)  -&gt;  195 params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40480"/>
            <a:ext cx="54864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9136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6FDF"/>
                </a:solidFill>
              </a:rPr>
              <a:t>Relation Matrix R (Fixed)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15968"/>
            <a:ext cx="52120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32E"/>
                </a:solidFill>
              </a:rPr>
              <a:t>  Shape: (20, 6) - maps 6 prototypes -&gt; 20 drop-slots</a:t>
            </a:r>
          </a:p>
          <a:p>
            <a:r>
              <a:rPr sz="1100">
                <a:solidFill>
                  <a:srgbClr val="18232E"/>
                </a:solidFill>
              </a:rPr>
              <a:t>  Computed once in Stage B via inverse-distance weighting</a:t>
            </a:r>
          </a:p>
          <a:p>
            <a:r>
              <a:rPr sz="1100">
                <a:solidFill>
                  <a:srgbClr val="18232E"/>
                </a:solidFill>
              </a:rPr>
              <a:t>  R[i,j] = (1/d_ij) / Sum_j(1/d_ij) where d = euclidean distance</a:t>
            </a:r>
          </a:p>
          <a:p>
            <a:r>
              <a:rPr sz="1100">
                <a:solidFill>
                  <a:srgbClr val="18232E"/>
                </a:solidFill>
              </a:rPr>
              <a:t>  Registered as buffer (not updated during Stage C)</a:t>
            </a:r>
          </a:p>
          <a:p>
            <a:r>
              <a:rPr sz="1100">
                <a:solidFill>
                  <a:srgbClr val="18232E"/>
                </a:solidFill>
              </a:rPr>
              <a:t>  Stays frozen throughout training - no gradient flow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46304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% of Total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Input Embedding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576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1.0%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Slot Init (7x64)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448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0.8%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Slot Attention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20,864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37.4%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Slot MLP (wide)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16,512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29.6%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Scale + Output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215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0.4%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Relation R (fixed)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 (buffer)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0%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TOTAL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55,770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100%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42976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232E"/>
                </a:solidFill>
              </a:rPr>
              <a:t>Key Observations: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MLP uses 29.6% of all params -&gt; main compression target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Slot Attention is the largest block (37.4%)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k*=6 discovered by Stage B (silhouette-based)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Fixed R means structure is locked after discovery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Compression vs M6: only 1.5%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M8 - Efficient Psi-NN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3 upgrades: bottleneck MLP, learnable R, physics-monotonic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6F51"/>
                </a:solidFill>
              </a:rPr>
              <a:t>Model Components (3 changes vs M7)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52120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32E"/>
                </a:solidFill>
              </a:rPr>
              <a:t>  Input Embedding: Linear(8, 64)  -&gt;  576 params  (same)</a:t>
            </a:r>
          </a:p>
          <a:p>
            <a:r>
              <a:rPr sz="1100">
                <a:solidFill>
                  <a:srgbClr val="18232E"/>
                </a:solidFill>
              </a:rPr>
              <a:t>  Slot Init: 6 learnable vectors (1 initial + 5 proto)  -&gt;  6x64 = 384 params</a:t>
            </a:r>
          </a:p>
          <a:p>
            <a:r>
              <a:rPr sz="1100">
                <a:solidFill>
                  <a:srgbClr val="18232E"/>
                </a:solidFill>
              </a:rPr>
              <a:t>  Slot Attention: same architecture  -&gt;  20,864 params  (same)</a:t>
            </a:r>
          </a:p>
          <a:p>
            <a:r>
              <a:rPr sz="1100">
                <a:solidFill>
                  <a:srgbClr val="18232E"/>
                </a:solidFill>
              </a:rPr>
              <a:t>  Slot MLP: Linear(64,48) -&gt; GELU -&gt; Linear(48,64)  -&gt;  6,256 params  (-62%)</a:t>
            </a:r>
          </a:p>
          <a:p>
            <a:r>
              <a:rPr sz="1100">
                <a:solidFill>
                  <a:srgbClr val="18232E"/>
                </a:solidFill>
              </a:rPr>
              <a:t>     ^ CHANGE 1: Bottleneck dim 48 instead of 128</a:t>
            </a:r>
          </a:p>
          <a:p>
            <a:r>
              <a:rPr sz="1100">
                <a:solidFill>
                  <a:srgbClr val="18232E"/>
                </a:solidFill>
              </a:rPr>
              <a:t>  Relation R: (20, 5) learnable logits -&gt; softmax  -&gt;  100 params</a:t>
            </a:r>
          </a:p>
          <a:p>
            <a:r>
              <a:rPr sz="1100">
                <a:solidFill>
                  <a:srgbClr val="18232E"/>
                </a:solidFill>
              </a:rPr>
              <a:t>     ^ CHANGE 2: End-to-end learnable relation matrix</a:t>
            </a:r>
          </a:p>
          <a:p>
            <a:r>
              <a:rPr sz="1100">
                <a:solidFill>
                  <a:srgbClr val="18232E"/>
                </a:solidFill>
              </a:rPr>
              <a:t>  Scale + Output: same  -&gt;  215 params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54864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00507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6F51"/>
                </a:solidFill>
              </a:rPr>
              <a:t>CHANGE 3: Physics-Monotonic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407408"/>
            <a:ext cx="5212080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32E"/>
                </a:solidFill>
              </a:rPr>
              <a:t>  New loss terms added to Stage C objective:</a:t>
            </a:r>
          </a:p>
          <a:p>
            <a:r>
              <a:rPr sz="1100">
                <a:solidFill>
                  <a:srgbClr val="18232E"/>
                </a:solidFill>
              </a:rPr>
              <a:t>  L_rel_entropy (weight 0.02): sharpens R via softmax entropy</a:t>
            </a:r>
          </a:p>
          <a:p>
            <a:r>
              <a:rPr sz="1100">
                <a:solidFill>
                  <a:srgbClr val="18232E"/>
                </a:solidFill>
              </a:rPr>
              <a:t>     = -Sum R_soft * log(R_soft)  -&gt;  encourages crisp assignments</a:t>
            </a:r>
          </a:p>
          <a:p>
            <a:r>
              <a:rPr sz="1100">
                <a:solidFill>
                  <a:srgbClr val="18232E"/>
                </a:solidFill>
              </a:rPr>
              <a:t>  L_physics_mono (weight 0.2): enforces physical behavior</a:t>
            </a:r>
          </a:p>
          <a:p>
            <a:r>
              <a:rPr sz="1100">
                <a:solidFill>
                  <a:srgbClr val="18232E"/>
                </a:solidFill>
              </a:rPr>
              <a:t>     KL(t) &gt;= KL(t+1)  -&gt;  lateral stiffness degrades</a:t>
            </a:r>
          </a:p>
          <a:p>
            <a:r>
              <a:rPr sz="1100">
                <a:solidFill>
                  <a:srgbClr val="18232E"/>
                </a:solidFill>
              </a:rPr>
              <a:t>     KR(t) &gt;= KR(t+1)  -&gt;  rocking stiffness degrades</a:t>
            </a:r>
          </a:p>
          <a:p>
            <a:r>
              <a:rPr sz="1100">
                <a:solidFill>
                  <a:srgbClr val="18232E"/>
                </a:solidFill>
              </a:rPr>
              <a:t>     KLR(t) &lt;= KLR(t+1) -&gt;  cross-coupling increases</a:t>
            </a:r>
          </a:p>
          <a:p>
            <a:r>
              <a:rPr sz="1100">
                <a:solidFill>
                  <a:srgbClr val="18232E"/>
                </a:solidFill>
              </a:rPr>
              <a:t>     Penalty = ReLU(violation)^2  averaged over time steps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46304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Delta vs M7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Input Embedding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576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--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Slot Init (6x64)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384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-64 (fewer protos)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Slot Attention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20,864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--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Slot MLP (bottleneck)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6,256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-10,256 (-62%)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Relation R (learnable)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100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+100 (new)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Scale + Output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215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--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TOTAL</a:t>
                      </a:r>
                    </a:p>
                  </a:txBody>
                  <a:tcPr>
                    <a:solidFill>
                      <a:srgbClr val="FFD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45,486</a:t>
                      </a:r>
                    </a:p>
                  </a:txBody>
                  <a:tcPr>
                    <a:solidFill>
                      <a:srgbClr val="FFDC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-10,284 (-18.4%)</a:t>
                      </a:r>
                    </a:p>
                  </a:txBody>
                  <a:tcPr>
                    <a:solidFill>
                      <a:srgbClr val="FFD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42976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232E"/>
                </a:solidFill>
              </a:rPr>
              <a:t>Impact of Changes: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MLP shrinks from 29.6% -&gt; 13.8% of total params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Learnable R adapts structure during training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Physics loss produces physically meaningful curves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k*=5 (discovered by M8 Stage B)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Net compression vs M6: 19.7%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M9 - SwiGLU Psi-NN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Gated linear unit replaces GELU MLP; reuses M8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9D8F"/>
                </a:solidFill>
              </a:rPr>
              <a:t>Model Components (1 change vs M8)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52120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32E"/>
                </a:solidFill>
              </a:rPr>
              <a:t>  Input Embedding: Linear(8, 64)  -&gt;  576 params  (same)</a:t>
            </a:r>
          </a:p>
          <a:p>
            <a:r>
              <a:rPr sz="1100">
                <a:solidFill>
                  <a:srgbClr val="18232E"/>
                </a:solidFill>
              </a:rPr>
              <a:t>  Slot Init: 6 learnable vectors (1 initial + 5 proto)  -&gt;  384 params  (same)</a:t>
            </a:r>
          </a:p>
          <a:p>
            <a:r>
              <a:rPr sz="1100">
                <a:solidFill>
                  <a:srgbClr val="18232E"/>
                </a:solidFill>
              </a:rPr>
              <a:t>  Slot Attention:  -&gt;  20,864 params  (same)</a:t>
            </a:r>
          </a:p>
          <a:p>
            <a:r>
              <a:rPr sz="1100">
                <a:solidFill>
                  <a:srgbClr val="18232E"/>
                </a:solidFill>
              </a:rPr>
              <a:t>  Slot MLP: SwiGLU(hidden=32)  -&gt;  6,272 params  (+16 vs M8)</a:t>
            </a:r>
          </a:p>
          <a:p>
            <a:r>
              <a:rPr sz="1100">
                <a:solidFill>
                  <a:srgbClr val="18232E"/>
                </a:solidFill>
              </a:rPr>
              <a:t>     ^ CHANGE: Gated activation replaces plain GELU</a:t>
            </a:r>
          </a:p>
          <a:p>
            <a:r>
              <a:rPr sz="1100">
                <a:solidFill>
                  <a:srgbClr val="18232E"/>
                </a:solidFill>
              </a:rPr>
              <a:t>     gate = SiLU(W_gate * x)     # learned gate signal</a:t>
            </a:r>
          </a:p>
          <a:p>
            <a:r>
              <a:rPr sz="1100">
                <a:solidFill>
                  <a:srgbClr val="18232E"/>
                </a:solidFill>
              </a:rPr>
              <a:t>     value = W_value * x          # learned value signal</a:t>
            </a:r>
          </a:p>
          <a:p>
            <a:r>
              <a:rPr sz="1100">
                <a:solidFill>
                  <a:srgbClr val="18232E"/>
                </a:solidFill>
              </a:rPr>
              <a:t>     output = W_out(gate . value) # element-wise gating</a:t>
            </a:r>
          </a:p>
          <a:p>
            <a:r>
              <a:rPr sz="1100">
                <a:solidFill>
                  <a:srgbClr val="18232E"/>
                </a:solidFill>
              </a:rPr>
              <a:t>  Relation R: learnable (20,5)  -&gt;  100 params  (same as M8)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54864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00507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9D8F"/>
                </a:solidFill>
              </a:rPr>
              <a:t>Training Strategy: Skip Stages A &amp;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407408"/>
            <a:ext cx="5212080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32E"/>
                </a:solidFill>
              </a:rPr>
              <a:t>  M9 does NOT retrain Stage A (student distillation)</a:t>
            </a:r>
          </a:p>
          <a:p>
            <a:r>
              <a:rPr sz="1100">
                <a:solidFill>
                  <a:srgbClr val="18232E"/>
                </a:solidFill>
              </a:rPr>
              <a:t>  M9 does NOT redo Stage B (K-means clustering)</a:t>
            </a:r>
          </a:p>
          <a:p>
            <a:r>
              <a:rPr sz="1100">
                <a:solidFill>
                  <a:srgbClr val="18232E"/>
                </a:solidFill>
              </a:rPr>
              <a:t>  Instead loads M8 psi_discovery.json artifacts:</a:t>
            </a:r>
          </a:p>
          <a:p>
            <a:r>
              <a:rPr sz="1100">
                <a:solidFill>
                  <a:srgbClr val="18232E"/>
                </a:solidFill>
              </a:rPr>
              <a:t>     k* = 5, silhouette = 0.6490</a:t>
            </a:r>
          </a:p>
          <a:p>
            <a:r>
              <a:rPr sz="1100">
                <a:solidFill>
                  <a:srgbClr val="18232E"/>
                </a:solidFill>
              </a:rPr>
              <a:t>     relation_matrix_init (20x5)</a:t>
            </a:r>
          </a:p>
          <a:p>
            <a:r>
              <a:rPr sz="1100">
                <a:solidFill>
                  <a:srgbClr val="18232E"/>
                </a:solidFill>
              </a:rPr>
              <a:t>     centroids (5x64)</a:t>
            </a:r>
          </a:p>
          <a:p>
            <a:r>
              <a:rPr sz="1100">
                <a:solidFill>
                  <a:srgbClr val="18232E"/>
                </a:solidFill>
              </a:rPr>
              <a:t>  Only runs Stage C (2500 epochs) with SwiGLU model</a:t>
            </a:r>
          </a:p>
          <a:p>
            <a:r>
              <a:rPr sz="1100">
                <a:solidFill>
                  <a:srgbClr val="18232E"/>
                </a:solidFill>
              </a:rPr>
              <a:t>  -&gt; 3x faster total training time vs M7/M8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46304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Delta vs M8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Input Embedding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576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--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Slot Init (6x64)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384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--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Slot Attention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20,864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--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Slot MLP (SwiGLU)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6,272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+16 (gate weight)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Relation R (learnable)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100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--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Scale + Output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215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--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TOTAL</a:t>
                      </a:r>
                    </a:p>
                  </a:txBody>
                  <a:tcPr>
                    <a:solidFill>
                      <a:srgbClr val="BEEB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45,502</a:t>
                      </a:r>
                    </a:p>
                  </a:txBody>
                  <a:tcPr>
                    <a:solidFill>
                      <a:srgbClr val="BEEB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+16 (+0.04%)</a:t>
                      </a:r>
                    </a:p>
                  </a:txBody>
                  <a:tcPr>
                    <a:solidFill>
                      <a:srgbClr val="BE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42976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232E"/>
                </a:solidFill>
              </a:rPr>
              <a:t>Why SwiGLU is Better: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Gating = learned attention over feature dimensions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Each feature can be amplified or suppressed independently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More expressive than GELU at same parameter budget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Used in LLaMA, PaLM, Mistral (state of the art)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Result: R2 = 0.9915 (best of all)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Slot MLP Evolution: The Core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From wide GELU -&gt; bottleneck GELU -&gt; SwiGLU gating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6576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6FDF"/>
                </a:solidFill>
              </a:rPr>
              <a:t>M7: Wide MLP</a:t>
            </a:r>
          </a:p>
          <a:p>
            <a:pPr algn="l"/>
            <a:endParaRPr sz="1200" b="1">
              <a:solidFill>
                <a:srgbClr val="1A6FDF"/>
              </a:solidFill>
            </a:endParaRPr>
          </a:p>
          <a:p>
            <a:pPr algn="l"/>
            <a:r>
              <a:rPr sz="1200" b="0">
                <a:solidFill>
                  <a:srgbClr val="1A6FDF"/>
                </a:solidFill>
              </a:rPr>
              <a:t>h = GELU( W1 * x + b1 )</a:t>
            </a:r>
          </a:p>
          <a:p>
            <a:pPr algn="l"/>
            <a:r>
              <a:rPr sz="1200" b="0">
                <a:solidFill>
                  <a:srgbClr val="1A6FDF"/>
                </a:solidFill>
              </a:rPr>
              <a:t>out = W2 * h + b2</a:t>
            </a:r>
          </a:p>
          <a:p>
            <a:pPr algn="l"/>
            <a:endParaRPr sz="1200" b="0">
              <a:solidFill>
                <a:srgbClr val="1A6FDF"/>
              </a:solidFill>
            </a:endParaRPr>
          </a:p>
          <a:p>
            <a:pPr algn="l"/>
            <a:r>
              <a:rPr sz="1200" b="0">
                <a:solidFill>
                  <a:srgbClr val="1A6FDF"/>
                </a:solidFill>
              </a:rPr>
              <a:t>W1: (64, 128) = 8,192</a:t>
            </a:r>
          </a:p>
          <a:p>
            <a:pPr algn="l"/>
            <a:r>
              <a:rPr sz="1200" b="0">
                <a:solidFill>
                  <a:srgbClr val="1A6FDF"/>
                </a:solidFill>
              </a:rPr>
              <a:t>b1: 128</a:t>
            </a:r>
          </a:p>
          <a:p>
            <a:pPr algn="l"/>
            <a:r>
              <a:rPr sz="1200" b="0">
                <a:solidFill>
                  <a:srgbClr val="1A6FDF"/>
                </a:solidFill>
              </a:rPr>
              <a:t>W2: (128, 64) = 8,192</a:t>
            </a:r>
          </a:p>
          <a:p>
            <a:pPr algn="l"/>
            <a:r>
              <a:rPr sz="1200" b="0">
                <a:solidFill>
                  <a:srgbClr val="1A6FDF"/>
                </a:solidFill>
              </a:rPr>
              <a:t>b2: 64</a:t>
            </a:r>
          </a:p>
          <a:p>
            <a:pPr algn="l"/>
            <a:r>
              <a:rPr sz="1200" b="0">
                <a:solidFill>
                  <a:srgbClr val="1A6FDF"/>
                </a:solidFill>
              </a:rPr>
              <a:t>Total: 16,512 params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463040"/>
            <a:ext cx="36576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34840" y="15544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6F51"/>
                </a:solidFill>
              </a:rPr>
              <a:t>M8: Bottleneck MLP</a:t>
            </a:r>
          </a:p>
          <a:p>
            <a:pPr algn="l"/>
            <a:endParaRPr sz="1200" b="1">
              <a:solidFill>
                <a:srgbClr val="E76F51"/>
              </a:solidFill>
            </a:endParaRPr>
          </a:p>
          <a:p>
            <a:pPr algn="l"/>
            <a:r>
              <a:rPr sz="1200" b="0">
                <a:solidFill>
                  <a:srgbClr val="E76F51"/>
                </a:solidFill>
              </a:rPr>
              <a:t>h = GELU( W1 * x + b1 )</a:t>
            </a:r>
          </a:p>
          <a:p>
            <a:pPr algn="l"/>
            <a:r>
              <a:rPr sz="1200" b="0">
                <a:solidFill>
                  <a:srgbClr val="E76F51"/>
                </a:solidFill>
              </a:rPr>
              <a:t>out = W2 * h + b2</a:t>
            </a:r>
          </a:p>
          <a:p>
            <a:pPr algn="l"/>
            <a:endParaRPr sz="1200" b="0">
              <a:solidFill>
                <a:srgbClr val="E76F51"/>
              </a:solidFill>
            </a:endParaRPr>
          </a:p>
          <a:p>
            <a:pPr algn="l"/>
            <a:r>
              <a:rPr sz="1200" b="0">
                <a:solidFill>
                  <a:srgbClr val="E76F51"/>
                </a:solidFill>
              </a:rPr>
              <a:t>W1: (64, 48) = 3,072</a:t>
            </a:r>
          </a:p>
          <a:p>
            <a:pPr algn="l"/>
            <a:r>
              <a:rPr sz="1200" b="0">
                <a:solidFill>
                  <a:srgbClr val="E76F51"/>
                </a:solidFill>
              </a:rPr>
              <a:t>b1: 48</a:t>
            </a:r>
          </a:p>
          <a:p>
            <a:pPr algn="l"/>
            <a:r>
              <a:rPr sz="1200" b="0">
                <a:solidFill>
                  <a:srgbClr val="E76F51"/>
                </a:solidFill>
              </a:rPr>
              <a:t>W2: (48, 64) = 3,072</a:t>
            </a:r>
          </a:p>
          <a:p>
            <a:pPr algn="l"/>
            <a:r>
              <a:rPr sz="1200" b="0">
                <a:solidFill>
                  <a:srgbClr val="E76F51"/>
                </a:solidFill>
              </a:rPr>
              <a:t>b2: 64</a:t>
            </a:r>
          </a:p>
          <a:p>
            <a:pPr algn="l"/>
            <a:r>
              <a:rPr sz="1200" b="0">
                <a:solidFill>
                  <a:srgbClr val="E76F51"/>
                </a:solidFill>
              </a:rPr>
              <a:t>Total: 6,256 params  (-62%)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463040"/>
            <a:ext cx="36576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5544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</a:rPr>
              <a:t>M9: SwiGLU Gated MLP</a:t>
            </a:r>
          </a:p>
          <a:p>
            <a:pPr algn="l"/>
            <a:endParaRPr sz="1200" b="1">
              <a:solidFill>
                <a:srgbClr val="2A9D8F"/>
              </a:solidFill>
            </a:endParaRPr>
          </a:p>
          <a:p>
            <a:pPr algn="l"/>
            <a:r>
              <a:rPr sz="1200" b="0">
                <a:solidFill>
                  <a:srgbClr val="2A9D8F"/>
                </a:solidFill>
              </a:rPr>
              <a:t>gate  = SiLU( W_g * x + b_g )</a:t>
            </a:r>
          </a:p>
          <a:p>
            <a:pPr algn="l"/>
            <a:r>
              <a:rPr sz="1200" b="0">
                <a:solidFill>
                  <a:srgbClr val="2A9D8F"/>
                </a:solidFill>
              </a:rPr>
              <a:t>value = W_v * x + b_v</a:t>
            </a:r>
          </a:p>
          <a:p>
            <a:pPr algn="l"/>
            <a:r>
              <a:rPr sz="1200" b="0">
                <a:solidFill>
                  <a:srgbClr val="2A9D8F"/>
                </a:solidFill>
              </a:rPr>
              <a:t>out   = W_o * (gate . value) + b_o</a:t>
            </a:r>
          </a:p>
          <a:p>
            <a:pPr algn="l"/>
            <a:endParaRPr sz="1200" b="0">
              <a:solidFill>
                <a:srgbClr val="2A9D8F"/>
              </a:solidFill>
            </a:endParaRPr>
          </a:p>
          <a:p>
            <a:pPr algn="l"/>
            <a:r>
              <a:rPr sz="1200" b="0">
                <a:solidFill>
                  <a:srgbClr val="2A9D8F"/>
                </a:solidFill>
              </a:rPr>
              <a:t>W_g: (64,32)=2048  b_g: 32</a:t>
            </a:r>
          </a:p>
          <a:p>
            <a:pPr algn="l"/>
            <a:r>
              <a:rPr sz="1200" b="0">
                <a:solidFill>
                  <a:srgbClr val="2A9D8F"/>
                </a:solidFill>
              </a:rPr>
              <a:t>W_v: (64,32)=2048  b_v: 32</a:t>
            </a:r>
          </a:p>
          <a:p>
            <a:pPr algn="l"/>
            <a:r>
              <a:rPr sz="1200" b="0">
                <a:solidFill>
                  <a:srgbClr val="2A9D8F"/>
                </a:solidFill>
              </a:rPr>
              <a:t>W_o: (32,64)=2048  b_o: 64</a:t>
            </a:r>
          </a:p>
          <a:p>
            <a:pPr algn="l"/>
            <a:r>
              <a:rPr sz="1200" b="0">
                <a:solidFill>
                  <a:srgbClr val="2A9D8F"/>
                </a:solidFill>
              </a:rPr>
              <a:t>Total: 6,272 params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2402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4A261"/>
                </a:solidFill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2402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4A261"/>
                </a:solidFill>
              </a:rPr>
              <a:t>&gt;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931920"/>
          <a:ext cx="11338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M7 (Wide)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M8 (Bottleneck)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M9 (SwiGLU)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Winner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Architecture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2-layer FFN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2-layer FFN (narrow)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3-weight gated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M9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Hidden dim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128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48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32 (dual-branch)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--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Activation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GELU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GELU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SiLU gate x linear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M9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Params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16,512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6,256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6,272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M8 (-16)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Expressiveness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High (brute force)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Medium (compressed)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High (gated selection)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M9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Feature gating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No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No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(element-wise)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M9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Slot Attention Mechanism (Shared Across All Versions)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Iterative competitive binding - 3 iterations per forward 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6858000" cy="4754880"/>
          </a:xfrm>
          <a:prstGeom prst="rect">
            <a:avLst/>
          </a:prstGeom>
          <a:solidFill>
            <a:srgbClr val="F0F0EB"/>
          </a:solidFill>
          <a:ln w="12700">
            <a:solidFill>
              <a:srgbClr val="4A5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8232E"/>
                </a:solidFill>
              </a:rPr>
              <a:t>SlotAttention(input_embed, slots_init, num_iter=3):</a:t>
            </a:r>
          </a:p>
          <a:p>
            <a:pPr algn="l"/>
            <a:endParaRPr sz="1200" b="0">
              <a:solidFill>
                <a:srgbClr val="18232E"/>
              </a:solidFill>
            </a:endParaRPr>
          </a:p>
          <a:p>
            <a:pPr algn="l"/>
            <a:r>
              <a:rPr sz="1200" b="0">
                <a:solidFill>
                  <a:srgbClr val="18232E"/>
                </a:solidFill>
              </a:rPr>
              <a:t>  slots = slots_init                # (B, 1+k*, 64)</a:t>
            </a:r>
          </a:p>
          <a:p>
            <a:pPr algn="l"/>
            <a:endParaRPr sz="1200" b="0">
              <a:solidFill>
                <a:srgbClr val="18232E"/>
              </a:solidFill>
            </a:endParaRPr>
          </a:p>
          <a:p>
            <a:pPr algn="l"/>
            <a:r>
              <a:rPr sz="1200" b="0">
                <a:solidFill>
                  <a:srgbClr val="18232E"/>
                </a:solidFill>
              </a:rPr>
              <a:t>  for _ in range(3):                # 3 iterations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  q = W_Q(LayerNorm(slots))       # query from slots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  k = W_K(input_embed)            # key from input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  v = W_V(input_embed)            # value from input</a:t>
            </a:r>
          </a:p>
          <a:p>
            <a:pPr algn="l"/>
            <a:endParaRPr sz="1200" b="0">
              <a:solidFill>
                <a:srgbClr val="18232E"/>
              </a:solidFill>
            </a:endParaRPr>
          </a:p>
          <a:p>
            <a:pPr algn="l"/>
            <a:r>
              <a:rPr sz="1200" b="0">
                <a:solidFill>
                  <a:srgbClr val="18232E"/>
                </a:solidFill>
              </a:rPr>
              <a:t>    attn = softmax(q * kT / sqrt(64))  # attention weights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  updates = attn * v              # weighted aggregation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  slots = GRU(updates, slots)     # recurrent update</a:t>
            </a:r>
          </a:p>
          <a:p>
            <a:pPr algn="l"/>
            <a:endParaRPr sz="1200" b="0">
              <a:solidFill>
                <a:srgbClr val="18232E"/>
              </a:solidFill>
            </a:endParaRPr>
          </a:p>
          <a:p>
            <a:pPr algn="l"/>
            <a:r>
              <a:rPr sz="1200" b="0">
                <a:solidFill>
                  <a:srgbClr val="18232E"/>
                </a:solidFill>
              </a:rPr>
              <a:t>  return slots</a:t>
            </a:r>
          </a:p>
          <a:p>
            <a:pPr algn="l"/>
            <a:endParaRPr sz="1200" b="0">
              <a:solidFill>
                <a:srgbClr val="18232E"/>
              </a:solidFill>
            </a:endParaRPr>
          </a:p>
          <a:p>
            <a:pPr algn="l"/>
            <a:r>
              <a:rPr sz="1200" b="0">
                <a:solidFill>
                  <a:srgbClr val="18232E"/>
                </a:solidFill>
              </a:rPr>
              <a:t>Parameters (identical in M7/M8/M9):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W_Q, W_K, W_V: Linear(64, 64)  -&gt; 3 x (64x64 + 64) = 12,480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GRU(64, 64):  -&gt; 8,320 params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LayerNorm: 2 x 128 = 256 params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TOTAL Slot Attention: 20,864 params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463040"/>
            <a:ext cx="41148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80" y="153619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6FDF"/>
                </a:solidFill>
              </a:rPr>
              <a:t>What Slot Attention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0" y="1938528"/>
            <a:ext cx="384048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8232E"/>
                </a:solidFill>
              </a:rPr>
              <a:t>  Competitively binds input features to slots</a:t>
            </a:r>
          </a:p>
          <a:p>
            <a:r>
              <a:rPr sz="1200">
                <a:solidFill>
                  <a:srgbClr val="18232E"/>
                </a:solidFill>
              </a:rPr>
              <a:t>  Each slot specializes on a subset of input info</a:t>
            </a:r>
          </a:p>
          <a:p>
            <a:r>
              <a:rPr sz="1200">
                <a:solidFill>
                  <a:srgbClr val="18232E"/>
                </a:solidFill>
              </a:rPr>
              <a:t>  Iterative refinement (3 passes) improves binding</a:t>
            </a:r>
          </a:p>
          <a:p>
            <a:r>
              <a:rPr sz="1200">
                <a:solidFill>
                  <a:srgbClr val="18232E"/>
                </a:solidFill>
              </a:rPr>
              <a:t>  GRU maintains slot memory across iterations</a:t>
            </a:r>
          </a:p>
          <a:p>
            <a:r>
              <a:rPr sz="1200">
                <a:solidFill>
                  <a:srgbClr val="18232E"/>
                </a:solidFill>
              </a:rPr>
              <a:t>  Result: structured decomposition of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4480560"/>
            <a:ext cx="4114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6680" y="455371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4A261"/>
                </a:solidFill>
              </a:rPr>
              <a:t>Slot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80" y="4956048"/>
            <a:ext cx="38404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8232E"/>
                </a:solidFill>
              </a:rPr>
              <a:t>  M7: 1 initial + 6 prototype = 7 slots, 448 params</a:t>
            </a:r>
          </a:p>
          <a:p>
            <a:r>
              <a:rPr sz="1200">
                <a:solidFill>
                  <a:srgbClr val="18232E"/>
                </a:solidFill>
              </a:rPr>
              <a:t>  M8: 1 initial + 5 prototype = 6 slots, 384 params</a:t>
            </a:r>
          </a:p>
          <a:p>
            <a:r>
              <a:rPr sz="1200">
                <a:solidFill>
                  <a:srgbClr val="18232E"/>
                </a:solidFill>
              </a:rPr>
              <a:t>  M9: 1 initial + 5 prototype = 6 slots, 384 params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Relation Matrix R: Fixed vs Learnable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How k* prototypes reconstruct 21 time-step slots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6FDF"/>
                </a:solidFill>
              </a:rPr>
              <a:t>M7: Fixed Relation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521208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8232E"/>
                </a:solidFill>
              </a:rPr>
              <a:t>  R shape: (20, 6) - maps 6 prototypes -&gt; 20 drop-slots</a:t>
            </a:r>
          </a:p>
          <a:p>
            <a:r>
              <a:rPr sz="1200">
                <a:solidFill>
                  <a:srgbClr val="18232E"/>
                </a:solidFill>
              </a:rPr>
              <a:t>  Computed once after Stage B K-means clustering</a:t>
            </a:r>
          </a:p>
          <a:p>
            <a:r>
              <a:rPr sz="1200">
                <a:solidFill>
                  <a:srgbClr val="18232E"/>
                </a:solidFill>
              </a:rPr>
              <a:t>  R[i,j] = (1/dist(centroid_j, slot_i)) / Sum_j(1/dist(...))</a:t>
            </a:r>
          </a:p>
          <a:p>
            <a:r>
              <a:rPr sz="1200">
                <a:solidFill>
                  <a:srgbClr val="18232E"/>
                </a:solidFill>
              </a:rPr>
              <a:t>  Registered as nn.Buffer -&gt; NOT updated in Stage C</a:t>
            </a:r>
          </a:p>
          <a:p>
            <a:r>
              <a:rPr sz="1200">
                <a:solidFill>
                  <a:srgbClr val="18232E"/>
                </a:solidFill>
              </a:rPr>
              <a:t>  Drawback: cannot adapt to training signal</a:t>
            </a:r>
          </a:p>
          <a:p>
            <a:r>
              <a:rPr sz="1200">
                <a:solidFill>
                  <a:srgbClr val="18232E"/>
                </a:solidFill>
              </a:rPr>
              <a:t>  If discovery was suboptimal, R is locked with errors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54864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09651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9D8F"/>
                </a:solidFill>
              </a:rPr>
              <a:t>M8/M9: Learnable Relation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498848"/>
            <a:ext cx="521208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8232E"/>
                </a:solidFill>
              </a:rPr>
              <a:t>  R stored as logits: (20, 5) parameter tensor -&gt; 100 params</a:t>
            </a:r>
          </a:p>
          <a:p>
            <a:r>
              <a:rPr sz="1200">
                <a:solidFill>
                  <a:srgbClr val="18232E"/>
                </a:solidFill>
              </a:rPr>
              <a:t>  R_soft = softmax(R_logits, dim=1)  along prototype axis</a:t>
            </a:r>
          </a:p>
          <a:p>
            <a:r>
              <a:rPr sz="1200">
                <a:solidFill>
                  <a:srgbClr val="18232E"/>
                </a:solidFill>
              </a:rPr>
              <a:t>  Gradients flow through R during Stage C training</a:t>
            </a:r>
          </a:p>
          <a:p>
            <a:r>
              <a:rPr sz="1200">
                <a:solidFill>
                  <a:srgbClr val="18232E"/>
                </a:solidFill>
              </a:rPr>
              <a:t>  Initialized from M8 Stage B inverse-distance weights</a:t>
            </a:r>
          </a:p>
          <a:p>
            <a:r>
              <a:rPr sz="1200">
                <a:solidFill>
                  <a:srgbClr val="18232E"/>
                </a:solidFill>
              </a:rPr>
              <a:t>  L_rel_entropy (0.02x) sharpens soft assignments</a:t>
            </a:r>
          </a:p>
          <a:p>
            <a:r>
              <a:rPr sz="1200">
                <a:solidFill>
                  <a:srgbClr val="18232E"/>
                </a:solidFill>
              </a:rPr>
              <a:t>     = -Sum R_soft * log(R_soft + eps)  -&gt; pushes toward one-hot</a:t>
            </a:r>
          </a:p>
          <a:p>
            <a:r>
              <a:rPr sz="1200">
                <a:solidFill>
                  <a:srgbClr val="18232E"/>
                </a:solidFill>
              </a:rPr>
              <a:t>  Benefit: R adapts to minimize reconstruction error end-to-end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2011680"/>
          </a:xfrm>
          <a:prstGeom prst="rect">
            <a:avLst/>
          </a:prstGeom>
          <a:solidFill>
            <a:srgbClr val="F0F0EB"/>
          </a:solidFill>
          <a:ln w="12700">
            <a:solidFill>
              <a:srgbClr val="4A5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8232E"/>
                </a:solidFill>
              </a:rPr>
              <a:t>Reconstruction Formula (both methods):</a:t>
            </a:r>
          </a:p>
          <a:p>
            <a:pPr algn="l"/>
            <a:endParaRPr sz="1200" b="0">
              <a:solidFill>
                <a:srgbClr val="18232E"/>
              </a:solidFill>
            </a:endParaRPr>
          </a:p>
          <a:p>
            <a:pPr algn="l"/>
            <a:r>
              <a:rPr sz="1200" b="0">
                <a:solidFill>
                  <a:srgbClr val="18232E"/>
                </a:solidFill>
              </a:rPr>
              <a:t>proto_slots = SlotMLP(SA_output[:, 1:, :])    # (B, k*, 64)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R_soft = softmax(R_logits, dim=1)              # (20, k*)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drop_slots = R_soft @ proto_slots              # (B, 20, 64)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drop_slots = drop_slots * scale.unsqueeze(-1)  # learned scale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all_21 = cat(initial_slot, drop_slots, dim=1)  # (B, 21, 64)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3749039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M8 / M9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 type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Fixed buffer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Learnable logits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Shape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(20, 6)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(20, 5)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# Params in 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100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Updated in Stage C?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No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(gradient)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Initialization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Inverse-distance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Inverse-distance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Entropy regularization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None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L_rel = 0.02x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Loss Functions: Complete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M8/M9 add physics and entropy regularization to the M7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6FDF"/>
                </a:solidFill>
              </a:rPr>
              <a:t>M7 Stage C Loss (4 terms):</a:t>
            </a:r>
          </a:p>
          <a:p>
            <a:pPr algn="l"/>
            <a:endParaRPr sz="1200" b="1">
              <a:solidFill>
                <a:srgbClr val="1A6FDF"/>
              </a:solidFill>
            </a:endParaRPr>
          </a:p>
          <a:p>
            <a:pPr algn="l"/>
            <a:r>
              <a:rPr sz="1200" b="0">
                <a:solidFill>
                  <a:srgbClr val="1A6FDF"/>
                </a:solidFill>
              </a:rPr>
              <a:t>L = L_distill + L_seq + 5 * L_initial + L_shape</a:t>
            </a:r>
          </a:p>
          <a:p>
            <a:pPr algn="l"/>
            <a:endParaRPr sz="1200" b="0">
              <a:solidFill>
                <a:srgbClr val="1A6FDF"/>
              </a:solidFill>
            </a:endParaRPr>
          </a:p>
          <a:p>
            <a:pPr algn="l"/>
            <a:r>
              <a:rPr sz="1200" b="0">
                <a:solidFill>
                  <a:srgbClr val="1A6FDF"/>
                </a:solidFill>
              </a:rPr>
              <a:t>L_distill  = MSE(pred, teacher_pred)     # match teacher output</a:t>
            </a:r>
          </a:p>
          <a:p>
            <a:pPr algn="l"/>
            <a:r>
              <a:rPr sz="1200" b="0">
                <a:solidFill>
                  <a:srgbClr val="1A6FDF"/>
                </a:solidFill>
              </a:rPr>
              <a:t>L_seq      = MSE(delta_pred, delta_teach) # match temporal differences</a:t>
            </a:r>
          </a:p>
          <a:p>
            <a:pPr algn="l"/>
            <a:r>
              <a:rPr sz="1200" b="0">
                <a:solidFill>
                  <a:srgbClr val="1A6FDF"/>
                </a:solidFill>
              </a:rPr>
              <a:t>L_initial  = MSE(pred[:,0], teacher[:,0]) # emphasize t=0 accuracy</a:t>
            </a:r>
          </a:p>
          <a:p>
            <a:pPr algn="l"/>
            <a:r>
              <a:rPr sz="1200" b="0">
                <a:solidFill>
                  <a:srgbClr val="1A6FDF"/>
                </a:solidFill>
              </a:rPr>
              <a:t>L_shape    = MSE(curvature_pred, curv_t)  # match curve shape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57600"/>
            <a:ext cx="54864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</a:rPr>
              <a:t>M8/M9 Stage C Loss (6 terms):</a:t>
            </a:r>
          </a:p>
          <a:p>
            <a:pPr algn="l"/>
            <a:endParaRPr sz="1200" b="1">
              <a:solidFill>
                <a:srgbClr val="2A9D8F"/>
              </a:solidFill>
            </a:endParaRPr>
          </a:p>
          <a:p>
            <a:pPr algn="l"/>
            <a:r>
              <a:rPr sz="1200" b="0">
                <a:solidFill>
                  <a:srgbClr val="2A9D8F"/>
                </a:solidFill>
              </a:rPr>
              <a:t>L = L_distill + L_seq + 5 * L_initial + L_shape</a:t>
            </a:r>
          </a:p>
          <a:p>
            <a:pPr algn="l"/>
            <a:r>
              <a:rPr sz="1200" b="0">
                <a:solidFill>
                  <a:srgbClr val="2A9D8F"/>
                </a:solidFill>
              </a:rPr>
              <a:t>  + 0.02 * L_rel_entropy</a:t>
            </a:r>
          </a:p>
          <a:p>
            <a:pPr algn="l"/>
            <a:r>
              <a:rPr sz="1200" b="0">
                <a:solidFill>
                  <a:srgbClr val="2A9D8F"/>
                </a:solidFill>
              </a:rPr>
              <a:t>  + 0.2  * L_physics_mono</a:t>
            </a:r>
          </a:p>
          <a:p>
            <a:pPr algn="l"/>
            <a:endParaRPr sz="1200" b="0">
              <a:solidFill>
                <a:srgbClr val="2A9D8F"/>
              </a:solidFill>
            </a:endParaRPr>
          </a:p>
          <a:p>
            <a:pPr algn="l"/>
            <a:r>
              <a:rPr sz="1200" b="0">
                <a:solidFill>
                  <a:srgbClr val="2A9D8F"/>
                </a:solidFill>
              </a:rPr>
              <a:t>L_rel_entropy  = -Sum R_soft * log(R_soft + eps)</a:t>
            </a:r>
          </a:p>
          <a:p>
            <a:pPr algn="l"/>
            <a:r>
              <a:rPr sz="1200" b="0">
                <a:solidFill>
                  <a:srgbClr val="2A9D8F"/>
                </a:solidFill>
              </a:rPr>
              <a:t>   -&gt; Sharpens relation matrix assignments</a:t>
            </a:r>
          </a:p>
          <a:p>
            <a:pPr algn="l"/>
            <a:endParaRPr sz="1200" b="0">
              <a:solidFill>
                <a:srgbClr val="2A9D8F"/>
              </a:solidFill>
            </a:endParaRPr>
          </a:p>
          <a:p>
            <a:pPr algn="l"/>
            <a:r>
              <a:rPr sz="1200" b="0">
                <a:solidFill>
                  <a:srgbClr val="2A9D8F"/>
                </a:solidFill>
              </a:rPr>
              <a:t>L_physics_mono = mean( ReLU(violation)^2 )</a:t>
            </a:r>
          </a:p>
          <a:p>
            <a:pPr algn="l"/>
            <a:r>
              <a:rPr sz="1200" b="0">
                <a:solidFill>
                  <a:srgbClr val="2A9D8F"/>
                </a:solidFill>
              </a:rPr>
              <a:t>   -&gt; KL(t+1) &lt;= KL(t), KR(t+1) &lt;= KR(t), KLR(t+1) &gt;= KLR(t)</a:t>
            </a:r>
          </a:p>
          <a:p>
            <a:pPr algn="l"/>
            <a:r>
              <a:rPr sz="1200" b="0">
                <a:solidFill>
                  <a:srgbClr val="2A9D8F"/>
                </a:solidFill>
              </a:rPr>
              <a:t>   -&gt; Enforces physical monotonicity of stiffness curves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46304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Loss Term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M8/M9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L_distill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Match teacher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L_seq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Temporal diffs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L_initial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t=0 accuracy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L_shape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Curve shape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L_rel_entropy</a:t>
                      </a:r>
                    </a:p>
                  </a:txBody>
                  <a:tcPr>
                    <a:solidFill>
                      <a:srgbClr val="FFEB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0.02</a:t>
                      </a:r>
                    </a:p>
                  </a:txBody>
                  <a:tcPr>
                    <a:solidFill>
                      <a:srgbClr val="FFEB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No</a:t>
                      </a:r>
                    </a:p>
                  </a:txBody>
                  <a:tcPr>
                    <a:solidFill>
                      <a:srgbClr val="FFEB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</a:t>
                      </a:r>
                    </a:p>
                  </a:txBody>
                  <a:tcPr>
                    <a:solidFill>
                      <a:srgbClr val="FFEB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Sharpen R</a:t>
                      </a:r>
                    </a:p>
                  </a:txBody>
                  <a:tcPr>
                    <a:solidFill>
                      <a:srgbClr val="FF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L_physics_mono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0.2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No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KL/KR dec KLR inc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493776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8232E"/>
                </a:solidFill>
              </a:rPr>
              <a:t>Physics Monotonicity Explained: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KL (lateral stiffness): must degrade over load cycles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KR (rocking stiffness): must degrade over load cycles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KLR (cross-coupling): must increase over load cycles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Violation penalty = ReLU(pred(t+1) - pred(t))^2 for KL/KR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This ensures outputs are physically plausible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Training Pipeline: 3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M9 skips Stages A &amp; B by reusing M8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6576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8232E"/>
                </a:solidFill>
              </a:rPr>
              <a:t>Stage A: Student Distillation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-----------------------------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Goal: Train student to mimic M6 teacher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Student: full 21-slot attention model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Epochs: 2,000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Optimizer: AdamW(lr=0.001, wd=0.005)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LR scheduler: ReduceLROnPlateau(p=80)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Loss: MSE distillation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Output: trained student weights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M7: Yes  |  M8: Yes  |  M9: SKIP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463040"/>
            <a:ext cx="36576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34840" y="155448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8232E"/>
                </a:solidFill>
              </a:rPr>
              <a:t>Stage B: Structure Discovery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-----------------------------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Goal: Find k* prototypes from 20 drop-slots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Method: K-means (k=2..10)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Selection: best silhouette score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M7 result: k*=6, sil=0.5934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M8 result: k*=5, sil=0.6490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Output: centroids, R_init, k*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Saved in psi_discovery.json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M7: Yes  |  M8: Yes  |  M9: SKIP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463040"/>
            <a:ext cx="36576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55448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8232E"/>
                </a:solidFill>
              </a:rPr>
              <a:t>Stage C: Structured Training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-----------------------------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Goal: Train compact Psi-model with k* slots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Epochs: 2,500 (early stop patience=200)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Optimizer: AdamW(lr=0.001, wd=0.005)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LR scheduler: ReduceLROnPlateau(p=80)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Loss: full multi-objective (see loss slide)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Output: pile_model.pth + comparison.json</a:t>
            </a:r>
          </a:p>
          <a:p>
            <a:pPr algn="l"/>
            <a:endParaRPr sz="1100" b="0">
              <a:solidFill>
                <a:srgbClr val="18232E"/>
              </a:solidFill>
            </a:endParaRPr>
          </a:p>
          <a:p>
            <a:pPr algn="l"/>
            <a:r>
              <a:rPr sz="1100" b="0">
                <a:solidFill>
                  <a:srgbClr val="18232E"/>
                </a:solidFill>
              </a:rPr>
              <a:t>M7: Yes  |  M8: Yes  |  M9: Yes (only stage)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023360"/>
          <a:ext cx="11338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M8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M9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Stage A (distillation)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2,000 epochs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2,000 epochs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SKIPPED (reuses M8)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Stage B (clustering)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K-means k=2..10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K-means k=2..10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SKIPPED (reuses M8)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Stage C (training)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2,500 epochs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2,500 epochs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2,500 epochs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Total epochs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~4,500+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~4,500+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~2,500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Effective speedup</a:t>
                      </a:r>
                    </a:p>
                  </a:txBody>
                  <a:tcPr>
                    <a:solidFill>
                      <a:srgbClr val="D2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1x</a:t>
                      </a:r>
                    </a:p>
                  </a:txBody>
                  <a:tcPr>
                    <a:solidFill>
                      <a:srgbClr val="D2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1x</a:t>
                      </a:r>
                    </a:p>
                  </a:txBody>
                  <a:tcPr>
                    <a:solidFill>
                      <a:srgbClr val="D2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~2-3x faster</a:t>
                      </a:r>
                    </a:p>
                  </a:txBody>
                  <a:tcPr>
                    <a:solidFill>
                      <a:srgbClr val="D2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Training Hyperparameters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Optimizer, scheduler, early stopping, and loss weights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338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Hyperparameter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M8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M9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AdamW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AdamW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AdamW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Weight decay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LR Scheduler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ReduceLROnPlateau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ReduceLROnPlateau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ReduceLROnPlateau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Scheduler patience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80 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80 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80 epochs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Scheduler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Early stopping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patience=200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patience=200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patience=200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Max epochs (Stage 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Slot attention iters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Slot 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MLP hidden 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128 (wide)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48 (bottleneck)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32 (SwiGLU)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L_initial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L_rel_entropy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L_physics_mono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k* (prototypes)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Parameter Breakdown by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Where the parameters live in each model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554480"/>
          <a:ext cx="685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8232E"/>
                </a:solidFill>
              </a:rPr>
              <a:t>Component Size (params):</a:t>
            </a:r>
          </a:p>
          <a:p>
            <a:pPr algn="l"/>
            <a:endParaRPr sz="1100" b="1">
              <a:solidFill>
                <a:srgbClr val="18232E"/>
              </a:solidFill>
            </a:endParaRPr>
          </a:p>
          <a:p>
            <a:pPr algn="l"/>
            <a:r>
              <a:rPr sz="1100" b="0">
                <a:solidFill>
                  <a:srgbClr val="18232E"/>
                </a:solidFill>
              </a:rPr>
              <a:t>Embedding:     576 (all models)</a:t>
            </a:r>
          </a:p>
          <a:p>
            <a:pPr algn="l"/>
            <a:endParaRPr sz="1100" b="0">
              <a:solidFill>
                <a:srgbClr val="18232E"/>
              </a:solidFill>
            </a:endParaRPr>
          </a:p>
          <a:p>
            <a:pPr algn="l"/>
            <a:r>
              <a:rPr sz="1100" b="0">
                <a:solidFill>
                  <a:srgbClr val="18232E"/>
                </a:solidFill>
              </a:rPr>
              <a:t>Slot Init: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M6: 21x64 = 1,344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M7: 7x64  = 448  (1+6 protos)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M8/M9: 6x64 = 384 (1+5 protos)</a:t>
            </a:r>
          </a:p>
          <a:p>
            <a:pPr algn="l"/>
            <a:endParaRPr sz="1100" b="0">
              <a:solidFill>
                <a:srgbClr val="18232E"/>
              </a:solidFill>
            </a:endParaRPr>
          </a:p>
          <a:p>
            <a:pPr algn="l"/>
            <a:r>
              <a:rPr sz="1100" b="0">
                <a:solidFill>
                  <a:srgbClr val="18232E"/>
                </a:solidFill>
              </a:rPr>
              <a:t>Slot Attention: 20,864 (all)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(3x Linear(64,64) + GRU + LN)</a:t>
            </a:r>
          </a:p>
          <a:p>
            <a:pPr algn="l"/>
            <a:endParaRPr sz="1100" b="0">
              <a:solidFill>
                <a:srgbClr val="18232E"/>
              </a:solidFill>
            </a:endParaRPr>
          </a:p>
          <a:p>
            <a:pPr algn="l"/>
            <a:r>
              <a:rPr sz="1100" b="0">
                <a:solidFill>
                  <a:srgbClr val="18232E"/>
                </a:solidFill>
              </a:rPr>
              <a:t>Slot MLP (THE key difference):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M6/M7: 16,512 (wide 128)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M8:     6,256  (bottleneck 48)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M9:     6,272  (SwiGLU 32)</a:t>
            </a:r>
          </a:p>
          <a:p>
            <a:pPr algn="l"/>
            <a:endParaRPr sz="1100" b="0">
              <a:solidFill>
                <a:srgbClr val="18232E"/>
              </a:solidFill>
            </a:endParaRPr>
          </a:p>
          <a:p>
            <a:pPr algn="l"/>
            <a:r>
              <a:rPr sz="1100" b="0">
                <a:solidFill>
                  <a:srgbClr val="18232E"/>
                </a:solidFill>
              </a:rPr>
              <a:t>Relation R: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M7: 0 (fixed buffer)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M8/M9: 100 (learnable logits)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Accuracy Comparison (Overall)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Higher R2 and lower RMSE indicate better fit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554480"/>
          <a:ext cx="56692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55448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2880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8232E"/>
                </a:solidFill>
              </a:rPr>
              <a:t>R2 (higher = better)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8232E"/>
                </a:solidFill>
              </a:rPr>
              <a:t>RMSE in billions (lower = better)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Per-Variable Performance (R2 and RMSE)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KL, KR, KLR across all model versions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3385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97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KL R2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KR R2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KLR R2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KL RMSE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KR RMSE (x1e9)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KLR RMSE (x1e9)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M6 (Teacher)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0.9768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0.9634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0.9690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97.9M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51.53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1.92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0.9910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0.9807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0.9860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61.1M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37.39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1.29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M8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0.9888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0.9780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0.9845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68.1M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39.91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1.36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M9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0.9895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0.9842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0.9865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65.8M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33.89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1.27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232E"/>
                </a:solidFill>
              </a:rPr>
              <a:t>Observations: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KR (rocking stiffness) is the hardest variable across all versions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M9 achieves the best KR R2 (0.9842) and KLR R2 (0.9865)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M7 has slightly better KL R2 (0.9910 vs 0.9895) but worse on KR and KLR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All students surpass the M6 teacher on every variable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SwiGLU gating appears most beneficial for the harder variables (KR, KLR)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M9 Worst-Case Scenario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From scenario_analysis.json - identifying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32E"/>
                </a:solidFill>
              </a:rPr>
              <a:t>Global metrics:  Avg Curve MAPE = 2.372%  |  Avg Curve R2 = 0.98292  |  Test scenarios = 204</a:t>
            </a:r>
          </a:p>
          <a:p>
            <a:pPr algn="l"/>
            <a:r>
              <a:rPr sz="1400" b="0">
                <a:solidFill>
                  <a:srgbClr val="18232E"/>
                </a:solidFill>
              </a:rPr>
              <a:t>Worst scenario: ID=56  Avg MAPE=34.35%  Avg R2=0.1195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2743200"/>
          <a:ext cx="68580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274320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232E"/>
                </a:solidFill>
              </a:rPr>
              <a:t>Interpretation:</a:t>
            </a:r>
          </a:p>
          <a:p>
            <a:pPr algn="l"/>
            <a:endParaRPr sz="1200" b="1">
              <a:solidFill>
                <a:srgbClr val="18232E"/>
              </a:solidFill>
            </a:endParaRPr>
          </a:p>
          <a:p>
            <a:pPr algn="l"/>
            <a:r>
              <a:rPr sz="1200" b="0">
                <a:solidFill>
                  <a:srgbClr val="18232E"/>
                </a:solidFill>
              </a:rPr>
              <a:t>  204 test scenarios evaluated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Average MAPE = 2.372% (excellent)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Only worst scenario exceeds 30% MAPE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Most scenarios are well below 5% MAPE</a:t>
            </a:r>
          </a:p>
          <a:p>
            <a:pPr algn="l"/>
            <a:endParaRPr sz="1200" b="0">
              <a:solidFill>
                <a:srgbClr val="18232E"/>
              </a:solidFill>
            </a:endParaRPr>
          </a:p>
          <a:p>
            <a:pPr algn="l"/>
            <a:r>
              <a:rPr sz="1200" b="0">
                <a:solidFill>
                  <a:srgbClr val="18232E"/>
                </a:solidFill>
              </a:rPr>
              <a:t>Possible mitigations: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Add training data near worst-case params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Ensemble with M7/M8 for edge cases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Flag high-uncertainty scenarios in webapp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Complete Technical Differences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Every architectural and training difference at a glance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M8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M9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Slot MLP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Wide FFN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Bottleneck FFN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SwiGLU (gated)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MLP hidden 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32 (dual branch)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MLP 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16,512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6,256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6,272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MLP 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SiLU gate x linear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Feature gating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(element-wise)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Relation matrix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Fixed 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Learnable logits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Learnable logits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k* prototypes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 (reused from M8)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Physics mono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(0.2x)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(0.2x)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Entropy reg on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(0.02x)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(0.02x)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Stages executed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 + B +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 + B +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Total 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55,770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45,486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45,502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Compression vs M6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19.7%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Overall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0.9915 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Overall RMSE (x1e9)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21.60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23.06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19.58 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Decision Matrix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M9 is the best overall candidate for deployment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7315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M8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M9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Winner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Best R2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0.9897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0.9882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0.9915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M9 *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Smallest model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55,770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45,486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45,502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M8 (-16)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Fastest training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~4,500ep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~4,500ep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~2,500ep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M9 *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Physics-aware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No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M8/M9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MLP expressiveness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Medium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Low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High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M9 *</a:t>
                      </a:r>
                    </a:p>
                  </a:txBody>
                  <a:tcPr>
                    <a:solidFill>
                      <a:srgbClr val="FF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Learns R end-to-end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No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M8/M9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046720" y="1463040"/>
            <a:ext cx="36576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83880" y="153619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9D8F"/>
                </a:solidFill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0" y="1938528"/>
            <a:ext cx="33832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8232E"/>
                </a:solidFill>
              </a:rPr>
              <a:t>  M9 wins on accuracy (R2=0.9915)</a:t>
            </a:r>
          </a:p>
          <a:p>
            <a:r>
              <a:rPr sz="1300">
                <a:solidFill>
                  <a:srgbClr val="18232E"/>
                </a:solidFill>
              </a:rPr>
              <a:t>  M9 wins on training speed (skip A/B)</a:t>
            </a:r>
          </a:p>
          <a:p>
            <a:r>
              <a:rPr sz="1300">
                <a:solidFill>
                  <a:srgbClr val="18232E"/>
                </a:solidFill>
              </a:rPr>
              <a:t>  M9 wins on expressiveness (SwiGLU)</a:t>
            </a:r>
          </a:p>
          <a:p>
            <a:r>
              <a:rPr sz="1300">
                <a:solidFill>
                  <a:srgbClr val="18232E"/>
                </a:solidFill>
              </a:rPr>
              <a:t>  M8 wins on minimal size (-16 params)</a:t>
            </a:r>
          </a:p>
          <a:p>
            <a:r>
              <a:rPr sz="1300">
                <a:solidFill>
                  <a:srgbClr val="18232E"/>
                </a:solidFill>
              </a:rPr>
              <a:t>  Both M8/M9 enforce physics</a:t>
            </a:r>
          </a:p>
          <a:p>
            <a:r>
              <a:rPr sz="1300">
                <a:solidFill>
                  <a:srgbClr val="18232E"/>
                </a:solidFill>
              </a:rPr>
              <a:t>  </a:t>
            </a:r>
          </a:p>
          <a:p>
            <a:r>
              <a:rPr sz="1300">
                <a:solidFill>
                  <a:srgbClr val="18232E"/>
                </a:solidFill>
              </a:rPr>
              <a:t>  -&gt; Recommend M9 for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51023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4A261"/>
                </a:solidFill>
              </a:rPr>
              <a:t>Recommended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504688"/>
            <a:ext cx="10972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8232E"/>
                </a:solidFill>
              </a:rPr>
              <a:t>  Deploy M9 as primary model  |  Monitor KR edge cases via /diagnosis  |  Optional: tune k* around 4-6  |  Optional: add data for worst scenarios  |  Consider ensemble M8+M9 for production robustness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142B-FEA9-0D90-E9C7-FAB1E1C00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113F361-F7E6-40C5-CAC2-479DB29B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131"/>
            <a:ext cx="12192000" cy="575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29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F454C-EF74-9F2D-D482-4536D20BD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36DB55-2C5D-D30E-65BD-AE0C2A664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013"/>
            <a:ext cx="12192000" cy="579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04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E6F0"/>
                </a:solidFill>
              </a:rPr>
              <a:t>Evolution:  M7 (baseline) -&gt; M8 (efficient) -&gt; M9 (SwiGLU, best)</a:t>
            </a:r>
          </a:p>
          <a:p>
            <a:pPr algn="l"/>
            <a:endParaRPr sz="1600" b="0">
              <a:solidFill>
                <a:srgbClr val="DCE6F0"/>
              </a:solidFill>
            </a:endParaRPr>
          </a:p>
          <a:p>
            <a:pPr algn="l"/>
            <a:r>
              <a:rPr sz="1600" b="0">
                <a:solidFill>
                  <a:srgbClr val="DCE6F0"/>
                </a:solidFill>
              </a:rPr>
              <a:t>Key Architectural Changes: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MLP: Wide 128 -&gt; Bottleneck 48 -&gt; SwiGLU 32   (16,512 -&gt; 6,256 -&gt; 6,272 params)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Relation R: Fixed -&gt; Learnable (100 params, gradient-optimized)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Physics: None -&gt; Monotonic loss (KL dec KR dec KLR inc, weight=0.2)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k* prototypes: 6 -&gt; 5 -&gt; 5 (M9 reuses M8 discovery)</a:t>
            </a:r>
          </a:p>
          <a:p>
            <a:pPr algn="l"/>
            <a:endParaRPr sz="1600" b="0">
              <a:solidFill>
                <a:srgbClr val="DCE6F0"/>
              </a:solidFill>
            </a:endParaRPr>
          </a:p>
          <a:p>
            <a:pPr algn="l"/>
            <a:r>
              <a:rPr sz="1600" b="0">
                <a:solidFill>
                  <a:srgbClr val="DCE6F0"/>
                </a:solidFill>
              </a:rPr>
              <a:t>Performance: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M7: R2=0.9897, 55,770 params, 1.5% compression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M8: R2=0.9882, 45,486 params, 19.7% compression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M9: R2=0.9915, 45,502 params, 19.7% compression  &lt;- BEST</a:t>
            </a:r>
          </a:p>
          <a:p>
            <a:pPr algn="l"/>
            <a:endParaRPr sz="1600" b="0">
              <a:solidFill>
                <a:srgbClr val="DCE6F0"/>
              </a:solidFill>
            </a:endParaRPr>
          </a:p>
          <a:p>
            <a:pPr algn="l"/>
            <a:r>
              <a:rPr sz="1600" b="0">
                <a:solidFill>
                  <a:srgbClr val="DCE6F0"/>
                </a:solidFill>
              </a:rPr>
              <a:t>Why M9 Wins: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- SwiGLU gating is more expressive than GELU at same parameter budget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- Skips Stages A &amp; B -&gt; 2-3x faster training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- Best R2 (0.9915) with near-minimal parameter count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- Physically meaningful outputs via monotonic regularization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M7 / M8 / M9 Detailed Comparison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4410</Words>
  <Application>Microsoft Office PowerPoint</Application>
  <PresentationFormat>Widescreen</PresentationFormat>
  <Paragraphs>792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Youssef Khallouqi</cp:lastModifiedBy>
  <cp:revision>2</cp:revision>
  <dcterms:created xsi:type="dcterms:W3CDTF">2013-01-27T09:14:16Z</dcterms:created>
  <dcterms:modified xsi:type="dcterms:W3CDTF">2026-04-21T04:12:06Z</dcterms:modified>
  <cp:category/>
</cp:coreProperties>
</file>