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M9: SwiGLU Ψ-NN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Calibri"/>
              </a:defRPr>
            </a:pPr>
            <a:r>
              <a:t>Physics-Informed Digital Twin for Pile Stiffness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t>A comprehensive overview of the M9 model, its evolution from M7 &amp; M8,</a:t>
            </a:r>
            <a:br/>
            <a:r>
              <a:t>technical concepts explained simply, and full performance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58368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0" y="5303520"/>
            <a:ext cx="1645920" cy="292608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Ψ-NN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5303520"/>
            <a:ext cx="1645920" cy="292608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SwiGLU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5303520"/>
            <a:ext cx="164592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XAI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01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✦  We predict how offshore wind turbine pile foundations lose stiffness during typhoons.</a:t>
            </a:r>
          </a:p>
          <a:p>
            <a:pPr>
              <a:spcAft>
                <a:spcPts val="14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✦  The AI model learns the physics of soil degradation (KL, KR, KLR decrease over cyclic loading).</a:t>
            </a:r>
          </a:p>
          <a:p>
            <a:pPr>
              <a:spcAft>
                <a:spcPts val="14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✦  M9 is the latest version: it uses a SwiGLU gating mechanism inside the neural network.</a:t>
            </a:r>
          </a:p>
          <a:p>
            <a:pPr>
              <a:spcAft>
                <a:spcPts val="14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✦  The model was compressed from 56,646 → 45,502 parameters (19.7% smaller) without losing accuracy.</a:t>
            </a:r>
          </a:p>
          <a:p>
            <a:pPr>
              <a:spcAft>
                <a:spcPts val="14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✦  R² score = 0.989 — the model explains 98.9% of the variance in real test data.</a:t>
            </a:r>
          </a:p>
          <a:p>
            <a:pPr>
              <a:spcAft>
                <a:spcPts val="14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✦  Three-stage pipeline: Distillation → Structure Discovery → Structured Retraining.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029200"/>
            <a:ext cx="2743200" cy="12801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AA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349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45,502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852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19.7% fewer than M6 teacher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5029200"/>
            <a:ext cx="2743200" cy="12801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AA"/>
                </a:solidFill>
                <a:latin typeface="Calibri"/>
              </a:defRPr>
            </a:pPr>
            <a:r>
              <a:t>Overall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5349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C9B0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852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Exceeds M6 teacher (0.9804)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029200"/>
            <a:ext cx="2743200" cy="12801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AA"/>
                </a:solidFill>
                <a:latin typeface="Calibri"/>
              </a:defRPr>
            </a:pPr>
            <a:r>
              <a:t>Prototypes k*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349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AA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852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Replaces 20 independent slots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Calibri"/>
              </a:defRPr>
            </a:pPr>
            <a:r>
              <a:t>02  What Problem Are We Solving?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🌊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Offshore wind turbines (OWT) are built on pile foundations in the seabed.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Typhoons cause cyclic loading → soil around the pile degrades.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This reduces the pile's stiffness (how well it resists movement).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Three types of stiffness change: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   • KL — lateral (sideways) spring stiffness ↓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   • KR — rotational (rocking) spring stiffness ↓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   • KLR — cross-coupling stiffness (increases ↑)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If stiffness drops too much → resonance risk → structural failure!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🧠  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Build an AI "Digital Twin" that predicts stiffness degradation.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Input: 8 soil/pile parameters (PI, Gmax, v, Dp, Tp, Lp, Ip, Dp/Lp).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Output: KL, KR, KLR values at 21 time steps during the storm.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The model enforces physics: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   • KL and KR must decrease monotonically ↓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   • KLR must increase monotonically ↑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Trained on real experimental data (44 loading cycles per scenario).</a:t>
            </a:r>
          </a:p>
          <a:p>
            <a:pPr>
              <a:spcAft>
                <a:spcPts val="800"/>
              </a:spcAft>
              <a:defRPr sz="1300">
                <a:solidFill>
                  <a:srgbClr val="CCCCDD"/>
                </a:solidFill>
                <a:latin typeface="Calibri"/>
              </a:defRPr>
            </a:pPr>
            <a:r>
              <a:t>Engineers can simulate "what-if" scenarios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03  Technical Glossary — Key Terms Explained Simply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24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Ψ-NN (Psi Neural Network)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 neural network that discovers its own structure. Instead of a fixed design, it learns which internal components (slots) are redundant and merges them into fewer "prototypes".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48640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24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Slot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 mechanism where the model has multiple "slots" (like memory boxes). Each slot learns to represent a different aspect of the degradation process. The model attends to the input data to fill each slot with relevant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548640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53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Distillation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Training a smaller "student" model to mimic a larger "teacher" model. The student learns from the teacher's outputs, achieving similar accuracy with fewer parameters.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80360"/>
            <a:ext cx="548640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53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9F0AE"/>
                </a:solidFill>
                <a:latin typeface="Calibri"/>
              </a:defRPr>
            </a:pPr>
            <a:r>
              <a:t>SwiGLU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Swish-Gated Linear Unit — a modern feed-forward block used in LLaMA and PaLM. It splits the input into two branches: a "gate" (decides what to keep) and a "value" (the actual content), then multiplies them together. More expressive than standard GELU at the same parameter 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09160"/>
            <a:ext cx="548640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82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3"/>
                </a:solidFill>
                <a:latin typeface="Calibri"/>
              </a:defRPr>
            </a:pPr>
            <a:r>
              <a:t>Relation Matrix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 learned mapping that shows how each of the 20 degradation steps relates to the k* prototypes. Think of it as a recipe: each step is a weighted blend of the prototype ingredients.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709160"/>
            <a:ext cx="548640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82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B5F6"/>
                </a:solidFill>
                <a:latin typeface="Calibri"/>
              </a:defRPr>
            </a:pPr>
            <a:r>
              <a:t>R² (R-squared)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 score from 0 to 1 measuring how well predictions match reality. R²=0.98 means the model explains 98% of the variation in the data. Higher is better.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04  The 3-Stage Ψ-NN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All three models (M7, M8, M9) follow the same 3-stage pipeline. The difference lies in the internal MLP design and training losses.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47548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64592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STAGE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Distillation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The large M6 "teacher" (56,646 params) is frozen.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A smaller "student" model learns to produce the same outputs.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L1 regularisation forces the student to use sparse slot patterns.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Loss = MSE(student, teacher) + 0.5·MSE(student, data) + μ·L1(slots)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463040"/>
            <a:ext cx="3566160" cy="47548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164592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STAGE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Structure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688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Extract the student's learned slot vectors (20 slots × 64 dimensions).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Compute cosine similarity → see which slots are redundant.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K-Means clustering → find k* prototype groups (k*=5 for M8/M9).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Build relation matrix R: how each slot maps to prototypes.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A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1554480"/>
            <a:ext cx="1645920" cy="292608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STAGE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Ψ-Model Retraining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4688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Build a new model with only k* prototypes instead of 20 slots.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Initialise prototypes from discovered centroids.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Train with multi-objective loss: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  Distill + Data + Initial·5 + Shape + Entropy + Physics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999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05  M6 Teacher — The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5212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SlotAttentionDegradation (M6)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• The teacher model — the starting point for all Ψ-NN models.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• Uses 21 learnable slots (1 initial + 20 degradation steps).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• Each slot is a 64-dimensional vector refined through 3 iterations of: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  1. Cross-attention: slots query the input embedding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  2. Self-attention: slots communicate with each other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  3. Feed-forward MLP: non-linear transformation (64→128→64, GELU)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• Physics constraint: KL, KR forced to decrease, KLR to increase via cumulative sums.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• Parameters: 56,646  |  R² = 0.9804  |  Trained on real OWT pile data.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⚠ Problem: 20 independent drop slots are redundant!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 → Many slots learn nearly identical representations (cosine sim &gt; 0.99).</a:t>
            </a:r>
          </a:p>
          <a:p>
            <a:pPr>
              <a:spcAft>
                <a:spcPts val="7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 → This motivates the Ψ-NN compression pipeline (M7, M8, M9).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4B5F6"/>
                </a:solidFill>
                <a:latin typeface="Calibri"/>
              </a:defRPr>
            </a:pPr>
            <a:r>
              <a:t>06  M7 — Baseline Ψ-NN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212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B5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First implementation of the 3-stage Ψ-NN pipeline.</a:t>
            </a:r>
          </a:p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Stage A: Student uses SAME architecture as M6 teacher (wide MLP 64→128→64).</a:t>
            </a:r>
          </a:p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Stage B: K-Means finds k*=6 prototypes.</a:t>
            </a:r>
          </a:p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Stage C: Ψ-Model uses FIXED relation matrix R (registered buffer, not learnable).</a:t>
            </a:r>
          </a:p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Slot MLP: standard GELU MLP (64→128→64).</a:t>
            </a:r>
          </a:p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→ 2× expansion = many parameters.</a:t>
            </a:r>
          </a:p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Stage C Loss: Distill + Data + Initial·5 + Shape.</a:t>
            </a:r>
          </a:p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→ No physics-monotonic penalty.</a:t>
            </a:r>
          </a:p>
          <a:p>
            <a:pPr>
              <a:spcAft>
                <a:spcPts val="7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→ No relation-entropy regularisation.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5212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B5F6"/>
                </a:solidFill>
                <a:latin typeface="Calibri"/>
              </a:defRPr>
            </a:pPr>
            <a:r>
              <a:t>Results &amp;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Parameters:  55,770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Prototypes:  k* = 6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Compression: only 1.5% fewer than M6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Overall R² = 0.9897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KL    R² = 0.9910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KR    R² = 0.9807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 KLR   R² = 0.9860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⚠ Limitations: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Minimal compression (1.5%) — wide MLP wastes params.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Fixed R matrix — cannot adapt during training.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No physics loss — model may violate monotonicity.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• k*=6 prototypes — more than necessary.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B74D"/>
                </a:solidFill>
                <a:latin typeface="Calibri"/>
              </a:defRPr>
            </a:pPr>
            <a:r>
              <a:t>07  M8 — Efficient Ψ-NN (3 Upgrades)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566160" cy="4846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Upgrade 1: EfficientSlotMLP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Replaces wide MLP (64→128→64) with bottleneck MLP (64→48→64).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Input (64) → compress to 48 → GELU activate → expand back to 64.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Saves ~40% of MLP parameters.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GELU non-linearity preserves expressiveness.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6,256 params vs M6's 16,576 MLP params.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566160" cy="4846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33"/>
                </a:solidFill>
                <a:latin typeface="Calibri"/>
              </a:defRPr>
            </a:pPr>
            <a:r>
              <a:t>Upgrade 2: Learnable R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Relation matrix R is no longer frozen!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Stored as learnable logits: R = softmax(logits).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Row-normalised → each slot gets valid mixing weights.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Initialised from Stage B clustering, then fine-tuned end-to-end.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+ Entropy regularisation: sharpens assignments (avoids uniform mixing).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97280"/>
            <a:ext cx="3566160" cy="4846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Upgrade 3: Physics-Monotonic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A new penalty term enforces physical laws during training.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Penalises any KL or KR that INCREASES between time steps.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Penalises any KLR that DECREASES between time steps.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L_mono = relu(ΔKL, ΔKR) + relu(-ΔKLR)</a:t>
            </a:r>
          </a:p>
          <a:p>
            <a:pPr>
              <a:spcAft>
                <a:spcPts val="7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• Weighted by λ=0.2 in total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1447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B74D"/>
                </a:solidFill>
                <a:latin typeface="Calibri"/>
              </a:defRPr>
            </a:pPr>
            <a:r>
              <a:t>M8 Result:  45,486 params  |  k*=5  |  19.7% compression  |  R²=0.9882  |  Learnable R ✓  |  Physics loss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9F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9F0AE"/>
                </a:solidFill>
                <a:latin typeface="Calibri"/>
              </a:defRPr>
            </a:pPr>
            <a:r>
              <a:t>08  M9 — SwiGLU Ψ-NN (The Latest)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6858000" cy="5212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9F0AE"/>
                </a:solidFill>
                <a:latin typeface="Calibri"/>
              </a:defRPr>
            </a:pPr>
            <a:r>
              <a:t>The SwiGLU 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M9 replaces the EfficientSlotMLP (M8) with a SwiGLU feed-forward block.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How SwiGLU works (3 linear projections):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1. W_gate(x) →  apply SiLU activation → produces the "gate" signal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2. W_val(x)  →  raw projection → produces the "value" signal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3. gate ⊙ value (element-wise multiply) → gated output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4. W_out(gated) → project back to original dimension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Why SwiGLU is better: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•  The gate learns WHICH features to propagate (selective filtering)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•  Used in state-of-the-art LLMs: LLaMA, PaLM, Mistral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•  Same parameter count as M8 bottleneck (6,272 ≈ 6,256)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•  But provably more expressive due to multiplicative gating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M9 keeps ALL M8 improvements: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✓  Learnable relation matrix (softmax logits)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✓  Physics-monotonic loss + entropy regularisation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t>  ✓  Same training pipeline (A → B → 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931920" cy="5212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M9 Quick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737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9F0AE"/>
                </a:solidFill>
                <a:latin typeface="Calibri"/>
              </a:defRPr>
            </a:pPr>
            <a:r>
              <a:t>45,502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40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Compression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2402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AA33"/>
                </a:solidFill>
                <a:latin typeface="Calibri"/>
              </a:defRPr>
            </a:pPr>
            <a:r>
              <a:t>19.7%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k* prototypes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7432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2461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SwiGLU hidden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46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9F0AE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490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Overall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7490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51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KL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2519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CCCDD"/>
                </a:solidFill>
                <a:latin typeface="Calibri"/>
              </a:defRPr>
            </a:pPr>
            <a:r>
              <a:t>0.9905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754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KR R²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7548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CCCDD"/>
                </a:solidFill>
                <a:latin typeface="Calibri"/>
              </a:defRPr>
            </a:pPr>
            <a:r>
              <a:t>0.9796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57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KLR 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2578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CCCDD"/>
                </a:solidFill>
                <a:latin typeface="Calibri"/>
              </a:defRPr>
            </a:pPr>
            <a:r>
              <a:t>0.9860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9F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9F0AE"/>
                </a:solidFill>
                <a:latin typeface="Calibri"/>
              </a:defRPr>
            </a:pPr>
            <a:r>
              <a:t>09  SwiGLU vs GELU MLP — Schematic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5303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Calibri"/>
              </a:defRPr>
            </a:pPr>
            <a:r>
              <a:t>M7: Standard GELU 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64 → 128 → 64  (16,576 params)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39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Input x ∈ ℝ⁶⁴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50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70048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B5F6"/>
                </a:solidFill>
                <a:latin typeface="Calibri"/>
              </a:defRPr>
            </a:pPr>
            <a:r>
              <a:t>W₁ · x + b₁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Linear 64→128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28416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55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GELU(·)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A3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86784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142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AA"/>
                </a:solidFill>
                <a:latin typeface="Calibri"/>
              </a:defRPr>
            </a:pPr>
            <a:r>
              <a:t>Dropout(0.1)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059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Regularisation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4256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45152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72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B5F6"/>
                </a:solidFill>
                <a:latin typeface="Calibri"/>
              </a:defRPr>
            </a:pPr>
            <a:r>
              <a:t>W₂ · h + b₂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7183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Linear 128→64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0840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03520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30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Output ∈ ℝ⁶⁴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1097280"/>
            <a:ext cx="3474720" cy="5303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4D"/>
                </a:solidFill>
                <a:latin typeface="Calibri"/>
              </a:defRPr>
            </a:pPr>
            <a:r>
              <a:t>M8: Bottleneck MLP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64 → 48 → 64  (6,256 params)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2011680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039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Input x ∈ ℝ⁶⁴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450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2670048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74D"/>
                </a:solidFill>
                <a:latin typeface="Calibri"/>
              </a:defRPr>
            </a:pPr>
            <a:r>
              <a:t>W₁ · x + b₁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Linear 64→48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74D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3328416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3355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GELU(·)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Activation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A3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3986784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0142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AA"/>
                </a:solidFill>
                <a:latin typeface="Calibri"/>
              </a:defRPr>
            </a:pPr>
            <a:r>
              <a:t>Dropout(0.1)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059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Regularisation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44256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4645152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4672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74D"/>
                </a:solidFill>
                <a:latin typeface="Calibri"/>
              </a:defRPr>
            </a:pPr>
            <a:r>
              <a:t>W₂ · h + b₂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7183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Linear 48→64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0840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74D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0" y="5303520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0" y="5330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Output ∈ ℝ⁶⁴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1097280"/>
            <a:ext cx="3566160" cy="5303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9F0AE"/>
                </a:solidFill>
                <a:latin typeface="Calibri"/>
              </a:defRPr>
            </a:pPr>
            <a:r>
              <a:t>M9: SwiGLU MLP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Gate + Value parallel  (6,272 params)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2011680"/>
            <a:ext cx="2743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Input x ∈ ℝ⁶⁴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23957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9F0AE"/>
                </a:solidFill>
                <a:latin typeface="Calibri"/>
              </a:defRPr>
            </a:pPr>
            <a:r>
              <a:t>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23957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9F0AE"/>
                </a:solidFill>
                <a:latin typeface="Calibri"/>
              </a:defRPr>
            </a:pPr>
            <a:r>
              <a:t>↘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2743200"/>
            <a:ext cx="141732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27614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W_gate·x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3108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3291840"/>
            <a:ext cx="141732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33101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SiLU(·)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9840" y="2743200"/>
            <a:ext cx="141732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5560" y="27614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alibri"/>
              </a:defRPr>
            </a:pPr>
            <a:r>
              <a:t>W_val·x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703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9F0AE"/>
                </a:solidFill>
                <a:latin typeface="Calibri"/>
              </a:defRPr>
            </a:pPr>
            <a:r>
              <a:t>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3200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9F0A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61120" y="3977639"/>
            <a:ext cx="201168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06840" y="39959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F0AE"/>
                </a:solidFill>
                <a:latin typeface="Calibri"/>
              </a:defRPr>
            </a:pPr>
            <a:r>
              <a:t>gate ⊙ value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343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9F0A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61120" y="4572000"/>
            <a:ext cx="201168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06840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AA"/>
                </a:solidFill>
                <a:latin typeface="Calibri"/>
              </a:defRPr>
            </a:pPr>
            <a:r>
              <a:t>Dropout(0.1)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4937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9F0A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61120" y="5166360"/>
            <a:ext cx="201168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06840" y="51846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F0AE"/>
                </a:solidFill>
                <a:latin typeface="Calibri"/>
              </a:defRPr>
            </a:pPr>
            <a:r>
              <a:t>W_out → ℝ⁶⁴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61120" y="5715000"/>
            <a:ext cx="201168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06840" y="5733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Output ∈ ℝ⁶⁴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10  M9 + Cross-Attention Adapter (Stage 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An optional decoder-style extension inspired by the SCm→WTm encoder-decoder coupling in the research paper.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94360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A33"/>
                </a:solidFill>
                <a:latin typeface="Calibri"/>
              </a:defRPr>
            </a:pPr>
            <a:r>
              <a:t>Adapter Architecture (Schematic)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Calibri"/>
              </a:defRPr>
            </a:pPr>
            <a:r>
              <a:t>Input x → M9 Encoder (FROZEN)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32888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511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999AA"/>
                </a:solidFill>
                <a:latin typeface="Calibri"/>
              </a:defRPr>
            </a:pPr>
            <a:r>
              <a:t>Frozen Slot States S_f ∈ ℝ²¹ˣ⁶⁴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98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A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99816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181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Learned Decoder Queries 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655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AA3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66744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850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Calibri"/>
              </a:defRPr>
            </a:pPr>
            <a:r>
              <a:t>Cross-Attn(Q, K=S_f, V=S_f)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0325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33672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9B0"/>
                </a:solidFill>
                <a:latin typeface="Calibri"/>
              </a:defRPr>
            </a:pPr>
            <a:r>
              <a:t>LayerNorm(Q + Attn_out)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599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B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00600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18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σ(gate) · decoded + S_f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66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AA3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367528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3858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9F0AE"/>
                </a:solidFill>
                <a:latin typeface="Calibri"/>
              </a:defRPr>
            </a:pPr>
            <a:r>
              <a:t>Output Heads → Final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1371600"/>
            <a:ext cx="502920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1. The entire M9 base model is FROZEN (no gradients).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2. A new set of learnable "decoder queries" is created.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3. These queries attend to the frozen M9 slot states via cross-attention.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4. A learnable gate (sigmoid) controls how much adapter output is mixed in.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5. Only the adapter's parameters are trained (~18,241 trainable).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Key Metrics: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   Total params:     63,743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   Trainable params: 18,241 (adapter only)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   Base R²:          0.9891 (frozen M9)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   Adapter R²:       0.9881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💡 The adapter allows extending M9 without modifying the base model — 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t>useful for domain adaptation or multi-task scenarios.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11  M7 vs M8 vs M9 — Comparison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9260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98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05156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069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B5F6"/>
                </a:solidFill>
                <a:latin typeface="Calibri"/>
              </a:defRPr>
            </a:pPr>
            <a:r>
              <a:t>M7 (Baseline)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05156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69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B74D"/>
                </a:solidFill>
                <a:latin typeface="Calibri"/>
              </a:defRPr>
            </a:pPr>
            <a:r>
              <a:t>M8 (Efficient)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05156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069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9F0AE"/>
                </a:solidFill>
                <a:latin typeface="Calibri"/>
              </a:defRPr>
            </a:pPr>
            <a:r>
              <a:t>M9 (SwiGLU)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54480"/>
            <a:ext cx="292608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572768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Slot MLP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554480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57276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GELU 64→128→64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57276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Bottleneck 64→48→64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554480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157276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SwiGLU (gate+val, h=32)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947672"/>
            <a:ext cx="292608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965960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MLP Parameters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1947672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2" y="196596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16,576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947672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196596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6,256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947672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196596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6,272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340864"/>
            <a:ext cx="292608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359152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Total Params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2340864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235915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55,770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340864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235915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45,486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2340864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235915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45,502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2734056"/>
            <a:ext cx="292608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2752344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Compression vs M6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0440" y="2734056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275234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1.5%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2734056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275234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19.7%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2734056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2872" y="275234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19.7%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3127248"/>
            <a:ext cx="292608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3145536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k* (Prototypes)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20440" y="3127248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93592" y="3145536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3127248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28232" y="3145536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9720" y="3127248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62872" y="3145536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3520440"/>
            <a:ext cx="292608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3538728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Relation Matrix 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20440" y="3520440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93592" y="353872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Fixed (frozen buffer)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3520440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28232" y="353872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Learnable (softmax)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89720" y="3520440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62872" y="353872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Learnable (softmax)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3913632"/>
            <a:ext cx="292608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" y="3931920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Physics-Mono Loss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20440" y="3913632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93592" y="393192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55080" y="3913632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28232" y="393192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✓ Yes (λ=0.2)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89720" y="3913632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62872" y="393192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✓ Yes (λ=0.2)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4306824"/>
            <a:ext cx="292608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" y="4325112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Entropy Regularise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20440" y="4306824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93592" y="432511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55080" y="4306824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28232" y="432511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✓ Yes (λ=0.02)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89720" y="4306824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62872" y="432511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✓ Yes (λ=0.02)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4700016"/>
            <a:ext cx="292608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6072" y="4718304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Overall R²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520440" y="4700016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93592" y="471830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0.9897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55080" y="4700016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28232" y="471830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0.9882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89720" y="4700016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62872" y="471830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5093208"/>
            <a:ext cx="292608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6072" y="5111496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KL R²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520440" y="5093208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93592" y="5111496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0.9910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55080" y="5093208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28232" y="5111496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0.9888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189720" y="5093208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62872" y="5111496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0.9905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2920" y="5486400"/>
            <a:ext cx="292608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76072" y="5504688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KR R²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20440" y="5486400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93592" y="550468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0.9807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55080" y="5486400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28232" y="550468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0.9780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189720" y="5486400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62872" y="5504688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0.9796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02920" y="5879592"/>
            <a:ext cx="292608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6072" y="5897880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KLR R²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520440" y="5879592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93592" y="589788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355080" y="5879592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28232" y="589788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0.9845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189720" y="5879592"/>
            <a:ext cx="2743200" cy="365760"/>
          </a:xfrm>
          <a:prstGeom prst="roundRect">
            <a:avLst/>
          </a:prstGeom>
          <a:solidFill>
            <a:srgbClr val="1E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62872" y="5897880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02920" y="6272784"/>
            <a:ext cx="292608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6072" y="6291072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Cross-Attn Adapter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520440" y="6272784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93592" y="629107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355080" y="6272784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28232" y="629107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189720" y="6272784"/>
            <a:ext cx="2743200" cy="365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262872" y="6291072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F0AE"/>
                </a:solidFill>
                <a:latin typeface="Calibri"/>
              </a:defRPr>
            </a:pPr>
            <a:r>
              <a:t>✓ Optional (Stage 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12  Performance Metrics — Visual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Calibri"/>
              </a:defRPr>
            </a:pPr>
            <a:r>
              <a:t>Overall R² Score (higher = better)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AA"/>
                </a:solidFill>
                <a:latin typeface="Calibri"/>
              </a:defRPr>
            </a:pPr>
            <a:r>
              <a:t>M6 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56,646 params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00200"/>
            <a:ext cx="987552" cy="274320"/>
          </a:xfrm>
          <a:prstGeom prst="roundRect">
            <a:avLst/>
          </a:prstGeom>
          <a:solidFill>
            <a:srgbClr val="999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22192" y="15727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AA"/>
                </a:solidFill>
                <a:latin typeface="Calibri"/>
              </a:defRPr>
            </a:pPr>
            <a:r>
              <a:t>0.9804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B5F6"/>
                </a:solidFill>
                <a:latin typeface="Calibri"/>
              </a:defRPr>
            </a:pPr>
            <a:r>
              <a:t>M7 Ψ-NN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55,770 params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23160"/>
            <a:ext cx="2688336" cy="274320"/>
          </a:xfrm>
          <a:prstGeom prst="round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2976" y="2395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B5F6"/>
                </a:solidFill>
                <a:latin typeface="Calibri"/>
              </a:defRPr>
            </a:pPr>
            <a:r>
              <a:t>0.9897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4D"/>
                </a:solidFill>
                <a:latin typeface="Calibri"/>
              </a:defRPr>
            </a:pPr>
            <a:r>
              <a:t>M8 Efficient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930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45,486 params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246120"/>
            <a:ext cx="2414015" cy="274320"/>
          </a:xfrm>
          <a:prstGeom prst="round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5" y="32186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4D"/>
                </a:solidFill>
                <a:latin typeface="Calibri"/>
              </a:defRPr>
            </a:pPr>
            <a:r>
              <a:t>0.9882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9F0AE"/>
                </a:solidFill>
                <a:latin typeface="Calibri"/>
              </a:defRPr>
            </a:pPr>
            <a:r>
              <a:t>M9 SwiGLU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159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45,502 params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069080"/>
            <a:ext cx="2578607" cy="274320"/>
          </a:xfrm>
          <a:prstGeom prst="roundRect">
            <a:avLst/>
          </a:prstGeom>
          <a:solidFill>
            <a:srgbClr val="69F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7" y="40416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9F0AE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005840"/>
            <a:ext cx="530352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097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Per-Variable R²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alibri"/>
              </a:defRPr>
            </a:pPr>
            <a:r>
              <a:t>KL (Lateral Stiffness)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01168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02996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AA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2860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0.9768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01168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02996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B5F6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2860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01168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02996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74D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2860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0.9888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201168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202996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9F0AE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22860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alibri"/>
              </a:defRPr>
            </a:pPr>
            <a:r>
              <a:t>KR (Rotational Stiffness)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356616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58444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AA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8404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0.9634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356616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358444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B5F6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38404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0.9807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0" y="356616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358444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74D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38404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0.9780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356616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87000" y="358444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9F0AE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38404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0.9796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754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alibri"/>
              </a:defRPr>
            </a:pPr>
            <a:r>
              <a:t>KLR (Cross-Coupling)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512064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5138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AA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53949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0.9690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63840" y="512064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5138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B5F6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53949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512064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5138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74D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53949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0.9845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5120640"/>
            <a:ext cx="105156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7000" y="513892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9F0AE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87000" y="53949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0.9860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58368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13 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960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Calibri"/>
              </a:defRPr>
            </a:pPr>
            <a:r>
              <a:t>🏗️  M7 →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Demonstrated Ψ-NN compression works: 21 slots → 6 prototypes. But minimal compression (1.5%) and no physics enforcement in Stage 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60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4D"/>
                </a:solidFill>
                <a:latin typeface="Calibri"/>
              </a:defRPr>
            </a:pPr>
            <a:r>
              <a:t>⚡  M8 → Efficiency +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Bottleneck MLP cuts parameters by 19.7%. Learnable R matrix adapts during training. Physics-monotonic loss ensures KL↓, KR↓, KLR↑.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247120" cy="960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9F0AE"/>
                </a:solidFill>
                <a:latin typeface="Calibri"/>
              </a:defRPr>
            </a:pPr>
            <a:r>
              <a:t>🧬  M9 → SwiGLU gating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Replaces bottleneck with SwiGLU: same param count but better expressiveness thanks to multiplicative gating. Best R² of all compressed models (0.9891).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1247120" cy="960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33"/>
                </a:solidFill>
                <a:latin typeface="Calibri"/>
              </a:defRPr>
            </a:pPr>
            <a:r>
              <a:t>🔌  Cross-Attention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Optional Stage D: freeze M9, train only a decoder-style adapter. Enables domain adaptation without touching the base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11247120" cy="960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📊  Bottom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M9 achieves 98.91% variance explained with 19.7% fewer parameters than the original teacher. Physics constraints are built into both the architecture (cumsum) and the loss function.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58368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M9: SwiGLU Ψ-NN for Pile Stiffness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AA"/>
                </a:solidFill>
                <a:latin typeface="Calibri"/>
              </a:defRPr>
            </a:pPr>
            <a:r>
              <a:t>Physics-informed  ·  Compressed  ·  Explainable  ·  Extensible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