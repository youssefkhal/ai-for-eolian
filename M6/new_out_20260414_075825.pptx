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M6 — Pile Stiffness Degradation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BDEFB"/>
                </a:solidFill>
              </a:rPr>
              <a:t>Slot-Attention Transformer · Physics-Informed · LSTM-Free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Architecture  ·  Fine-tuning Strategy  ·  MLP vs LSTM  ·  Efficiency  ·  Error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Predict KL, KR, KLR over 21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64.1% fewer parameters than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Hard-coded monotonicity guarantees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CAF9"/>
                </a:solidFill>
              </a:rPr>
              <a:t>PFE Project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Predicting pile-soil stiffness degradation under cyclic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Given 8 geotechnical input features, predict 3 stiffness quantities over 21 cyclic loading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3657600" cy="11430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INPUT  (8 features)
PI, Gmax, ν, Dp, Tp, Lp, Ip, Dp/Lp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176272"/>
            <a:ext cx="64008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0" y="1600200"/>
            <a:ext cx="3017520" cy="11430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7A3C"/>
                </a:solidFill>
              </a:rPr>
              <a:t>M6 MODEL
(Slot-Attention Transformer)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0" y="2176272"/>
            <a:ext cx="64008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0" y="1600200"/>
            <a:ext cx="3657600" cy="114300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8B0000"/>
                </a:solidFill>
              </a:rPr>
              <a:t>OUTPUT  (21 × 3)
KL(t), KR(t), KLR(t)
for t = 1 …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71800"/>
            <a:ext cx="27432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21 Learnable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One slot per degradation step — temporal structure without RNN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971800"/>
            <a:ext cx="27432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39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Physics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ΔKL, ΔKR ≤ 0  |  ΔKLR ≥ 0  (hard-coded monotonicity)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2743200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Cumulative Sum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K(t) = K⁰ + Σ Δₙ  — error never resets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971800"/>
            <a:ext cx="274320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Signed Log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Handles mixed-sign targets (KLR &lt; 0, KL/KR &gt;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977639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Stiffness quantities:  KL = lateral  |  KR = rotational  |  KLR = cross-coupling (always &lt; 0, increases toward 0 under loading)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89120"/>
            <a:ext cx="11612880" cy="2240280"/>
          </a:xfrm>
          <a:prstGeom prst="rect">
            <a:avLst/>
          </a:prstGeom>
          <a:solidFill>
            <a:srgbClr val="F4F6F7"/>
          </a:solidFill>
          <a:ln w="1905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480559"/>
            <a:ext cx="113934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</a:rPr>
              <a:t>Data Pipeline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44 raw time steps → subsampled to 21 (equal spacing)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Signed log transform: sign(y)·log(1+|y|)  →  preserves negative KLR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RobustScaler per output variable (median/IQR, robust to outliers)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Additive drop model: network learns Δ, not absolute K — physically motivated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M6 — SlotAttentionDegradation  (LSTM-free, physics-constrained)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1188720"/>
            <a:ext cx="1280160" cy="77724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D47A1"/>
                </a:solidFill>
              </a:rPr>
              <a:t>INPUT
[B, 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842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</a:rPr>
              <a:t>8 features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1572768"/>
            <a:ext cx="5029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20240" y="1188720"/>
            <a:ext cx="1691640" cy="114300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8E44AD"/>
                </a:solidFill>
              </a:rPr>
              <a:t>EMBEDDING
Linear 8→64
LayerNorm
GELU
[B,1,64]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1755648"/>
            <a:ext cx="502920" cy="0"/>
          </a:xfrm>
          <a:prstGeom prst="line">
            <a:avLst/>
          </a:prstGeom>
          <a:ln w="19050">
            <a:solidFill>
              <a:srgbClr val="8E4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14800" y="1188720"/>
            <a:ext cx="1920240" cy="100584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7A3C"/>
                </a:solidFill>
              </a:rPr>
              <a:t>21 LEARNABLE
SLOTS
[B, 21, 64]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Slot 1 (initial) + Slots 2–21 (drops)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691640"/>
            <a:ext cx="411480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46520" y="1143000"/>
            <a:ext cx="4160520" cy="246888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704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ECC71"/>
                </a:solidFill>
              </a:rPr>
              <a:t>ITERATIVE SLOT REFINEMENT  ×3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481328"/>
            <a:ext cx="1170432" cy="868680"/>
          </a:xfrm>
          <a:prstGeom prst="rect">
            <a:avLst/>
          </a:prstGeom>
          <a:solidFill>
            <a:srgbClr val="D1F2EB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Cross-Attention
Q=slots
K=V=input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1170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481328"/>
            <a:ext cx="1170432" cy="86868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Self-Attention
Q=K=V
=slots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77440"/>
            <a:ext cx="1170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8008" y="1481328"/>
            <a:ext cx="1298448" cy="86868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Slot MLP
64→128→64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37744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08392" y="1938528"/>
            <a:ext cx="155448" cy="0"/>
          </a:xfrm>
          <a:prstGeom prst="line">
            <a:avLst/>
          </a:prstGeom>
          <a:ln w="19050">
            <a:solidFill>
              <a:srgbClr val="1AB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34272" y="1938528"/>
            <a:ext cx="173736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85632" y="3611880"/>
            <a:ext cx="0" cy="45720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720840" y="4069080"/>
            <a:ext cx="3520440" cy="59436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Refined Slots  [B, 21, 64]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943600" y="4663440"/>
            <a:ext cx="1828800" cy="640080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35440" y="4663440"/>
            <a:ext cx="822960" cy="640080"/>
          </a:xfrm>
          <a:prstGeom prst="line">
            <a:avLst/>
          </a:prstGeom>
          <a:ln w="1905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937760" y="5303520"/>
            <a:ext cx="1920240" cy="82296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C3E50"/>
                </a:solidFill>
              </a:rPr>
              <a:t>Slot 1
(initial)
[B,1,64]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97880" y="6126480"/>
            <a:ext cx="0" cy="411479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937760" y="6537959"/>
            <a:ext cx="1920240" cy="68580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Initial MLP
64→32→3  →  K⁰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72420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</a:rPr>
              <a:t>[B, 1, 3]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5303520"/>
            <a:ext cx="2103120" cy="82296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C3E50"/>
                </a:solidFill>
              </a:rPr>
              <a:t>Slots 2–21
[B,20,64]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21240" y="6126480"/>
            <a:ext cx="0" cy="411479"/>
          </a:xfrm>
          <a:prstGeom prst="line">
            <a:avLst/>
          </a:prstGeom>
          <a:ln w="1905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869680" y="6537959"/>
            <a:ext cx="2103120" cy="68580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Drop MLP (shared)
64→32→3  → Δ drops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21240" y="7223759"/>
            <a:ext cx="0" cy="320041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503920" y="7543800"/>
            <a:ext cx="2743200" cy="64008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Physics Constraint
−|Δ| for KL,KR  ;  +|Δ| for KLR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Fine-Tuning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How M6 was trained from scratch and what was changed from M5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78992"/>
            <a:ext cx="1161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M6 is not a pretrained model fine-tuned from M5 — it is trained from scratch, but the training strategy was carefully redesigned based on M5's failure modes.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4592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① Initial Loss Weighting  ×5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76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MSE on Slot 1 (initial K⁰) multiplied by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78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Any error in K⁰ propagates forward via cumulative 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809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Forces the model to anchor the trajectory correctly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M5 used ×3 — M6 raises to ×5 (LSTM no longer corrects drift)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556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② Shape Loss (Huber on 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76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Penalises changes in consecutive drops: Huber(Δₜ − Δₜ₋₁)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78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Encourages smooth degradation curves, not zigzag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809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Huber norm: robust to large isolated errors (vs pure L2)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1480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③ Gradient Clipping &amp; 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45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Gradient clip = 2.0 (M5: 1.0) — relaxed to let early gradients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47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ReduceLROnPlateau: patience 80 (M5: 100) — faster adaptation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449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Early stopping patience 200 epochs (M5: 300)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11480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④ Weight Decay &amp; Normalisation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45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Weight decay = 0.005 (M5: 0.01) — reduced to prevent over-regularisation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47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RobustScaler on targets: median/IQR instead of mean/std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449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Signed log transform preserves sign of cross-coupling term KLR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</a:rPr>
              <a:t>Total loss = MSE_overall + 5.0 × MSE_initial + λ_shape × ShapeLoss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MLP vs LSTM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Why M6 replaced the LSTM with a direct per-slot MLP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5394960" cy="530352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M6 — Per-Slot MLP 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Slots 2–21 as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Each slot vector [64-dim] goes independently into the shared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768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Single forward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054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64 → 32 → 3  (GELU activation)  —  all 20 slots in parallel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535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No hidden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82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No sequential dependency between slots at decoding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30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Temporal structure from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3 rounds of cross + self-attention encode temporal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068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Physics applied after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354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−|output| for KL, KR  ;  +|output| for KLR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834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Cumsum reconstructs trajectory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12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K(t) = K⁰ + Σ Δₙ  →  absolute stiffness 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051560"/>
            <a:ext cx="5989320" cy="5303520"/>
          </a:xfrm>
          <a:prstGeom prst="rect">
            <a:avLst/>
          </a:prstGeom>
          <a:solidFill>
            <a:srgbClr val="FFF9E6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M5 — LSTM Decoder  (removed in M6)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002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Input: aggregated slot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8288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Mean of all 21 slots → single [64-dim] context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2768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2-layer LSTM unrolled 20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50545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Hidden state hₜ = LSTM(hₜ₋₁, context)  — sequential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9535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Decoder cross-attention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18211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Each LSTM step attends back to all refined slots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6301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Positional embeddings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85876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Learnable pos_embed added to LSTM inputs for step identity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068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h₀, c₀ projections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53542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Separate MLPs to initialise LSTM hidden &amp; cell states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9834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101,312 extra parameters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2120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seq_decoder + decoder_cross_attn + h0_proj + c0_proj + pos_embed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6464808"/>
            <a:ext cx="11795760" cy="3017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48309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Key insight: self-attention already encodes temporal order through slot position — LSTM adds sequential decoding overhead but the ordering is already captured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Efficiency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M6 vs M5 — measured on identical hardware (CPU, batch=32)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157,958  →  56,646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64.1% FEWER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3E8"/>
                </a:solidFill>
              </a:rPr>
              <a:t>632.7 KB  →  231.2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Model File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</a:rPr>
              <a:t>63.5% SMALLER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11.38 ms  →  9.07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Inference Time (CPU)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</a:rPr>
              <a:t>1.25× 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546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Where did 101,312 parameters go?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Module Removed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Parameters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seq_decoder  (LSTM 2-layer)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66,176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Entire sequential decoder — largest chunk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decoder_cross_attn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16,640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8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Cross-attention between LSTM steps and slots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h0_proj + c0_proj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7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16,640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3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Linear projections to initialise LSTM hidden/cell state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pos_embed  (learnable)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7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1,280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8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3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One embedding vector per step  (20 × 64)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TOTAL REMOVED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2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100,736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8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3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TOTAL ADDED (3rd iteration reuses existing layers)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7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2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8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3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Zero new params — only extra compute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The 3rd refinement iteration reuses the SAME cross-attention + self-attention + MLP layers — zero parameter cost, only extra forward-pass compute (~10 ms).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Accuracy vs. Efficiency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Full metric comparison M5 ↔ 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M5 is more accurate on all metrics — M6 trades some accuracy for 64% fewer parameters and stronger physics guarantees.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9464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184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0328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51192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92056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37776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Δ (M6 − M5)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9464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0328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1192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2056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9464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15184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0328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1.98 × 10¹⁰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96912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2.98 × 10¹⁰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92056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37776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9464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5184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10328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6048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2.98 × 10⁹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51192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96912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3.33 × 10⁹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92056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37776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+12%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9464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15184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10328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6048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0.9907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51192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0.9768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92056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37776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−0.0139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9464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15184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10328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56048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6.21 × 10⁷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51192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96912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9.79 × 10⁷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92056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37776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9464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15184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10328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56048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0.9838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51192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96912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0.9634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92056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37776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−0.0204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9464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15184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10328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56048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3.42 × 10¹⁰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51192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96912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5.15 × 10¹⁰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92056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37776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9464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15184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10328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56048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0.9882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51192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96912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0.9690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92056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37776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−0.0192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9464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15184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10328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56048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1.18 × 10⁹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51192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96912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1.92 × 10⁹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92056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37776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+63%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74320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 1→21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69464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615184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 trend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10328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956048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0.9908→0.9968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51192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296912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0.9811→0.9809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92056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37776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M5 improves; M6 flat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74320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 1→21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69464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15184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 trend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910328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956048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2.40×10¹⁰→2.69×10⁹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51192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296912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3.45×10¹⁰→6.57×10⁹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92056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637776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Both decrease (magnitudes shrink)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860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</a:rPr>
              <a:t>KR has the largest RMSE gap — rotational stiffness benefits most from LSTM's sequential context.  KLR R² gap is large because the new +|Δ| constraint changes the output distribution.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Error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R², RMSE, MAE — definitions, properties, and how to read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R²  (Coefficient of Determination)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R² = 1 − Σ(y−ŷ)² / Σ(y−ȳ)²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56816"/>
            <a:ext cx="3566160" cy="1828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Range: −∞ to 1.0  (1.0 = perfect fit)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Scale-free: comparable across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Negative R² → model worse than predicting the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Best metric for slot-to-slot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RMSE  (Root Mean Square Error)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RMSE = √[ (1/n) Σ(y−ŷ)²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956816"/>
            <a:ext cx="356616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Same physical units as the target (N, N·m…)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Always ≥ 0  (squares → never negative)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Penalises large errors heavily (squared term)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Large values here reflect large stiffness magnitudes (10¹⁰)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MAE  (Mean Absolute Error)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MAE = (1/n) Σ|y−ŷ|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9" y="1956816"/>
            <a:ext cx="356616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Same units as target, always ≥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Robust to outliers (no squaring)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For same target: MAE ≤ RMSE always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Easier to interpret physically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493776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Granularity Levels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5321808"/>
            <a:ext cx="2834640" cy="13716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Overall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Flatten all N×21×3 predictions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Global model health check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5321808"/>
            <a:ext cx="2834640" cy="13716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6976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Per-variable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6976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Collapse time axis: N×21 per KL/KR/KLR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6976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Which output is hardest?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5321808"/>
            <a:ext cx="2834640" cy="137160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7064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Per-slot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7064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Collapse variable axis: N×3 per step 1–21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27064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Where on trajectory is error worst?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53144" y="5321808"/>
            <a:ext cx="2834640" cy="137160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</a:rPr>
              <a:t>Per-scenario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One prediction of 21×3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Which input combinations fail?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Understanding Errors Across 21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Why per-slot RMSE/MAE decrease ≠ better accuracy — use R²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7909560" cy="3063240"/>
          </a:xfrm>
          <a:prstGeom prst="rect">
            <a:avLst/>
          </a:prstGeom>
          <a:solidFill>
            <a:srgbClr val="F0F8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Observed Pattern: RMSE and MAE both decrease from Slot 1 →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90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M5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92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Slot 1 RMSE = 2.40×10¹⁰  →  Slot 21 RMSE = 2.69×10⁹  (Decrease: ~9×)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490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M6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92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Slot 1 RMSE = 3.45×10¹⁰  →  Slot 21 RMSE = 6.57×10⁹  (Decrease: ~5×)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48840"/>
            <a:ext cx="7680960" cy="36576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4028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WHY this happens — two reasons: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57860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① Physical magnitudes shrink:  Stiffness degradation is larger in early cycles (big initial drops), so absolute errors in N or N·m are naturally larger at Slot 1 than Slot 21.  RMSE and MAE are scale-dependent — they inherit this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272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② Cumulative sum drift:  Early errors propagate forward (K(t) = K⁰ + Σ Δₙ), so Slot 1 carries the highest absolute burden.  Later drops are smaller, so errors contributed per step are also smaller.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051560"/>
            <a:ext cx="3749039" cy="30632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Use R² for slot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R² is scale-normalised — measures how much better the model is than predicting the mean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67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For M5: Slot R² improves  0.9908 → 0.9968 ↑  (LSTM adds sequential context as trajectory progresses)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82549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For M6: Slot R² stays flat  0.9811 → 0.9809 →  (no sequential memory — each slot predicted independently)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48386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This flat profile is M6's signature trade-off — uniform quality, no improvement over trajectory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206240"/>
            <a:ext cx="11795760" cy="1280160"/>
          </a:xfrm>
          <a:prstGeom prst="rect">
            <a:avLst/>
          </a:prstGeom>
          <a:solidFill>
            <a:srgbClr val="FFF8E3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27024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6008"/>
                </a:solidFill>
              </a:rPr>
              <a:t>Webapp: Percentage Error per Step — the most interpretable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645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Err% = |ŷ − y| / |y|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45152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Scale-independent: a 10% error at Slot 1 and Slot 21 are equally meaningful — unlike RMSE which is dominated by early-slot magnitudes.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■  &lt; 5%  Green (excellent)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■  5–20%  Orange (acceptable)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■  &gt; 20%  Red (poor)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55778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Summary: which metric to use when?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Properties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Best used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Scale-free, 0–1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19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Slot-to-slot comparison, variable comparison, headline 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Physical units, ≥ 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19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Absolue error magnitude; dominated by early slots / large-magnitude variables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Physical units, ≥ 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19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244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Same as RMSE but more robust; physical interpretation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860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Err%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6052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Percentage, ≥ 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19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244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Webapp display; best for per-step human-readable quality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88952" cy="3383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M6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BDEFB"/>
                </a:solidFill>
              </a:rPr>
              <a:t>Simpler · Faster · Physics-Guaranteed · LSTM-Free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21 learnable slots · 3× refinement (cross-attn → self-attn → MLP) · per-slot MLP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vs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Removed LSTM decoder (101,312 params) · Added 3rd iteration · Added KLR sign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80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64.1% fewer parameters · 63.5% smaller file · 1.25× faster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80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R² 0.9804 (vs 0.9913) · All three targets accurately predicted · KR largest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Physics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ΔKL ≤ 0, ΔKR ≤ 0, ΔKLR ≥ 0 hard-coded · Monotonicity structurally guaranteed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R² best for slot comparison (scale-free) · RMSE/MAE in physical units (always ≥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D8A8"/>
                </a:solidFill>
              </a:rPr>
              <a:t>M6 = M5 − LSTM + stronger constraints + 3 attention iterations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the Ψ-NN Paper Adds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Automatic structure discovery for physics-informed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515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</a:rPr>
              <a:t>Paper: Liu et al. (Nature Communications, 2025) — Automatic network structure discovery of physics informed neural networks via knowledge distillation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54480"/>
            <a:ext cx="3657600" cy="452628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Core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1. Train a teacher network for physics accuracy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2. Train a student network with regularization, but without mixing that regularization into the physics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3931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3. Cluster learned weights and detect repeated, opposite, or permuted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4398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4. Rebuild a smaller structured network with those rules hardwired.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554480"/>
            <a:ext cx="3840480" cy="452628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Why it is physically interesting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0299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The paper argues that PINNs usually enforce physics only through loss terms, not through internal wiring.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Ψ-NN tries to convert physical patterns into architecture rules: symmetry, sign reversal, permutation, parameter sharing.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63931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That means the model can satisfy some constraints structurally at every forward pass, not only on average during training.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44398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This is the same philosophy as your M6 sign constraints and cumulative-sum monotonicity.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730752" cy="452628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Paper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029968"/>
            <a:ext cx="166878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066544"/>
            <a:ext cx="1577339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Claim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35540" y="2029968"/>
            <a:ext cx="166878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1260" y="2066544"/>
            <a:ext cx="1577339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Paper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545950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573382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Mechanism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35540" y="2545950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1260" y="2573382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Teacher/student staged optimization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3061933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089365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Discovery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35540" y="3061933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1260" y="3089365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Clustering + parameter reconstruction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3577916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605348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Physics encoded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35540" y="3577916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81260" y="3605348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Symmetry, anti-symmetry, conservation-style structure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4093899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121331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Reported gain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35540" y="4093899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81260" y="4121331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~50% fewer iterations to same loss on Laplace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4609882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4637314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Reported gain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35540" y="4609882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81260" y="4637314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~95% lower final L2 error on Laplace vs PINN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5125865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5153297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Extra value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35540" y="5125865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1260" y="5153297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Transferability across PDE settings / parameters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62636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</a:rPr>
              <a:t>Important: those exact gains come from PDE benchmarks, not from your pile dataset, so they support the idea but do not guarantee the same numbers for M6.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Ψ-NN Translates to Pile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What physical structure could be discovered or hardwired in 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The paper is about PDE symmetries, but the same idea can be translated to degradation physics: identify repeated physical patterns, then build them directly into the network.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Paper 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3004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7576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Meaning in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148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720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Translation to M6 / pile degradation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Sign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004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576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Positive / negative parameter relations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148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720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Already used: ΔKL, ΔKR ≤ 0 and ΔKLR ≥ 0 are structural physics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Shared prototypes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004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7576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Many weights are copies of a small 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148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720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Drops across slots may come from a few degradation regimes: early, middle, late cycles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Permutation / symmetry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004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576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Different neurons are the same up to reordering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148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720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 and KR may share partial structure under similar soil-pile response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Relation matrix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3004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7576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Explicit rules between parameters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148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720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Could encode: slot j uses prototype p with scale αj, not a fully free head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Transferability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3004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7576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Structure survives parameter changes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148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 discovered slot structure may transfer across different PI, Gmax, Lp or loading scenarios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Reconstruction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3004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7576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Rebuild a smaller architecture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148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Replace many free slot-specific patterns by a smaller family of physically meaningful patterns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5440680"/>
            <a:ext cx="5669280" cy="105156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5321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Most direct physics bridge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806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M6 already behaves like a small Ψ-NN idea: instead of only punishing bad physics in the loss, it hardwires monotonic degradation through sign constraints + cumulative sum.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5440680"/>
            <a:ext cx="5806440" cy="105156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532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Most innovative next step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8064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Discover whether the 20 drop slots really need 20 independent behaviors, or whether they collapse into a few reusable physical prototypes with learned scaling rules.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Can the Paper Make M6 More Efficient?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Yes — if used as structure-guided compression, not as blind pruning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3703320" cy="19202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Short answer: 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The paper's strongest idea is not just adding more physics. It is using physics + distillation to compress a model while protecting accuracy.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097280"/>
            <a:ext cx="3794760" cy="192024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207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E8"/>
                </a:solidFill>
              </a:rPr>
              <a:t>Why it could help M6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727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M6 is already compact, so naive pruning may hurt accuracy.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5681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Ψ-NN-style discovery would remove redundancy only after learning the task well.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40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That is better aligned with your objective: keep accuracy, compress only repeated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097280"/>
            <a:ext cx="3776472" cy="192024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07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What to try in this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727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Teacher = current best M5 or M6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5681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Student = regularized compact slot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40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Then cluster slot/head weights and rebuild a smaller structured version.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32461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Concrete efficiency ideas inspired by the paper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004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576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How to apply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148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720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Why it may preserve accuracy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 Prototype drop heads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004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576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Cluster the 20 slot-drop behaviors into 3–5 physical regimes (early / middle / late) and use one shared prototype per regime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148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720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Fewer free patterns, better interpretability, lower overfitting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 Structured KL/KR coupling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004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576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Force partial weight sharing between KL and KR branches, with small correction terms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148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720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May keep accuracy because both are monotonic stiffness channels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 Distilled M6-lite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3004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7576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Train a tiny student from current M6 predictions, then add the same sign/cumsum physics rules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148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Best chance to reduce size without losing much accuracy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4. Slot relation matrix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3004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7576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Represent some slot weights as scaled copies or sign-variants of prototype slots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148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Closer to the Ψ-NN reconstruction idea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5. Transfer by scenario family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3004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7576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Discover one structure on one soil/loading regime, reuse it on nearby regimes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3148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7720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Could reduce retraining cost and improve generalization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" y="617220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0000"/>
                </a:solidFill>
              </a:rPr>
              <a:t>Best recommendation: use the paper as a second-stage compression method after training, not as a replacement for your current M6 training pipeline.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" y="641908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0" i="1">
                <a:solidFill>
                  <a:srgbClr val="2C3E50"/>
                </a:solidFill>
              </a:rPr>
              <a:t>Expected outcome: moderate extra efficiency gains with smaller accuracy loss than manual simplification, but this needs experiments on your pile dataset because PDE symmetry results do not transfer one-to-one.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Does the Method Understand Neuron Layering?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Yes: it analyzes each layer matrix and finds reusable neuron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Simple answer: the method does not 'understand' like a human; it statistically detects repeated patterns in layer weights, then converts those patterns into architecture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54480"/>
            <a:ext cx="5806440" cy="498348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Layer-by-layer discovery (simple 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93392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1) Take one trained layer matrix W (for example, from a slot head).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23744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2) Treat each row as one neuron's connection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54096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3) Measure row similarity: same shape, opposite sign, or permuted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84448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4) Cluster rows into groups: one prototype + relation rule.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11480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5) Rebuild layer with fewer independent rows and explicit relations.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09160"/>
            <a:ext cx="2011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88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7548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3E8"/>
                </a:solidFill>
              </a:rPr>
              <a:t>W (before)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9164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9164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2588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9164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2588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9164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514600" y="5440680"/>
            <a:ext cx="45720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017520" y="470916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88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7548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Prototype +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50474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p1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32180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p2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0474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row3 = -p1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321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row4 = perm(p2)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1554480"/>
            <a:ext cx="5806440" cy="498348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What this means for M6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201168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Drop MLP (64→32→3) can be analyzed neuron-by-neuron after training.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2724912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If several hidden neurons behave almost the same, keep only one prototype neuron and map others by rules.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438144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If some slot behaviors are sign-flips/scaled copies, encode that explicitly instead of learning each slot independently.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151376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Result: fewer effective free parameters and more interpretable internal structure.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864608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Risk control: always validate on KR/KLR metrics, because these channels are most sensitive in your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Graphical Architecture: M6 + Ψ-NN 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Practical pipeline to keep accuracy and improve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Use this as a two-stage engineering workflow: train for accuracy first, then discover and hardwire 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103120" cy="105156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47A1"/>
                </a:solidFill>
              </a:rPr>
              <a:t>A) Teacher
Strong baseline
(M5 or current M6)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50592" y="2121408"/>
            <a:ext cx="475488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26080" y="1600200"/>
            <a:ext cx="2103120" cy="105156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ECC71"/>
                </a:solidFill>
              </a:rPr>
              <a:t>B) Student
Compact model +
regularization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56632" y="2121408"/>
            <a:ext cx="475488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532120" y="1600200"/>
            <a:ext cx="2240280" cy="105156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E44AD"/>
                </a:solidFill>
              </a:rPr>
              <a:t>C) Weight Analysis
Cluster rows/neurons
find relations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8120" y="2121408"/>
            <a:ext cx="457200" cy="0"/>
          </a:xfrm>
          <a:prstGeom prst="line">
            <a:avLst/>
          </a:prstGeom>
          <a:ln w="19050">
            <a:solidFill>
              <a:srgbClr val="8E4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275320" y="1600200"/>
            <a:ext cx="2240280" cy="105156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7E22"/>
                </a:solidFill>
              </a:rPr>
              <a:t>D) Rebuild
Structured M6-lite
(prototypes + rules)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43032" y="2121408"/>
            <a:ext cx="429768" cy="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972800" y="1600200"/>
            <a:ext cx="1005840" cy="105156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69" b="0">
                <a:solidFill>
                  <a:srgbClr val="8B0000"/>
                </a:solidFill>
              </a:rPr>
              <a:t>E) Validate
R², RMSE, MAE
per variable + per slot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26080"/>
            <a:ext cx="11658600" cy="3520440"/>
          </a:xfrm>
          <a:prstGeom prst="rect">
            <a:avLst/>
          </a:prstGeom>
          <a:solidFill>
            <a:srgbClr val="F8F9FA"/>
          </a:solidFill>
          <a:ln w="1905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9923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Inside the model (what changes and what stays)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29000"/>
            <a:ext cx="1920240" cy="9144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Input + Embed
8→64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23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788920" y="3429000"/>
            <a:ext cx="1920240" cy="9144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Slot Refinement
Cross/Self/MLP ×3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9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074920" y="3429000"/>
            <a:ext cx="1920240" cy="91440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Slot Heads
Initial head + Drop head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5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360920" y="3429000"/>
            <a:ext cx="1920240" cy="91440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Ψ-Extraction
Prototype neurons + relation rules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81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646920" y="3429000"/>
            <a:ext cx="1920240" cy="91440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Structured Heads
smaller effective DoF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902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00"/>
                </a:solidFill>
              </a:rPr>
              <a:t>Keep physics hard constraints unchanged: ΔKL, ΔKR ≤ 0 and ΔKLR ≥ 0; cumsum reconstruction remains identical.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37760"/>
            <a:ext cx="3718560" cy="2834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74336"/>
            <a:ext cx="362711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21480" y="4937760"/>
            <a:ext cx="3718560" cy="2834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7199" y="4974336"/>
            <a:ext cx="362711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40040" y="4937760"/>
            <a:ext cx="3718560" cy="2834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5760" y="4974336"/>
            <a:ext cx="362711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After Ψ-NN-style rebuild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21224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248656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Refinement block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1480" y="5221224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7199" y="5248656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Same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40040" y="5221224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5760" y="5248656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Same (no need to change)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504688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32120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Drop head behavior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1480" y="5504688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7199" y="5532120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Fully free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40040" y="5504688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85760" y="5532120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Prototype-constrained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788152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15584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Interpretability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1480" y="5788152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67199" y="5815584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40040" y="5788152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85760" y="5815584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Higher (explicit relations)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071616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6099048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Expected efficiency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21480" y="6071616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67199" y="6099048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Current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40040" y="6071616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85760" y="6099048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Better with controlled accuracy drop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Worked Example: From 20 Drop Slots to 4 Prototypes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Detailed enough to understand, simple enough to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Goal: show how neuron/slot structure discovery can compress the model without changing the physics output logic.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08760"/>
            <a:ext cx="5806440" cy="489204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Step-by-step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1) Train baseline M6 normally (same losses and constraints).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96312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2) Collect slot-drop latent vectors for slots 2..21 on validation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26663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3) Cluster these 20 slots into 4 groups: early, early-mid, late-mid, 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57015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4) Learn 4 prototype drop mappings P1..P4 instead of 20 independent behaviors.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87368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5) For each slot j, predict Δ using prototype Pk plus a tiny scalar adapter αj.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1772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6) Keep sign constraints and cumulative sum exactly unchanged.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148071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7) Compare old/new on per-variable per-slot RMSE and MAE.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806440"/>
            <a:ext cx="5440680" cy="411480"/>
          </a:xfrm>
          <a:prstGeom prst="rect">
            <a:avLst/>
          </a:prstGeom>
          <a:solidFill>
            <a:srgbClr val="FFF8E3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5897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 i="0">
                <a:solidFill>
                  <a:srgbClr val="7D6008"/>
                </a:solidFill>
              </a:rPr>
              <a:t>Presentation sentence: 'We replace many free slot behaviors with a few physically reusable prototypes.'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508760"/>
            <a:ext cx="5669280" cy="48920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00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Graphical mapping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965960"/>
            <a:ext cx="2286000" cy="82296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C3E50"/>
                </a:solidFill>
              </a:rPr>
              <a:t>Slots 2..21
(20 drop slots)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05088" y="2377440"/>
            <a:ext cx="484632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189720" y="1965960"/>
            <a:ext cx="1691640" cy="82296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C3E50"/>
                </a:solidFill>
              </a:rPr>
              <a:t>Cluster into
4 groups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24159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7588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slot j uses Pk with scale αj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98280" y="3977639"/>
            <a:ext cx="0" cy="365761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406640" y="4343400"/>
            <a:ext cx="3383280" cy="91440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C3E50"/>
                </a:solidFill>
              </a:rPr>
              <a:t>Physics block
−|ΔKL,ΔKR| , +|ΔKLR|
then cumulative sum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394960"/>
            <a:ext cx="2697480" cy="1920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431536"/>
            <a:ext cx="26060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5394960"/>
            <a:ext cx="2697480" cy="1920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5431536"/>
            <a:ext cx="26060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Accept if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586984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614416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 accuracy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5586984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5614416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 drop is small (project-defined threshold)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779008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806440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 stability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5779008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5806440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 RMSE/MAE does not degrade sharply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971032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998464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 physics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5971032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5998464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Sign/monotonic behavior remains physically valid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6163056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6190488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Efficiency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6163056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6190488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Params and runtime improve enough to justify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