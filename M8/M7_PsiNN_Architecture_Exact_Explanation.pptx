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02542"/>
                </a:solidFill>
              </a:defRPr>
            </a:pPr>
            <a:r>
              <a:t>M7 Ψ-NN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74DA"/>
                </a:solidFill>
              </a:defRPr>
            </a:pPr>
            <a:r>
              <a:t>Exact explanation of what was rewritten: slot structure vs MLP heads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9728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33042"/>
                </a:solidFill>
              </a:defRPr>
            </a:pPr>
            <a:r>
              <a:t>Project: Pile stiffness degradation (KL, KR, KLR over 21 steps)</a:t>
            </a:r>
          </a:p>
          <a:p>
            <a:pPr>
              <a:defRPr sz="2000">
                <a:solidFill>
                  <a:srgbClr val="233042"/>
                </a:solidFill>
              </a:defRPr>
            </a:pPr>
            <a:r>
              <a:t>Pipeline: Stage A Distillation -&gt; Stage B Structure Discovery -&gt; Stage C Structured Reconstruction</a:t>
            </a:r>
          </a:p>
          <a:p>
            <a:pPr>
              <a:defRPr sz="2000">
                <a:solidFill>
                  <a:srgbClr val="233042"/>
                </a:solidFill>
              </a:defRPr>
            </a:pPr>
            <a:r>
              <a:t>Core point: M7 does not only rewrite MLP; it rewrites slot parameterization in Stage 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02542"/>
                </a:solidFill>
              </a:defRPr>
            </a:pPr>
            <a:r>
              <a:t>Direct Answer (Exact)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74DA"/>
                </a:solidFill>
              </a:defRPr>
            </a:pPr>
            <a:r>
              <a:t>What is rewritten in M7?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33042"/>
                </a:solidFill>
              </a:defRPr>
            </a:pPr>
            <a:r>
              <a:t>In M7, it is not only the MLP that is rewritten.</a:t>
            </a:r>
          </a:p>
          <a:p>
            <a:pPr>
              <a:defRPr sz="2000">
                <a:solidFill>
                  <a:srgbClr val="233042"/>
                </a:solidFill>
              </a:defRPr>
            </a:pPr>
            <a:r>
              <a:t>The slot-based model structure is rewritten for the final Ψ model.</a:t>
            </a:r>
          </a:p>
          <a:p>
            <a:pPr>
              <a:defRPr sz="2000">
                <a:solidFill>
                  <a:srgbClr val="233042"/>
                </a:solidFill>
              </a:defRPr>
            </a:pPr>
            <a:r>
              <a:t>Teacher (M6 copy) and Stage-A Student keep full slot-attention architecture.</a:t>
            </a:r>
          </a:p>
          <a:p>
            <a:pPr>
              <a:defRPr sz="2000">
                <a:solidFill>
                  <a:srgbClr val="233042"/>
                </a:solidFill>
              </a:defRPr>
            </a:pPr>
            <a:r>
              <a:t>Stage-C Ψ model replaces 20 independent drop slots with k* prototype slots + relation matrix R.</a:t>
            </a:r>
          </a:p>
          <a:p>
            <a:pPr>
              <a:defRPr sz="2000">
                <a:solidFill>
                  <a:srgbClr val="233042"/>
                </a:solidFill>
              </a:defRPr>
            </a:pPr>
            <a:r>
              <a:t>Attention refinement and projection heads are still present; main rewrite is slot representation/reconstruction.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02542"/>
                </a:solidFill>
              </a:defRPr>
            </a:pPr>
            <a:r>
              <a:t>Baseline (M6)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74DA"/>
                </a:solidFill>
              </a:defRPr>
            </a:pPr>
            <a:r>
              <a:t>Original SlotAttentionDegradation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33042"/>
                </a:solidFill>
              </a:defRPr>
            </a:pPr>
            <a:r>
              <a:t>Input features (8) -&gt; embedding (d_model=64)</a:t>
            </a:r>
          </a:p>
          <a:p>
            <a:pPr>
              <a:defRPr sz="2000">
                <a:solidFill>
                  <a:srgbClr val="233042"/>
                </a:solidFill>
              </a:defRPr>
            </a:pPr>
            <a:r>
              <a:t>21 learnable slots: 1 initial slot + 20 drop slots</a:t>
            </a:r>
          </a:p>
          <a:p>
            <a:pPr>
              <a:defRPr sz="2000">
                <a:solidFill>
                  <a:srgbClr val="233042"/>
                </a:solidFill>
              </a:defRPr>
            </a:pPr>
            <a:r>
              <a:t>Iterative refinement: cross-attn + self-attn + slot MLP (3 iterations)</a:t>
            </a:r>
          </a:p>
          <a:p>
            <a:pPr>
              <a:defRPr sz="2000">
                <a:solidFill>
                  <a:srgbClr val="233042"/>
                </a:solidFill>
              </a:defRPr>
            </a:pPr>
            <a:r>
              <a:t>Heads: initial_proj and drop_proj to predict KL, KR, KLR sequence</a:t>
            </a:r>
          </a:p>
          <a:p>
            <a:pPr>
              <a:defRPr sz="2000">
                <a:solidFill>
                  <a:srgbClr val="233042"/>
                </a:solidFill>
              </a:defRPr>
            </a:pPr>
            <a:r>
              <a:t>Physics constraints: KL/KR drops negative, KLR drop positive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02542"/>
                </a:solidFill>
              </a:defRPr>
            </a:pPr>
            <a:r>
              <a:t>Stage A: Distillation Student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74DA"/>
                </a:solidFill>
              </a:defRPr>
            </a:pPr>
            <a:r>
              <a:t>What changes and what stays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33042"/>
                </a:solidFill>
              </a:defRPr>
            </a:pPr>
            <a:r>
              <a:t>Architecture mostly unchanged from M6 (same slot-attention backbone)</a:t>
            </a:r>
          </a:p>
          <a:p>
            <a:pPr>
              <a:defRPr sz="2000">
                <a:solidFill>
                  <a:srgbClr val="233042"/>
                </a:solidFill>
              </a:defRPr>
            </a:pPr>
            <a:r>
              <a:t>Student adds L1 regularization on slot vectors to encourage sparse structure</a:t>
            </a:r>
          </a:p>
          <a:p>
            <a:pPr>
              <a:defRPr sz="2000">
                <a:solidFill>
                  <a:srgbClr val="233042"/>
                </a:solidFill>
              </a:defRPr>
            </a:pPr>
            <a:r>
              <a:t>Loss = MSE(student, teacher) + 0.5*MSE(student, target) + mu*L1(slots)</a:t>
            </a:r>
          </a:p>
          <a:p>
            <a:pPr>
              <a:defRPr sz="2000">
                <a:solidFill>
                  <a:srgbClr val="233042"/>
                </a:solidFill>
              </a:defRPr>
            </a:pPr>
            <a:r>
              <a:t>Goal: learn teacher behavior while exposing slot redundancy patterns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02542"/>
                </a:solidFill>
              </a:defRPr>
            </a:pPr>
            <a:r>
              <a:t>Stage B: Structure 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74DA"/>
                </a:solidFill>
              </a:defRPr>
            </a:pPr>
            <a:r>
              <a:t>How k* and R are discovered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33042"/>
                </a:solidFill>
              </a:defRPr>
            </a:pPr>
            <a:r>
              <a:t>Extract refined student slot vectors and keep only 20 drop slots</a:t>
            </a:r>
          </a:p>
          <a:p>
            <a:pPr>
              <a:defRPr sz="2000">
                <a:solidFill>
                  <a:srgbClr val="233042"/>
                </a:solidFill>
              </a:defRPr>
            </a:pPr>
            <a:r>
              <a:t>Average drop-slot vectors across dataset -&gt; 20 x 64 representation</a:t>
            </a:r>
          </a:p>
          <a:p>
            <a:pPr>
              <a:defRPr sz="2000">
                <a:solidFill>
                  <a:srgbClr val="233042"/>
                </a:solidFill>
              </a:defRPr>
            </a:pPr>
            <a:r>
              <a:t>Compute cosine similarity matrix for slot relations</a:t>
            </a:r>
          </a:p>
          <a:p>
            <a:pPr>
              <a:defRPr sz="2000">
                <a:solidFill>
                  <a:srgbClr val="233042"/>
                </a:solidFill>
              </a:defRPr>
            </a:pPr>
            <a:r>
              <a:t>Run KMeans for k=2..10 and choose k* by best silhouette score</a:t>
            </a:r>
          </a:p>
          <a:p>
            <a:pPr>
              <a:defRPr sz="2000">
                <a:solidFill>
                  <a:srgbClr val="233042"/>
                </a:solidFill>
              </a:defRPr>
            </a:pPr>
            <a:r>
              <a:t>Build relation matrix R (20 x k*) via inverse-distance soft assignment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02542"/>
                </a:solidFill>
              </a:defRPr>
            </a:pPr>
            <a:r>
              <a:t>Stage C: Ψ-Model Core Rewrite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74DA"/>
                </a:solidFill>
              </a:defRPr>
            </a:pPr>
            <a:r>
              <a:t>This is the architectural rewrite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33042"/>
                </a:solidFill>
              </a:defRPr>
            </a:pPr>
            <a:r>
              <a:t>Instead of 20 independent drop-slot parameters, learn only k* prototype slots</a:t>
            </a:r>
          </a:p>
          <a:p>
            <a:pPr>
              <a:defRPr sz="2000">
                <a:solidFill>
                  <a:srgbClr val="233042"/>
                </a:solidFill>
              </a:defRPr>
            </a:pPr>
            <a:r>
              <a:t>Reconstruct full 20 drop slots using: drop_slots = R @ prototypes</a:t>
            </a:r>
          </a:p>
          <a:p>
            <a:pPr>
              <a:defRPr sz="2000">
                <a:solidFill>
                  <a:srgbClr val="233042"/>
                </a:solidFill>
              </a:defRPr>
            </a:pPr>
            <a:r>
              <a:t>Apply learned per-slot scales for fine correction</a:t>
            </a:r>
          </a:p>
          <a:p>
            <a:pPr>
              <a:defRPr sz="2000">
                <a:solidFill>
                  <a:srgbClr val="233042"/>
                </a:solidFill>
              </a:defRPr>
            </a:pPr>
            <a:r>
              <a:t>Concatenate with initial slot -&gt; full 21 slots</a:t>
            </a:r>
          </a:p>
          <a:p>
            <a:pPr>
              <a:defRPr sz="2000">
                <a:solidFill>
                  <a:srgbClr val="233042"/>
                </a:solidFill>
              </a:defRPr>
            </a:pPr>
            <a:r>
              <a:t>Then run same iterative attention refinement and output heads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02542"/>
                </a:solidFill>
              </a:defRPr>
            </a:pPr>
            <a:r>
              <a:t>Mathematical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74DA"/>
                </a:solidFill>
              </a:defRPr>
            </a:pPr>
            <a:r>
              <a:t>Structured reconstruction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33042"/>
                </a:solidFill>
              </a:defRPr>
            </a:pPr>
            <a:r>
              <a:t>Prototype bank: P in R^(k* x d)</a:t>
            </a:r>
          </a:p>
          <a:p>
            <a:pPr>
              <a:defRPr sz="2000">
                <a:solidFill>
                  <a:srgbClr val="233042"/>
                </a:solidFill>
              </a:defRPr>
            </a:pPr>
            <a:r>
              <a:t>Relation matrix: R in R^(20 x k*)</a:t>
            </a:r>
          </a:p>
          <a:p>
            <a:pPr>
              <a:defRPr sz="2000">
                <a:solidFill>
                  <a:srgbClr val="233042"/>
                </a:solidFill>
              </a:defRPr>
            </a:pPr>
            <a:r>
              <a:t>Reconstructed drop slots: S_drop = R P</a:t>
            </a:r>
          </a:p>
          <a:p>
            <a:pPr>
              <a:defRPr sz="2000">
                <a:solidFill>
                  <a:srgbClr val="233042"/>
                </a:solidFill>
              </a:defRPr>
            </a:pPr>
            <a:r>
              <a:t>Scaled drop slots: S_drop_scaled = S_drop * alpha (per-slot scale)</a:t>
            </a:r>
          </a:p>
          <a:p>
            <a:pPr>
              <a:defRPr sz="2000">
                <a:solidFill>
                  <a:srgbClr val="233042"/>
                </a:solidFill>
              </a:defRPr>
            </a:pPr>
            <a:r>
              <a:t>Final slot set: S = [s_init ; S_drop_scaled]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02542"/>
                </a:solidFill>
              </a:defRPr>
            </a:pPr>
            <a:r>
              <a:t>What Is Not Rewritten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74DA"/>
                </a:solidFill>
              </a:defRPr>
            </a:pPr>
            <a:r>
              <a:t>Important clarification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33042"/>
                </a:solidFill>
              </a:defRPr>
            </a:pPr>
            <a:r>
              <a:t>Cross-attention block is not replaced</a:t>
            </a:r>
          </a:p>
          <a:p>
            <a:pPr>
              <a:defRPr sz="2000">
                <a:solidFill>
                  <a:srgbClr val="233042"/>
                </a:solidFill>
              </a:defRPr>
            </a:pPr>
            <a:r>
              <a:t>Self-attention block is not replaced</a:t>
            </a:r>
          </a:p>
          <a:p>
            <a:pPr>
              <a:defRPr sz="2000">
                <a:solidFill>
                  <a:srgbClr val="233042"/>
                </a:solidFill>
              </a:defRPr>
            </a:pPr>
            <a:r>
              <a:t>Slot MLP refinement block is not replaced</a:t>
            </a:r>
          </a:p>
          <a:p>
            <a:pPr>
              <a:defRPr sz="2000">
                <a:solidFill>
                  <a:srgbClr val="233042"/>
                </a:solidFill>
              </a:defRPr>
            </a:pPr>
            <a:r>
              <a:t>Initial and drop projection heads remain conceptually the same</a:t>
            </a:r>
          </a:p>
          <a:p>
            <a:pPr>
              <a:defRPr sz="2000">
                <a:solidFill>
                  <a:srgbClr val="233042"/>
                </a:solidFill>
              </a:defRPr>
            </a:pPr>
            <a:r>
              <a:t>Main new part is slot parameterization (prototypes + R + scaling)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02542"/>
                </a:solidFill>
              </a:defRPr>
            </a:pPr>
            <a:r>
              <a:t>Code Mapping (train.py)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74DA"/>
                </a:solidFill>
              </a:defRPr>
            </a:pPr>
            <a:r>
              <a:t>Where each concept lives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233042"/>
                </a:solidFill>
              </a:defRPr>
            </a:pPr>
            <a:r>
              <a:t>SlotAttentionDegradation: M6 teacher copy</a:t>
            </a:r>
          </a:p>
          <a:p>
            <a:pPr>
              <a:defRPr sz="1900">
                <a:solidFill>
                  <a:srgbClr val="233042"/>
                </a:solidFill>
              </a:defRPr>
            </a:pPr>
            <a:r>
              <a:t>SlotAttentionStudent: Stage-A model + l1_regularization</a:t>
            </a:r>
          </a:p>
          <a:p>
            <a:pPr>
              <a:defRPr sz="1900">
                <a:solidFill>
                  <a:srgbClr val="233042"/>
                </a:solidFill>
              </a:defRPr>
            </a:pPr>
            <a:r>
              <a:t>stage_b_structure_discovery: k* selection and relation matrix construction</a:t>
            </a:r>
          </a:p>
          <a:p>
            <a:pPr>
              <a:defRPr sz="1900">
                <a:solidFill>
                  <a:srgbClr val="233042"/>
                </a:solidFill>
              </a:defRPr>
            </a:pPr>
            <a:r>
              <a:t>SlotAttentionPsiModel: prototype slots, relation matrix, slot reconstruction</a:t>
            </a:r>
          </a:p>
          <a:p>
            <a:pPr>
              <a:defRPr sz="1900">
                <a:solidFill>
                  <a:srgbClr val="233042"/>
                </a:solidFill>
              </a:defRPr>
            </a:pPr>
            <a:r>
              <a:t>stage_c_structured_training: structured Ψ training with multi-objective loss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02542"/>
                </a:solidFill>
              </a:defRPr>
            </a:pPr>
            <a:r>
              <a:t>Stage C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74DA"/>
                </a:solidFill>
              </a:defRPr>
            </a:pPr>
            <a:r>
              <a:t>Why the Ψ model still matches physics and teacher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33042"/>
                </a:solidFill>
              </a:defRPr>
            </a:pPr>
            <a:r>
              <a:t>Distillation loss: match teacher outputs</a:t>
            </a:r>
          </a:p>
          <a:p>
            <a:pPr>
              <a:defRPr sz="2000">
                <a:solidFill>
                  <a:srgbClr val="233042"/>
                </a:solidFill>
              </a:defRPr>
            </a:pPr>
            <a:r>
              <a:t>Sequence loss: fit true target sequence</a:t>
            </a:r>
          </a:p>
          <a:p>
            <a:pPr>
              <a:defRPr sz="2000">
                <a:solidFill>
                  <a:srgbClr val="233042"/>
                </a:solidFill>
              </a:defRPr>
            </a:pPr>
            <a:r>
              <a:t>Initial condition loss: stronger weight on first step</a:t>
            </a:r>
          </a:p>
          <a:p>
            <a:pPr>
              <a:defRPr sz="2000">
                <a:solidFill>
                  <a:srgbClr val="233042"/>
                </a:solidFill>
              </a:defRPr>
            </a:pPr>
            <a:r>
              <a:t>Shape loss: match step-to-step change profile</a:t>
            </a:r>
          </a:p>
          <a:p>
            <a:pPr>
              <a:defRPr sz="2000">
                <a:solidFill>
                  <a:srgbClr val="233042"/>
                </a:solidFill>
              </a:defRPr>
            </a:pPr>
            <a:r>
              <a:t>Result: compressed slot structure with maintained predictive behavior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02542"/>
                </a:solidFill>
              </a:defRPr>
            </a:pPr>
            <a:r>
              <a:t>Interpretability Gain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74DA"/>
                </a:solidFill>
              </a:defRPr>
            </a:pPr>
            <a:r>
              <a:t>From many slots to shared prototypes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33042"/>
                </a:solidFill>
              </a:defRPr>
            </a:pPr>
            <a:r>
              <a:t>Each prototype captures a recurring degradation pattern</a:t>
            </a:r>
          </a:p>
          <a:p>
            <a:pPr>
              <a:defRPr sz="2000">
                <a:solidFill>
                  <a:srgbClr val="233042"/>
                </a:solidFill>
              </a:defRPr>
            </a:pPr>
            <a:r>
              <a:t>Each physical step slot is expressed as combination of prototypes</a:t>
            </a:r>
          </a:p>
          <a:p>
            <a:pPr>
              <a:defRPr sz="2000">
                <a:solidFill>
                  <a:srgbClr val="233042"/>
                </a:solidFill>
              </a:defRPr>
            </a:pPr>
            <a:r>
              <a:t>R matrix tells which prototype influences which drop step</a:t>
            </a:r>
          </a:p>
          <a:p>
            <a:pPr>
              <a:defRPr sz="2000">
                <a:solidFill>
                  <a:srgbClr val="233042"/>
                </a:solidFill>
              </a:defRPr>
            </a:pPr>
            <a:r>
              <a:t>Cluster memberships provide a direct structure explanation</a:t>
            </a:r>
          </a:p>
          <a:p>
            <a:pPr>
              <a:defRPr sz="2000">
                <a:solidFill>
                  <a:srgbClr val="233042"/>
                </a:solidFill>
              </a:defRPr>
            </a:pPr>
            <a:r>
              <a:t>This is the Ψ-NN idea transferred to pile degradation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02542"/>
                </a:solidFill>
              </a:defRPr>
            </a:pPr>
            <a:r>
              <a:t>Final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74DA"/>
                </a:solidFill>
              </a:defRPr>
            </a:pPr>
            <a:r>
              <a:t>Answer to your exact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33042"/>
                </a:solidFill>
              </a:defRPr>
            </a:pPr>
            <a:r>
              <a:t>M7 is not only MLP rewrite.</a:t>
            </a:r>
          </a:p>
          <a:p>
            <a:pPr>
              <a:defRPr sz="2000">
                <a:solidFill>
                  <a:srgbClr val="233042"/>
                </a:solidFill>
              </a:defRPr>
            </a:pPr>
            <a:r>
              <a:t>Stage C rewrites slot parameterization globally using prototypes + relation matrix.</a:t>
            </a:r>
          </a:p>
          <a:p>
            <a:pPr>
              <a:defRPr sz="2000">
                <a:solidFill>
                  <a:srgbClr val="233042"/>
                </a:solidFill>
              </a:defRPr>
            </a:pPr>
            <a:r>
              <a:t>Attention/refinement blocks and output heads remain in the same family as M6.</a:t>
            </a:r>
          </a:p>
          <a:p>
            <a:pPr>
              <a:defRPr sz="2000">
                <a:solidFill>
                  <a:srgbClr val="233042"/>
                </a:solidFill>
              </a:defRPr>
            </a:pPr>
            <a:r>
              <a:t>So: all-model-with-slots is structurally rewritten at the slot level in Stage 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