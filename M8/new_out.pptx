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Pile Stiffness Degradation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DEFB"/>
                </a:solidFill>
              </a:rPr>
              <a:t>Slot-Attention Transformer · Physics-Informed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Architecture  ·  Fine-tuning Strategy  ·  MLP vs LSTM  ·  Efficiency  ·  Error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Predict KL, KR, KLR over 21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64.1% fewer parameters than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Hard-coded monotonicity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CAF9"/>
                </a:solidFill>
              </a:rPr>
              <a:t>PFE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Predicting pile-soil stiffness degradation under cyclic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Given 8 geotechnical input features, predict 3 stiffness quantities over 21 cyclic loading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00" cy="1143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0D47A1"/>
                </a:solidFill>
              </a:rPr>
              <a:t>INPUT  (8 features)
PI, Gmax, ν, Dp, Tp, Lp, Ip, Dp/Lp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1600200"/>
            <a:ext cx="3017520" cy="11430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A7A3C"/>
                </a:solidFill>
              </a:rPr>
              <a:t>M6 MODEL
(Slot-Attention Transformer)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0" y="1600200"/>
            <a:ext cx="3657600" cy="11430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8B0000"/>
                </a:solidFill>
              </a:rPr>
              <a:t>OUTPUT  (21 × 3)
KL(t), KR(t), KLR(t)
for t = 1 …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21 Learnable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One slot per degradation step — temporal structure without RNN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9718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39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Physics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ΔKL, ΔKR ≤ 0  |  ΔKLR ≥ 0  (hard-coded monotonicity)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27432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990088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Cumulative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K(t) = K⁰ + Σ Δₙ  — error never resets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971800"/>
            <a:ext cx="27432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Signed Log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Handles mixed-sign targets (KLR &lt; 0, KL/KR &gt;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Stiffness quantities:  KL = lateral  |  KR = rotational  |  KLR = cross-coupling (always &lt; 0, increases toward 0 under loading)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324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— SlotAttentionDegradation  (LSTM-free, physics-constrained)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7543800"/>
            <a:ext cx="2743200" cy="64008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2C3E50"/>
                </a:solidFill>
              </a:rPr>
              <a:t>Physics Constraint
−|Δ| for KL,KR  ;  +|Δ| for KLR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7C5FEFD-AB19-B0FA-B992-4C6392E19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425" y="-10324"/>
            <a:ext cx="5668166" cy="65350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Fine-Tuning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How M6 was trained from scratch and what was changed from M5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① Initial Loss Weighting  ×5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MSE on Slot 1 (initial K⁰) multiplied by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Any error in K⁰ propagates forward via cumulative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Forces the model to anchor the trajectory correctly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M5 used ×3 — M6 raises to ×5 (LSTM no longer corrects drift)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② Shape Loss (Huber on 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changes in consecutive drops: Huber(Δₜ − Δₜ₋₁)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Encourages smooth degradation curves, not zigzag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Huber norm: robust to large isolated errors (vs pure L2)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③ Gradient Clipping &amp;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Gradient clip = 2.0 (M5: 1.0) — relaxed to let early gradients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ReduceLROnPlateau: patience 80 (M5: 100) — faster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Early stopping patience 200 epochs (M5: 300)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④ Weight Decay &amp; Normalisation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Weight decay = 0.005 (M5: 0.01) — reduced to prevent over-regularisation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RobustScaler on targets: median/IQR instead of mean/std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Signed log transform preserves sign of cross-coupling term KLR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</a:rPr>
              <a:t>Total loss = MSE_overall + 5.0 × MSE_initial + λ_shape × ShapeLoss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MLP vs LSTM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BDEFB"/>
                </a:solidFill>
              </a:rPr>
              <a:t>Why M6 replaced the LSTM with a direct per-slot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5394960" cy="530352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CC71"/>
                </a:solidFill>
              </a:rPr>
              <a:t>M6 — Per-Slot MLP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Slots 2–21 as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slot vector [64-dim] goes independently into the shared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768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Single 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64 → 32 → 3  (GELU activation)  —  all 20 slots in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53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No hidden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No sequential dependency between slots at decoding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Temporal structure from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3 rounds of cross + self-attention encode temporal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0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Physics applied after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354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−|output| for KL, KR  ;  +|output| for KLR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Cumsum reconstructs 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K(t) = K⁰ + Σ Δₙ  →  absolute stiffness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51560"/>
            <a:ext cx="5989320" cy="5303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M5 — LSTM Decoder  (removed in M6)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Input: aggregated slot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Mean of all 21 slots → single [64-dim] context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76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2-layer LSTM unrolled 20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05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Hidden state hₜ = LSTM(hₜ₋₁, context)  — sequential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535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Decoder cross-attention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LSTM step attends back to all refined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30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Positional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587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Learnable pos_embed added to LSTM inputs for step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06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h₀, c₀ projections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542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Separate MLPs to initialise LSTM hidden &amp; cell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101,312 extra 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seq_decoder + decoder_cross_attn + h0_proj + c0_proj + pos_embed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464808"/>
            <a:ext cx="1179576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64830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Key insight: self-attention already encodes temporal order through slot position — LSTM adds sequential decoding overhead but the ordering is already 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9892-CCE5-5727-ADE5-1F7993D8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686BA8-EA54-83BA-810E-B54C5DA0CDAE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11059-F706-A903-154B-1D825F2E688F}"/>
              </a:ext>
            </a:extLst>
          </p:cNvPr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MLP vs LSTM Decoder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4333A-8565-B19A-80A4-E42D8C5ADB1C}"/>
              </a:ext>
            </a:extLst>
          </p:cNvPr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M6 replaced the LSTM with a direct per-slot MLP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A7139F3-8CC2-04C5-9791-091C93B88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459" y="1184959"/>
            <a:ext cx="8649907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3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Efficiency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vs M5 — measured on identical hardware (CPU, batch=32)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ECC71"/>
                </a:solidFill>
              </a:rPr>
              <a:t>157,958  →  56,646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64.1% FEWER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A73E8"/>
                </a:solidFill>
              </a:rPr>
              <a:t>632.7 KB  →  231.2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Model File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63.5%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E67E22"/>
                </a:solidFill>
              </a:rPr>
              <a:t>11.38 </a:t>
            </a:r>
            <a:r>
              <a:rPr sz="1400" b="1" i="0" dirty="0" err="1">
                <a:solidFill>
                  <a:srgbClr val="E67E22"/>
                </a:solidFill>
              </a:rPr>
              <a:t>ms</a:t>
            </a:r>
            <a:r>
              <a:rPr sz="1400" b="1" i="0" dirty="0">
                <a:solidFill>
                  <a:srgbClr val="E67E22"/>
                </a:solidFill>
              </a:rPr>
              <a:t>  →  9.07 </a:t>
            </a:r>
            <a:r>
              <a:rPr sz="1400" b="1" i="0" dirty="0" err="1">
                <a:solidFill>
                  <a:srgbClr val="E67E22"/>
                </a:solidFill>
              </a:rPr>
              <a:t>ms</a:t>
            </a:r>
            <a:endParaRPr sz="1400" b="1" i="0" dirty="0">
              <a:solidFill>
                <a:srgbClr val="E67E2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Inference Time (CPU)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</a:rPr>
              <a:t>1.25×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Where did 101,312 parameters go?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Module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2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seq_decoder  (LSTM 2-layer)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2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66,176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3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Entire sequential decoder — largest chunk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decoder_cross_attn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2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3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Cross-attention between LSTM steps and slots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h0_proj + c0_proj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2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3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Linear projections to initialise LSTM hidden/cell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pos_embed  (learnable)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2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1,280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3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One embedding vector per step  (20 × 64)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REMOVED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2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100,736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3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ADDED (3rd iteration reuses existing layers)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2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3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Zero new params — only extra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The 3rd refinement iteration reuses the SAME cross-attention + self-attention + MLP layers — zero parameter cost, only extra forward-pass compute (~10 ms).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Accuracy vs. Efficiency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Full metric comparison M5 ↔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M5 is more accurate on all metrics — M6 trades some accuracy for 64% fewer parameters and stronger physics guarantees.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15184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6048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37776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(M6 − M5)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15184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96912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37776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15184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56048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1.98 × 10¹⁰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96912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2C3E50"/>
                </a:solidFill>
              </a:rPr>
              <a:t>2.98 × 10¹⁰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37776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15184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56048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96912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3.33 × 10⁹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37776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+12%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15184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56048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96912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2C3E50"/>
                </a:solidFill>
              </a:rPr>
              <a:t>0.9768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37776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15184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56048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6.21 × 10⁷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6912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9.79 × 10⁷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37776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4320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15184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56048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296912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2C3E50"/>
                </a:solidFill>
              </a:rPr>
              <a:t>0.9634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37776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−0.0204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74320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15184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956048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3.42 × 10¹⁰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96912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5.15 × 10¹⁰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37776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74320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615184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56048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296912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637776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−0.0192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4320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615184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56048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1.18 × 10⁹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296912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1.92 × 10⁹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637776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+63%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74320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15184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trend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956048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0.9908→0.9968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296912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0.9811→0.9809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637776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M5 improves; M6 flat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74320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615184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 trend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956048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2.40×10¹⁰→2.69×10⁹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96912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3.45×10¹⁰→6.57×10⁹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637776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Both decrease (magnitudes shrink)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KR has the largest RMSE gap — rotational stiffness benefits most from LSTM's sequential context.  KLR R² gap is large because the new +|Δ| constraint changes the output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R², RMSE, MAE — definitions, properties, and how to read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R²  (Coefficient of Determination)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R² = 1 − Σ(y−ŷ)² / Σ(y−ȳ)²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56816"/>
            <a:ext cx="3566160" cy="182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Range: −∞ to 1.0  (1.0 = perfect 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Scale-free: comparable across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Negative R² → model worse than predicting the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Best metric for slot-to-slot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RMSE  (Root Mean Square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C3E50"/>
                </a:solidFill>
              </a:rPr>
              <a:t>RMSE = √[ (1/n) Σ(y−ŷ)²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56816"/>
            <a:ext cx="356616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physical units as the target (N, N·m…)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Always ≥ 0  (squares → never negative)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large errors heavily (squared term)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Large values here reflect large stiffness magnitudes (10¹⁰)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MAE  (Mean Absolute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C3E50"/>
                </a:solidFill>
              </a:rPr>
              <a:t>MAE = (1/n) </a:t>
            </a:r>
            <a:r>
              <a:rPr sz="1200" b="1" i="0" dirty="0" err="1">
                <a:solidFill>
                  <a:srgbClr val="2C3E50"/>
                </a:solidFill>
              </a:rPr>
              <a:t>Σ|y−ŷ</a:t>
            </a:r>
            <a:r>
              <a:rPr sz="1200" b="1" i="0" dirty="0">
                <a:solidFill>
                  <a:srgbClr val="2C3E50"/>
                </a:solidFill>
              </a:rPr>
              <a:t>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1956816"/>
            <a:ext cx="35661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units as target, always ≥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 to outliers (no squaring)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 same target: MAE ≤ RMSE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Easier to interpret physically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Understanding Errors Across 21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 dirty="0">
                <a:solidFill>
                  <a:srgbClr val="BBDEFB"/>
                </a:solidFill>
              </a:rPr>
              <a:t>Why per-slot RMSE/MAE </a:t>
            </a:r>
            <a:r>
              <a:rPr lang="fr-MA" sz="1300" i="1" dirty="0" err="1">
                <a:solidFill>
                  <a:srgbClr val="BBDEFB"/>
                </a:solidFill>
              </a:rPr>
              <a:t>increase</a:t>
            </a:r>
            <a:r>
              <a:rPr sz="1300" b="0" i="1" dirty="0">
                <a:solidFill>
                  <a:srgbClr val="BBDEFB"/>
                </a:solidFill>
              </a:rPr>
              <a:t> ≠ </a:t>
            </a:r>
            <a:r>
              <a:rPr lang="fr-MA" sz="1300" i="1" dirty="0" err="1">
                <a:solidFill>
                  <a:srgbClr val="BBDEFB"/>
                </a:solidFill>
              </a:rPr>
              <a:t>worst</a:t>
            </a:r>
            <a:r>
              <a:rPr sz="1300" b="0" i="1" dirty="0">
                <a:solidFill>
                  <a:srgbClr val="BBDEFB"/>
                </a:solidFill>
              </a:rPr>
              <a:t> accuracy — use 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051560"/>
            <a:ext cx="3749039" cy="3063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Use R² for slot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R² is scale-normalised — measures how much better the model is than predicting the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M5: Slot R² improves  0.9908 → 0.9968 ↑  (LSTM adds sequential context as trajectory progresses)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M6: Slot R² stays flat  0.9811 → 0.9809 →  (no sequential memory — each slot predicted independently)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This flat profile is M6's signature trade-off — uniform quality, no improvement over trajectory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06240"/>
            <a:ext cx="11795760" cy="1280160"/>
          </a:xfrm>
          <a:prstGeom prst="rect">
            <a:avLst/>
          </a:prstGeom>
          <a:solidFill>
            <a:srgbClr val="FFF8E3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27024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6008"/>
                </a:solidFill>
              </a:rPr>
              <a:t>Webapp: Percentage Error per Step — the most interpretable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Err% = |ŷ − y| / |y|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4515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Scale-independent: a 10% error at Slot 1 and Slot 21 are equally meaningful — unlike RMSE which is dominated by early-slot magnitudes.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■  &lt; 5%  Green (excellent)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■  5–20%  Orange (acceptable)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■  &gt; 20%  Red (poor)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5778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Summary: which metric to use when?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6052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Properties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 used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Scale-free, 0–1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19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9244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Slot-to-slot comparison, variable comparison, headline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860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6052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9244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Absolue error magnitude; dominated by early slots / large-magnitude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860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6052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9244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as RMSE but more robust; physical interpretation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2860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Err%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6052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Percentage, ≥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19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9244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Webapp display; best for per-step human-readable quality check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456C257-B7AB-7984-3959-9F2CE896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018" y="979339"/>
            <a:ext cx="4992472" cy="3220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88952" cy="3383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DEFB"/>
                </a:solidFill>
              </a:rPr>
              <a:t>Simpler · Faster · Physics-Guaranteed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 learnable slots · 3× refinement (cross-attn → self-attn → MLP) · per-slot MLP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vs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Removed LSTM decoder (101,312 params) · Added 3rd iteration · Added KLR sign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64.1% fewer parameters · 63.5% smaller file · 1.25× faster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0.9804 (vs 0.9913) · All three targets accurately predicted · KR largest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ΔKL ≤ 0, ΔKR ≤ 0, ΔKLR ≥ 0 hard-coded · Monotonicity structurally guaranteed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best for slot comparison (scale-free) · RMSE/MAE in physical units (always ≥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D8A8"/>
                </a:solidFill>
              </a:rPr>
              <a:t>M6 = M5 − LSTM + stronger constraints + 3 attention iterations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1684</Words>
  <Application>Microsoft Office PowerPoint</Application>
  <PresentationFormat>Custom</PresentationFormat>
  <Paragraphs>237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2</cp:revision>
  <dcterms:created xsi:type="dcterms:W3CDTF">2013-01-27T09:14:16Z</dcterms:created>
  <dcterms:modified xsi:type="dcterms:W3CDTF">2026-04-14T06:12:11Z</dcterms:modified>
  <cp:category/>
</cp:coreProperties>
</file>